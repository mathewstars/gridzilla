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2" r:id="rId8"/>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8c6cd9d-3085-8c94-5ae5-63ead723e2cd}">
          <p14:sldIdLst>
            <p14:sldId id="256"/>
          </p14:sldIdLst>
        </p14:section>
        <p14:section name="Why" id="{bf61c389-3c5b-4c4f-a7ad-3a9f1a51a451}">
          <p14:sldIdLst>
            <p14:sldId id="257"/>
          </p14:sldIdLst>
        </p14:section>
        <p14:section name="What" id="{728217c1-208f-fd65-9a80-2fcdb7f29d87}">
          <p14:sldIdLst>
            <p14:sldId id="258"/>
          </p14:sldIdLst>
        </p14:section>
        <p14:section name="Demo" id="{b2fbbe2c-d6e3-5287-13f6-06d694910981}">
          <p14:sldIdLst>
            <p14:sldId id="260"/>
          </p14:sldIdLst>
        </p14:section>
        <p14:section name="Close" id="{a8d08dc9-afa3-e5c7-c625-6d797eefc15e}">
          <p14:sldIdLst>
            <p14:sldId id="262"/>
          </p14:sldIdLst>
        </p14:section>
        <p14:section name="Appendix" id="{ae5e7d69-1916-e1bf-d378-317ae423ddf9}">
          <p14:sldIdLst>
            <p14:sldId id="263"/>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7.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The trailer covers the whole slide: click it the moment the slide is up, it plays full screen with the jingle, 32 seconds, say nothing. When it fades to black, one line, deadpan: Now you probably wonder what the monster really is.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0:30-0:55. It is a grid signal that home batteries, cars and heat pumps follow. Europe's largest battery is in people's basements, and the grid can use none of it. Slovakia has no signal at all. Germany has a dimmer switch on one device. Ukraine had three gigawatt hours of home storage sitting idle through the blackouts. The storage exists. The signal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0:55-1:35. One message does the whole job. This street, next three hours, take at most three kilowatts per house. Every house under it reads the same line: the Victron, the GoodWe, the Viessmann, the car charger. Each one sorts it out by itself: battery first, car second, hot water third. Same message at noon: give at most two, and the sun goes into the batteries instead of the feeder. Same message after an outage: be full by seven, and the street refills without a second blackout. The operator only ever sends a limit, never a command, which is why an operator can sign up for it tomorrow. An AI writes the message every fifteen minutes, thirty lines of rules check it, the platform signs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1:35-2:15. Gridzilla eats peaks. Every street, every evening. At six the cars come home and the transformer would go to a hundred and ten percent. With Gridzilla it stays at seventy. The cars still charge, just not at dinner: plugged in at six, trickle through the evening, full by seven in the morning. The batteries eat the dinner spike, the noon sun charges them. Nobody at home notices. The operator never buys the bigger transformer. Planned every two hours from the real weather, by thirty lines of code, not by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2:15-3:30. Alt-tab to the board, talk while clicking. VIENNA: seventy-two transformers, two hundred seventy-two households, one of them real; blue with, grey without, orange eaten. Tiles: what the AI saw, what it chose, the rule check, the signed message. Flattening tab, VIENNA then one street: tonight's plan. Pin Blatnica: the real plant live, last reply verified. Autopilot, pause heartbeat: the operator goes dark, every house goes back to normal. Resume. If behind, skip Blatnica, keep the heartbeat.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3:55-4:20. We need one street transformer to pilot on, this winter. Sign-up is two weeks, a second maker one week, we own the plant. After that: streets that keep their lights on from their own batteries when the line is gone. Gridzilla. It eats peaks for breakfast.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4630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548640" y="3703320"/>
            <a:ext cx="11091672" cy="109728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tx2"/>
                </a:solidFill>
              </a:rPr>
              <a:t>Gridzilla · Energy Bridge Critical Infrastructure Hackathon · Vienna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GRIDZILLA</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The monster that eats peaks. Every house keeps it on a leash.</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One short message to the batteries, cars and heat pumps on a street: how much each house may take or give, and until when.</a:t>
            </a:r>
            <a:endParaRPr lang="en-US" sz="2200" dirty="0"/>
          </a:p>
          <a:p>
            <a:pPr algn="l" indent="0" marL="0">
              <a:buNone/>
            </a:pPr>
            <a:r>
              <a:rPr lang="en-US" sz="2200" dirty="0">
                <a:solidFill>
                  <a:schemeClr val="tx2"/>
                </a:solidFill>
              </a:rPr>
              <a:t>An AI writes the message, a real house in Blatnica follows it live.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Mathew Stafurik · Peter Mikeška · Matthew  ·  Grid-Serving Storage track  ·  github.com/mathewstars/Gridzilla  ·  gridzilla.victronlab.sk</a:t>
            </a:r>
            <a:endParaRPr lang="en-US" sz="1200" dirty="0"/>
          </a:p>
        </p:txBody>
      </p:sp>
      <p:pic>
        <p:nvPicPr>
          <p:cNvPr id="3" name="Gridzilla trailer">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8895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Europe's biggest battery sits in people's basements. Nobody can use it when it matters</a:t>
            </a:r>
            <a:endParaRPr lang="en-US" sz="3200" dirty="0"/>
          </a:p>
        </p:txBody>
      </p:sp>
      <p:sp>
        <p:nvSpPr>
          <p:cNvPr id="3" name="stat signals from a grid operator to home batteries in Slovakia today. The one pilot helped the national grid, not the street"/>
          <p:cNvSpPr/>
          <p:nvPr/>
        </p:nvSpPr>
        <p:spPr>
          <a:xfrm>
            <a:off x="548640" y="1554480"/>
            <a:ext cx="356616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719072"/>
            <a:ext cx="3108960" cy="731520"/>
          </a:xfrm>
          <a:prstGeom prst="rect">
            <a:avLst/>
          </a:prstGeom>
          <a:noFill/>
          <a:ln/>
        </p:spPr>
        <p:txBody>
          <a:bodyPr wrap="square" lIns="0" tIns="0" rIns="0" bIns="0" rtlCol="0" anchor="t"/>
          <a:lstStyle/>
          <a:p>
            <a:pPr indent="0" marL="0">
              <a:buNone/>
            </a:pPr>
            <a:r>
              <a:rPr lang="en-US" sz="3600" b="1" dirty="0">
                <a:solidFill>
                  <a:schemeClr val="accent4"/>
                </a:solidFill>
                <a:latin typeface="Arial" pitchFamily="34" charset="0"/>
                <a:ea typeface="Arial" pitchFamily="34" charset="-122"/>
                <a:cs typeface="Arial" pitchFamily="34" charset="-120"/>
              </a:rPr>
              <a:t>0</a:t>
            </a:r>
            <a:endParaRPr lang="en-US" sz="3600" dirty="0"/>
          </a:p>
        </p:txBody>
      </p:sp>
      <p:sp>
        <p:nvSpPr>
          <p:cNvPr id="5" name="Text 3"/>
          <p:cNvSpPr txBox="1"/>
          <p:nvPr/>
        </p:nvSpPr>
        <p:spPr>
          <a:xfrm>
            <a:off x="77724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messages reach home batteries in Slovakia today. The one pilot helped the national grid, not your street</a:t>
            </a:r>
            <a:endParaRPr lang="en-US" sz="1200" dirty="0"/>
          </a:p>
        </p:txBody>
      </p:sp>
      <p:sp>
        <p:nvSpPr>
          <p:cNvPr id="6" name="stat Germany's best case: the operator may dim a new charger down to this. Charging only, used in under 1 % of hours"/>
          <p:cNvSpPr/>
          <p:nvPr/>
        </p:nvSpPr>
        <p:spPr>
          <a:xfrm>
            <a:off x="4297680" y="1554480"/>
            <a:ext cx="356616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4526280" y="1719072"/>
            <a:ext cx="3108960" cy="731520"/>
          </a:xfrm>
          <a:prstGeom prst="rect">
            <a:avLst/>
          </a:prstGeom>
          <a:noFill/>
          <a:ln/>
        </p:spPr>
        <p:txBody>
          <a:bodyPr wrap="square" lIns="0" tIns="0" rIns="0" bIns="0" rtlCol="0" anchor="t"/>
          <a:lstStyle/>
          <a:p>
            <a:pPr indent="0" marL="0">
              <a:buNone/>
            </a:pPr>
            <a:r>
              <a:rPr lang="en-US" sz="3600" b="1" dirty="0">
                <a:solidFill>
                  <a:schemeClr val="accent6"/>
                </a:solidFill>
                <a:latin typeface="Arial" pitchFamily="34" charset="0"/>
                <a:ea typeface="Arial" pitchFamily="34" charset="-122"/>
                <a:cs typeface="Arial" pitchFamily="34" charset="-120"/>
              </a:rPr>
              <a:t>4.2 kW</a:t>
            </a:r>
            <a:endParaRPr lang="en-US" sz="3600" dirty="0"/>
          </a:p>
        </p:txBody>
      </p:sp>
      <p:sp>
        <p:nvSpPr>
          <p:cNvPr id="8" name="Text 6"/>
          <p:cNvSpPr txBox="1"/>
          <p:nvPr/>
        </p:nvSpPr>
        <p:spPr>
          <a:xfrm>
            <a:off x="452628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Germany's best case: a new charger may be dimmed down to this. Charging only, used in under 1 % of hours</a:t>
            </a:r>
            <a:endParaRPr lang="en-US" sz="1200" dirty="0"/>
          </a:p>
        </p:txBody>
      </p:sp>
      <p:sp>
        <p:nvSpPr>
          <p:cNvPr id="9" name="stat of home batteries installed in Ukraine in 2025 alone. People charge them by hand before the published outage schedule"/>
          <p:cNvSpPr/>
          <p:nvPr/>
        </p:nvSpPr>
        <p:spPr>
          <a:xfrm>
            <a:off x="8046720" y="1554480"/>
            <a:ext cx="356616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8275320" y="1719072"/>
            <a:ext cx="31089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 GWh</a:t>
            </a:r>
            <a:endParaRPr lang="en-US" sz="3600" dirty="0"/>
          </a:p>
        </p:txBody>
      </p:sp>
      <p:sp>
        <p:nvSpPr>
          <p:cNvPr id="11" name="Text 9"/>
          <p:cNvSpPr txBox="1"/>
          <p:nvPr/>
        </p:nvSpPr>
        <p:spPr>
          <a:xfrm>
            <a:off x="827532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of home batteries installed in Ukraine in 2025 alone. People charge them by hand before the published blackout timetable</a:t>
            </a:r>
            <a:endParaRPr lang="en-US" sz="1200" dirty="0"/>
          </a:p>
        </p:txBody>
      </p:sp>
      <p:sp>
        <p:nvSpPr>
          <p:cNvPr id="12" name="problem"/>
          <p:cNvSpPr/>
          <p:nvPr/>
        </p:nvSpPr>
        <p:spPr>
          <a:xfrm>
            <a:off x="548640" y="3291840"/>
            <a:ext cx="11091672" cy="2377440"/>
          </a:xfrm>
          <a:prstGeom prst="roundRect">
            <a:avLst>
              <a:gd name="adj" fmla="val 3077"/>
            </a:avLst>
          </a:prstGeom>
          <a:solidFill>
            <a:schemeClr val="bg2"/>
          </a:solidFill>
          <a:ln w="9525">
            <a:solidFill>
              <a:schemeClr val="bg2"/>
            </a:solidFill>
            <a:prstDash val="solid"/>
          </a:ln>
        </p:spPr>
      </p:sp>
      <p:sp>
        <p:nvSpPr>
          <p:cNvPr id="13" name="Text 11"/>
          <p:cNvSpPr txBox="1"/>
          <p:nvPr/>
        </p:nvSpPr>
        <p:spPr>
          <a:xfrm>
            <a:off x="822960" y="342900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What breaks</a:t>
            </a:r>
            <a:endParaRPr lang="en-US" sz="1600" dirty="0"/>
          </a:p>
        </p:txBody>
      </p:sp>
      <p:sp>
        <p:nvSpPr>
          <p:cNvPr id="14" name="Text 12"/>
          <p:cNvSpPr txBox="1"/>
          <p:nvPr/>
        </p:nvSpPr>
        <p:spPr>
          <a:xfrm>
            <a:off x="822960" y="3840480"/>
            <a:ext cx="10543032"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Dinner time: heat pumps and car chargers push the street's transformer past its limit. The only answers today: switch people off, or dig up the street for a bigger one</a:t>
            </a:r>
            <a:endParaRPr lang="en-US" sz="1500" dirty="0"/>
          </a:p>
          <a:p>
            <a:pPr marL="342900" indent="-342900">
              <a:spcAft>
                <a:spcPts val="600"/>
              </a:spcAft>
              <a:buSzPct val="100000"/>
              <a:buChar char="•"/>
            </a:pPr>
            <a:r>
              <a:rPr lang="en-US" sz="1500" dirty="0">
                <a:solidFill>
                  <a:schemeClr val="tx1"/>
                </a:solidFill>
              </a:rPr>
              <a:t>Sunny noon: every roof feeds in at once, the voltage climbs, and the next solar roof on the street is refused for a year</a:t>
            </a:r>
            <a:endParaRPr lang="en-US" sz="1500" dirty="0"/>
          </a:p>
          <a:p>
            <a:pPr marL="342900" indent="-342900">
              <a:spcAft>
                <a:spcPts val="600"/>
              </a:spcAft>
              <a:buSzPct val="100000"/>
              <a:buChar char="•"/>
            </a:pPr>
            <a:r>
              <a:rPr lang="en-US" sz="1500" dirty="0">
                <a:solidFill>
                  <a:schemeClr val="tx1"/>
                </a:solidFill>
              </a:rPr>
              <a:t>Blackout: when a transformer fails or the country runs short, every house is cut, including the ones with a full battery in the basement</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One message to every house on the street, whatever brand sits in the basement</a:t>
            </a:r>
            <a:endParaRPr lang="en-US" sz="3200" dirty="0"/>
          </a:p>
        </p:txBody>
      </p:sp>
      <p:sp>
        <p:nvSpPr>
          <p:cNvPr id="3" name="chain GRID OPERATOR"/>
          <p:cNvSpPr/>
          <p:nvPr/>
        </p:nvSpPr>
        <p:spPr>
          <a:xfrm>
            <a:off x="548640" y="1828800"/>
            <a:ext cx="1965960" cy="1920240"/>
          </a:xfrm>
          <a:prstGeom prst="roundRect">
            <a:avLst>
              <a:gd name="adj" fmla="val 3810"/>
            </a:avLst>
          </a:prstGeom>
          <a:solidFill>
            <a:schemeClr val="bg2"/>
          </a:solidFill>
          <a:ln w="9525">
            <a:solidFill>
              <a:schemeClr val="bg2"/>
            </a:solidFill>
            <a:prstDash val="solid"/>
          </a:ln>
        </p:spPr>
      </p:sp>
      <p:sp>
        <p:nvSpPr>
          <p:cNvPr id="4" name="dot"/>
          <p:cNvSpPr/>
          <p:nvPr/>
        </p:nvSpPr>
        <p:spPr>
          <a:xfrm>
            <a:off x="731520" y="2029968"/>
            <a:ext cx="384048" cy="384048"/>
          </a:xfrm>
          <a:prstGeom prst="ellipse">
            <a:avLst/>
          </a:prstGeom>
          <a:solidFill>
            <a:schemeClr val="accent4"/>
          </a:solidFill>
          <a:ln w="12700">
            <a:solidFill>
              <a:schemeClr val="accent4"/>
            </a:solidFill>
            <a:prstDash val="solid"/>
          </a:ln>
        </p:spPr>
      </p:sp>
      <p:sp>
        <p:nvSpPr>
          <p:cNvPr id="5" name="Text 3"/>
          <p:cNvSpPr txBox="1"/>
          <p:nvPr/>
        </p:nvSpPr>
        <p:spPr>
          <a:xfrm>
            <a:off x="73152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THE GRID</a:t>
            </a:r>
            <a:endParaRPr lang="en-US" sz="1300" dirty="0"/>
          </a:p>
        </p:txBody>
      </p:sp>
      <p:sp>
        <p:nvSpPr>
          <p:cNvPr id="6" name="Text 4"/>
          <p:cNvSpPr txBox="1"/>
          <p:nvPr/>
        </p:nvSpPr>
        <p:spPr>
          <a:xfrm>
            <a:off x="73152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sees a street heading past its limit</a:t>
            </a:r>
            <a:endParaRPr lang="en-US" sz="1150" dirty="0"/>
          </a:p>
        </p:txBody>
      </p:sp>
      <p:sp>
        <p:nvSpPr>
          <p:cNvPr id="7" name="arrow"/>
          <p:cNvSpPr/>
          <p:nvPr/>
        </p:nvSpPr>
        <p:spPr>
          <a:xfrm>
            <a:off x="2532888" y="2651760"/>
            <a:ext cx="237744" cy="292608"/>
          </a:xfrm>
          <a:prstGeom prst="rightArrow">
            <a:avLst/>
          </a:prstGeom>
          <a:solidFill>
            <a:srgbClr val="A2A9B3"/>
          </a:solidFill>
          <a:ln w="12700">
            <a:solidFill>
              <a:srgbClr val="A2A9B3"/>
            </a:solidFill>
            <a:prstDash val="solid"/>
          </a:ln>
        </p:spPr>
      </p:sp>
      <p:sp>
        <p:nvSpPr>
          <p:cNvPr id="8" name="chain GRIDZILLA"/>
          <p:cNvSpPr/>
          <p:nvPr/>
        </p:nvSpPr>
        <p:spPr>
          <a:xfrm>
            <a:off x="2788920" y="1828800"/>
            <a:ext cx="1965960" cy="1920240"/>
          </a:xfrm>
          <a:prstGeom prst="roundRect">
            <a:avLst>
              <a:gd name="adj" fmla="val 3810"/>
            </a:avLst>
          </a:prstGeom>
          <a:solidFill>
            <a:schemeClr val="bg2"/>
          </a:solidFill>
          <a:ln w="9525">
            <a:solidFill>
              <a:schemeClr val="bg2"/>
            </a:solidFill>
            <a:prstDash val="solid"/>
          </a:ln>
        </p:spPr>
      </p:sp>
      <p:sp>
        <p:nvSpPr>
          <p:cNvPr id="9" name="dot"/>
          <p:cNvSpPr/>
          <p:nvPr/>
        </p:nvSpPr>
        <p:spPr>
          <a:xfrm>
            <a:off x="2971800" y="20299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97180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GRIDZILLA</a:t>
            </a:r>
            <a:endParaRPr lang="en-US" sz="1300" dirty="0"/>
          </a:p>
        </p:txBody>
      </p:sp>
      <p:sp>
        <p:nvSpPr>
          <p:cNvPr id="11" name="Text 9"/>
          <p:cNvSpPr txBox="1"/>
          <p:nvPr/>
        </p:nvSpPr>
        <p:spPr>
          <a:xfrm>
            <a:off x="297180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rules, stamps the message so nobody can fake it, sends it to that street</a:t>
            </a:r>
            <a:endParaRPr lang="en-US" sz="1150" dirty="0"/>
          </a:p>
        </p:txBody>
      </p:sp>
      <p:sp>
        <p:nvSpPr>
          <p:cNvPr id="12" name="arrow"/>
          <p:cNvSpPr/>
          <p:nvPr/>
        </p:nvSpPr>
        <p:spPr>
          <a:xfrm>
            <a:off x="4773168" y="2651760"/>
            <a:ext cx="237744" cy="292608"/>
          </a:xfrm>
          <a:prstGeom prst="rightArrow">
            <a:avLst/>
          </a:prstGeom>
          <a:solidFill>
            <a:srgbClr val="A2A9B3"/>
          </a:solidFill>
          <a:ln w="12700">
            <a:solidFill>
              <a:srgbClr val="A2A9B3"/>
            </a:solidFill>
            <a:prstDash val="solid"/>
          </a:ln>
        </p:spPr>
      </p:sp>
      <p:sp>
        <p:nvSpPr>
          <p:cNvPr id="13" name="chain MESSAGE BUS"/>
          <p:cNvSpPr/>
          <p:nvPr/>
        </p:nvSpPr>
        <p:spPr>
          <a:xfrm>
            <a:off x="5029200" y="1828800"/>
            <a:ext cx="1965960" cy="1920240"/>
          </a:xfrm>
          <a:prstGeom prst="roundRect">
            <a:avLst>
              <a:gd name="adj" fmla="val 3810"/>
            </a:avLst>
          </a:prstGeom>
          <a:solidFill>
            <a:schemeClr val="bg2"/>
          </a:solidFill>
          <a:ln w="9525">
            <a:solidFill>
              <a:schemeClr val="bg2"/>
            </a:solidFill>
            <a:prstDash val="solid"/>
          </a:ln>
        </p:spPr>
      </p:sp>
      <p:sp>
        <p:nvSpPr>
          <p:cNvPr id="14" name="dot"/>
          <p:cNvSpPr/>
          <p:nvPr/>
        </p:nvSpPr>
        <p:spPr>
          <a:xfrm>
            <a:off x="5212080" y="2029968"/>
            <a:ext cx="384048" cy="384048"/>
          </a:xfrm>
          <a:prstGeom prst="ellipse">
            <a:avLst/>
          </a:prstGeom>
          <a:solidFill>
            <a:schemeClr val="tx2"/>
          </a:solidFill>
          <a:ln w="12700">
            <a:solidFill>
              <a:schemeClr val="tx2"/>
            </a:solidFill>
            <a:prstDash val="solid"/>
          </a:ln>
        </p:spPr>
      </p:sp>
      <p:sp>
        <p:nvSpPr>
          <p:cNvPr id="15" name="Text 13"/>
          <p:cNvSpPr txBox="1"/>
          <p:nvPr/>
        </p:nvSpPr>
        <p:spPr>
          <a:xfrm>
            <a:off x="521208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THE POST</a:t>
            </a:r>
            <a:endParaRPr lang="en-US" sz="1300" dirty="0"/>
          </a:p>
        </p:txBody>
      </p:sp>
      <p:sp>
        <p:nvSpPr>
          <p:cNvPr id="16" name="Text 14"/>
          <p:cNvSpPr txBox="1"/>
          <p:nvPr/>
        </p:nvSpPr>
        <p:spPr>
          <a:xfrm>
            <a:off x="521208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carries it, decides nothing</a:t>
            </a:r>
            <a:endParaRPr lang="en-US" sz="1150" dirty="0"/>
          </a:p>
        </p:txBody>
      </p:sp>
      <p:sp>
        <p:nvSpPr>
          <p:cNvPr id="17" name="arrow"/>
          <p:cNvSpPr/>
          <p:nvPr/>
        </p:nvSpPr>
        <p:spPr>
          <a:xfrm>
            <a:off x="7013448" y="2651760"/>
            <a:ext cx="237744" cy="292608"/>
          </a:xfrm>
          <a:prstGeom prst="rightArrow">
            <a:avLst/>
          </a:prstGeom>
          <a:solidFill>
            <a:srgbClr val="A2A9B3"/>
          </a:solidFill>
          <a:ln w="12700">
            <a:solidFill>
              <a:srgbClr val="A2A9B3"/>
            </a:solidFill>
            <a:prstDash val="solid"/>
          </a:ln>
        </p:spPr>
      </p:sp>
      <p:sp>
        <p:nvSpPr>
          <p:cNvPr id="18" name="chain HOUSE AGENT"/>
          <p:cNvSpPr/>
          <p:nvPr/>
        </p:nvSpPr>
        <p:spPr>
          <a:xfrm>
            <a:off x="7269480" y="1828800"/>
            <a:ext cx="1965960" cy="1920240"/>
          </a:xfrm>
          <a:prstGeom prst="roundRect">
            <a:avLst>
              <a:gd name="adj" fmla="val 3810"/>
            </a:avLst>
          </a:prstGeom>
          <a:solidFill>
            <a:schemeClr val="bg2"/>
          </a:solidFill>
          <a:ln w="9525">
            <a:solidFill>
              <a:schemeClr val="bg2"/>
            </a:solidFill>
            <a:prstDash val="solid"/>
          </a:ln>
        </p:spPr>
      </p:sp>
      <p:sp>
        <p:nvSpPr>
          <p:cNvPr id="19" name="dot"/>
          <p:cNvSpPr/>
          <p:nvPr/>
        </p:nvSpPr>
        <p:spPr>
          <a:xfrm>
            <a:off x="7452360" y="2029968"/>
            <a:ext cx="384048" cy="384048"/>
          </a:xfrm>
          <a:prstGeom prst="ellipse">
            <a:avLst/>
          </a:prstGeom>
          <a:solidFill>
            <a:schemeClr val="accent2"/>
          </a:solidFill>
          <a:ln w="12700">
            <a:solidFill>
              <a:schemeClr val="accent2"/>
            </a:solidFill>
            <a:prstDash val="solid"/>
          </a:ln>
        </p:spPr>
      </p:sp>
      <p:sp>
        <p:nvSpPr>
          <p:cNvPr id="20" name="Text 18"/>
          <p:cNvSpPr txBox="1"/>
          <p:nvPr/>
        </p:nvSpPr>
        <p:spPr>
          <a:xfrm>
            <a:off x="745236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THE HOUSE</a:t>
            </a:r>
            <a:endParaRPr lang="en-US" sz="1300" dirty="0"/>
          </a:p>
        </p:txBody>
      </p:sp>
      <p:sp>
        <p:nvSpPr>
          <p:cNvPr id="21" name="Text 19"/>
          <p:cNvSpPr txBox="1"/>
          <p:nvPr/>
        </p:nvSpPr>
        <p:spPr>
          <a:xfrm>
            <a:off x="745236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stamp, keeps the owner's own rules, acts, reports back</a:t>
            </a:r>
            <a:endParaRPr lang="en-US" sz="1150" dirty="0"/>
          </a:p>
        </p:txBody>
      </p:sp>
      <p:sp>
        <p:nvSpPr>
          <p:cNvPr id="22" name="arrow"/>
          <p:cNvSpPr/>
          <p:nvPr/>
        </p:nvSpPr>
        <p:spPr>
          <a:xfrm>
            <a:off x="9253728" y="2651760"/>
            <a:ext cx="237744" cy="292608"/>
          </a:xfrm>
          <a:prstGeom prst="rightArrow">
            <a:avLst/>
          </a:prstGeom>
          <a:solidFill>
            <a:srgbClr val="A2A9B3"/>
          </a:solidFill>
          <a:ln w="12700">
            <a:solidFill>
              <a:srgbClr val="A2A9B3"/>
            </a:solidFill>
            <a:prstDash val="solid"/>
          </a:ln>
        </p:spPr>
      </p:sp>
      <p:sp>
        <p:nvSpPr>
          <p:cNvPr id="23" name="chain BATTERY · CAR · HEAT"/>
          <p:cNvSpPr/>
          <p:nvPr/>
        </p:nvSpPr>
        <p:spPr>
          <a:xfrm>
            <a:off x="9509760" y="1828800"/>
            <a:ext cx="1965960" cy="1920240"/>
          </a:xfrm>
          <a:prstGeom prst="roundRect">
            <a:avLst>
              <a:gd name="adj" fmla="val 3810"/>
            </a:avLst>
          </a:prstGeom>
          <a:solidFill>
            <a:schemeClr val="bg2"/>
          </a:solidFill>
          <a:ln w="9525">
            <a:solidFill>
              <a:schemeClr val="bg2"/>
            </a:solidFill>
            <a:prstDash val="solid"/>
          </a:ln>
        </p:spPr>
      </p:sp>
      <p:sp>
        <p:nvSpPr>
          <p:cNvPr id="24" name="dot"/>
          <p:cNvSpPr/>
          <p:nvPr/>
        </p:nvSpPr>
        <p:spPr>
          <a:xfrm>
            <a:off x="9692640" y="2029968"/>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969264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BATTERY · CAR · HEAT</a:t>
            </a:r>
            <a:endParaRPr lang="en-US" sz="1300" dirty="0"/>
          </a:p>
        </p:txBody>
      </p:sp>
      <p:sp>
        <p:nvSpPr>
          <p:cNvPr id="26" name="Text 24"/>
          <p:cNvSpPr txBox="1"/>
          <p:nvPr/>
        </p:nvSpPr>
        <p:spPr>
          <a:xfrm>
            <a:off x="969264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a limit for the whole house, never a command to a device</a:t>
            </a:r>
            <a:endParaRPr lang="en-US" sz="1150" dirty="0"/>
          </a:p>
        </p:txBody>
      </p:sp>
      <p:sp>
        <p:nvSpPr>
          <p:cNvPr id="27" name="Text 25"/>
          <p:cNvSpPr txBox="1"/>
          <p:nvPr/>
        </p:nvSpPr>
        <p:spPr>
          <a:xfrm>
            <a:off x="548640" y="4114800"/>
            <a:ext cx="11091672"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message is four words long: take at most, give at most, give at least, be full by. It never names a device or a setting</a:t>
            </a:r>
            <a:endParaRPr lang="en-US" sz="1500" dirty="0"/>
          </a:p>
          <a:p>
            <a:pPr marL="342900" indent="-342900">
              <a:spcAft>
                <a:spcPts val="600"/>
              </a:spcAft>
              <a:buSzPct val="100000"/>
              <a:buChar char="•"/>
            </a:pPr>
            <a:r>
              <a:rPr lang="en-US" sz="1500" dirty="0">
                <a:solidFill>
                  <a:schemeClr val="tx1"/>
                </a:solidFill>
              </a:rPr>
              <a:t>The owner always wins: battery reserve, charger current, opt-out. The house may answer partly, or no</a:t>
            </a:r>
            <a:endParaRPr lang="en-US" sz="1500" dirty="0"/>
          </a:p>
          <a:p>
            <a:pPr marL="342900" indent="-342900">
              <a:spcAft>
                <a:spcPts val="600"/>
              </a:spcAft>
              <a:buSzPct val="100000"/>
              <a:buChar char="•"/>
            </a:pPr>
            <a:r>
              <a:rPr lang="en-US" sz="1500" dirty="0">
                <a:solidFill>
                  <a:schemeClr val="tx1"/>
                </a:solidFill>
              </a:rPr>
              <a:t>Every message runs out by itself. If the grid falls silent, the house is back to normal within two minutes</a:t>
            </a:r>
            <a:endParaRPr lang="en-US" sz="1500" dirty="0"/>
          </a:p>
          <a:p>
            <a:pPr marL="342900" indent="-342900">
              <a:spcAft>
                <a:spcPts val="600"/>
              </a:spcAft>
              <a:buSzPct val="100000"/>
              <a:buChar char="•"/>
            </a:pPr>
            <a:r>
              <a:rPr lang="en-US" sz="1500" dirty="0">
                <a:solidFill>
                  <a:schemeClr val="tx1"/>
                </a:solidFill>
              </a:rPr>
              <a:t>Paid by the meter: did the house stay under the limit, yes or no, every quarter hour. Nothing to game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monster eats peaks. Every street, every evening</a:t>
            </a:r>
            <a:endParaRPr lang="en-US" sz="3200" dirty="0"/>
          </a:p>
        </p:txBody>
      </p:sp>
      <p:pic>
        <p:nvPicPr>
          <p:cNvPr id="3" name="Vienna 24-hour plan: without Gridzilla, with the diet plan, level L" descr="/private/tmp/claude-501/-Users-mathew-Library-Mobile-Documents-com-apple-CloudDocs-Workspaces--ai-projects-hackaton/6847b38a-4405-4bc8-878f-68767b84da8f/scratchpad/deck/flat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Vienna's evening peak, share of transformer capacity: 23.7 → 13.4 MW, planned for tonight"/>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36 %</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off one street's dinner peak, measured tonight: 511 → 325 kW. Vienna with 2,000 houses: 5 MW off</a:t>
            </a:r>
            <a:endParaRPr lang="en-US" sz="1200" dirty="0"/>
          </a:p>
        </p:txBody>
      </p:sp>
      <p:sp>
        <p:nvSpPr>
          <p:cNvPr id="7" name="stat of car charging moved from dinner time into the night. Every car full by seven"/>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7:00</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every car full by then. Charging moves from dinner into the night, nobody notices</a:t>
            </a:r>
            <a:endParaRPr lang="en-US" sz="1200" dirty="0"/>
          </a:p>
        </p:txBody>
      </p:sp>
      <p:sp>
        <p:nvSpPr>
          <p:cNvPr id="10" name="stat transformer upgrades. Batteries eat the dinner spike, the noon sun charges them, nobody at home notices"/>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bigger transformers to buy. Batteries eat the dinner spike, the noon sun fills them again</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Live: one real house inside a simulated Vienna</a:t>
            </a:r>
            <a:endParaRPr lang="en-US" sz="3200" dirty="0"/>
          </a:p>
        </p:txBody>
      </p:sp>
      <p:pic>
        <p:nvPicPr>
          <p:cNvPr id="3" name="Presentation view of the live board" descr="/private/tmp/claude-501/-Users-mathew-Library-Mobile-Documents-com-apple-CloudDocs-Workspaces--ai-projects-hackaton/6847b38a-4405-4bc8-878f-68767b84da8f/scratchpad/deck/board.png">    </p:cNvPr>
          <p:cNvPicPr>
            <a:picLocks noChangeAspect="1"/>
          </p:cNvPicPr>
          <p:nvPr/>
        </p:nvPicPr>
        <p:blipFill>
          <a:blip r:embed="rId1"/>
          <a:stretch>
            <a:fillRect/>
          </a:stretch>
        </p:blipFill>
        <p:spPr>
          <a:xfrm>
            <a:off x="548640" y="1371600"/>
            <a:ext cx="7589520" cy="4389120"/>
          </a:xfrm>
          <a:prstGeom prst="rect">
            <a:avLst/>
          </a:prstGeom>
        </p:spPr>
      </p:pic>
      <p:sp>
        <p:nvSpPr>
          <p:cNvPr id="4" name="demo script"/>
          <p:cNvSpPr/>
          <p:nvPr/>
        </p:nvSpPr>
        <p:spPr>
          <a:xfrm>
            <a:off x="8412480" y="1371600"/>
            <a:ext cx="3200400" cy="4389120"/>
          </a:xfrm>
          <a:prstGeom prst="roundRect">
            <a:avLst>
              <a:gd name="adj" fmla="val 2286"/>
            </a:avLst>
          </a:prstGeom>
          <a:solidFill>
            <a:schemeClr val="bg2"/>
          </a:solidFill>
          <a:ln w="9525">
            <a:solidFill>
              <a:schemeClr val="bg2"/>
            </a:solidFill>
            <a:prstDash val="solid"/>
          </a:ln>
        </p:spPr>
      </p:sp>
      <p:sp>
        <p:nvSpPr>
          <p:cNvPr id="5" name="Text 2"/>
          <p:cNvSpPr txBox="1"/>
          <p:nvPr/>
        </p:nvSpPr>
        <p:spPr>
          <a:xfrm>
            <a:off x="8641080" y="1508760"/>
            <a:ext cx="2743200" cy="365760"/>
          </a:xfrm>
          <a:prstGeom prst="rect">
            <a:avLst/>
          </a:prstGeom>
          <a:noFill/>
          <a:ln/>
        </p:spPr>
        <p:txBody>
          <a:bodyPr wrap="square" lIns="0" tIns="0" rIns="0" bIns="0" rtlCol="0" anchor="t"/>
          <a:lstStyle/>
          <a:p>
            <a:pPr indent="0" marL="0">
              <a:buNone/>
            </a:pPr>
            <a:r>
              <a:rPr lang="en-US" sz="1500" b="1" dirty="0">
                <a:solidFill>
                  <a:schemeClr val="accent1"/>
                </a:solidFill>
              </a:rPr>
              <a:t>60 seconds, alt-tab</a:t>
            </a:r>
            <a:endParaRPr lang="en-US" sz="1500" dirty="0"/>
          </a:p>
        </p:txBody>
      </p:sp>
      <p:sp>
        <p:nvSpPr>
          <p:cNvPr id="6" name="Text 3"/>
          <p:cNvSpPr txBox="1"/>
          <p:nvPr/>
        </p:nvSpPr>
        <p:spPr>
          <a:xfrm>
            <a:off x="8641080" y="1965960"/>
            <a:ext cx="278892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Vienna: 72 street transformers, 272 households, one of them real. Blue with Gridzilla, grey without</a:t>
            </a:r>
            <a:endParaRPr lang="en-US" sz="1250" dirty="0"/>
          </a:p>
          <a:p>
            <a:pPr marL="342900" indent="-342900">
              <a:spcAft>
                <a:spcPts val="600"/>
              </a:spcAft>
              <a:buSzPct val="100000"/>
              <a:buChar char="•"/>
            </a:pPr>
            <a:r>
              <a:rPr lang="en-US" sz="1250" dirty="0">
                <a:solidFill>
                  <a:schemeClr val="tx1"/>
                </a:solidFill>
              </a:rPr>
              <a:t>The AI's last decision: what it saw, what it chose, the rule check, the stamped message</a:t>
            </a:r>
            <a:endParaRPr lang="en-US" sz="1250" dirty="0"/>
          </a:p>
          <a:p>
            <a:pPr marL="342900" indent="-342900">
              <a:spcAft>
                <a:spcPts val="600"/>
              </a:spcAft>
              <a:buSzPct val="100000"/>
              <a:buChar char="•"/>
            </a:pPr>
            <a:r>
              <a:rPr lang="en-US" sz="1250" dirty="0">
                <a:solidFill>
                  <a:schemeClr val="tx1"/>
                </a:solidFill>
              </a:rPr>
              <a:t>Only if ahead: tonight's plan for Vienna, then for one street</a:t>
            </a:r>
            <a:endParaRPr lang="en-US" sz="1250" dirty="0"/>
          </a:p>
          <a:p>
            <a:pPr marL="342900" indent="-342900">
              <a:spcAft>
                <a:spcPts val="600"/>
              </a:spcAft>
              <a:buSzPct val="100000"/>
              <a:buChar char="•"/>
            </a:pPr>
            <a:r>
              <a:rPr lang="en-US" sz="1250" dirty="0">
                <a:solidFill>
                  <a:schemeClr val="tx1"/>
                </a:solidFill>
              </a:rPr>
              <a:t>Blatnica: the real house live, battery, car, heat pump. Last reply checked</a:t>
            </a:r>
            <a:endParaRPr lang="en-US" sz="1250" dirty="0"/>
          </a:p>
          <a:p>
            <a:pPr marL="342900" indent="-342900">
              <a:spcAft>
                <a:spcPts val="600"/>
              </a:spcAft>
              <a:buSzPct val="100000"/>
              <a:buChar char="•"/>
            </a:pPr>
            <a:r>
              <a:rPr lang="en-US" sz="1250" dirty="0">
                <a:solidFill>
                  <a:schemeClr val="tx1"/>
                </a:solidFill>
              </a:rPr>
              <a:t>Pull the plug on the grid's heartbeat: every house goes back to normal</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5</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NEXT</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One street to try it on, a second brand, a grid that wants the message</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Sign-up through the meter: two weeks. A GoodWe version on our own house: one week.</a:t>
            </a:r>
            <a:endParaRPr lang="en-US" sz="2200" dirty="0"/>
          </a:p>
          <a:p>
            <a:pPr algn="l" indent="0" marL="0">
              <a:buNone/>
            </a:pPr>
            <a:r>
              <a:rPr lang="en-US" sz="2200" dirty="0">
                <a:solidFill>
                  <a:schemeClr val="tx2"/>
                </a:solidFill>
              </a:rPr>
              <a:t>Ten houses on one real street transformer, in Slovakia or Austria, this winter.</a:t>
            </a:r>
            <a:endParaRPr lang="en-US" sz="2200" dirty="0"/>
          </a:p>
          <a:p>
            <a:pPr algn="l" indent="0" marL="0">
              <a:buNone/>
            </a:pPr>
            <a:r>
              <a:rPr lang="en-US" sz="2200" dirty="0">
                <a:solidFill>
                  <a:schemeClr val="tx2"/>
                </a:solidFill>
              </a:rPr>
              <a:t>Then: streets that keep their lights on from their own batteries when the line is gone, sharing fairly by the same message.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github.com/mathewstars/Gridzilla  ·  gridzilla.victronlab.sk  ·  protocol, platform, agents and this deck are in the repo</a:t>
            </a:r>
            <a:endParaRPr lang="en-US" sz="1200" dirty="0"/>
          </a:p>
        </p:txBody>
      </p:sp>
    </p:spTree>
  </p:cSld>
  <p:clrMapOvr>
    <a:masterClrMapping/>
  </p:clrMapOvr>
</p:sld>
</file>

<file path=ppt/theme/theme1.xml><?xml version="1.0" encoding="utf-8"?>
<a:theme xmlns:a="http://schemas.openxmlformats.org/drawingml/2006/main" name="Gridzilla">
  <a:themeElements>
    <a:clrScheme name="Gridzilla">
      <a:dk1>
        <a:srgbClr val="E8E6E0"/>
      </a:dk1>
      <a:lt1>
        <a:srgbClr val="15181C"/>
      </a:lt1>
      <a:dk2>
        <a:srgbClr val="A2A9B3"/>
      </a:dk2>
      <a:lt2>
        <a:srgbClr val="1D2127"/>
      </a:lt2>
      <a:accent1>
        <a:srgbClr val="E8893A"/>
      </a:accent1>
      <a:accent2>
        <a:srgbClr val="3987E5"/>
      </a:accent2>
      <a:accent3>
        <a:srgbClr val="5FC48A"/>
      </a:accent3>
      <a:accent4>
        <a:srgbClr val="E66767"/>
      </a:accent4>
      <a:accent5>
        <a:srgbClr val="D55181"/>
      </a:accent5>
      <a:accent6>
        <a:srgbClr val="C98500"/>
      </a:accent6>
      <a:hlink>
        <a:srgbClr val="3987E5"/>
      </a:hlink>
      <a:folHlink>
        <a:srgbClr val="A2A9B3"/>
      </a:folHlink>
    </a:clrScheme>
    <a:fontScheme name="Gridzill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Gridzilla</dc:title>
  <dc:subject>PptxGenJS Presentation</dc:subject>
  <dc:creator>Mathew, Peter, Matthew</dc:creator>
  <cp:lastModifiedBy>Mathew, Peter, Matthew</cp:lastModifiedBy>
  <cp:revision>1</cp:revision>
  <dcterms:created xsi:type="dcterms:W3CDTF">2026-10-24T16:25:10Z</dcterms:created>
  <dcterms:modified xsi:type="dcterms:W3CDTF">2026-10-24T16:25:10Z</dcterms:modified>
</cp:coreProperties>
</file>