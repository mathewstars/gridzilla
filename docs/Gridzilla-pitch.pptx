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ee454b8-b806-d688-45da-da11d4935494}">
          <p14:sldIdLst>
            <p14:sldId id="256"/>
          </p14:sldIdLst>
        </p14:section>
        <p14:section name="Why" id="{62db21e0-0fdf-9e72-4eaa-f90ddf9689b7}">
          <p14:sldIdLst>
            <p14:sldId id="257"/>
          </p14:sldIdLst>
        </p14:section>
        <p14:section name="What" id="{84ef2d7e-51bc-2cff-f596-20ba7b39ba7e}">
          <p14:sldIdLst>
            <p14:sldId id="258"/>
            <p14:sldId id="259"/>
            <p14:sldId id="260"/>
          </p14:sldIdLst>
        </p14:section>
        <p14:section name="How" id="{cc895447-e983-2689-57a9-1e36c51d390c}">
          <p14:sldIdLst>
            <p14:sldId id="261"/>
            <p14:sldId id="262"/>
            <p14:sldId id="263"/>
            <p14:sldId id="264"/>
          </p14:sldIdLst>
        </p14:section>
        <p14:section name="Demo" id="{7fc0d29a-1ca7-38ce-1773-b0daf8ad3234}">
          <p14:sldIdLst>
            <p14:sldId id="265"/>
          </p14:sldIdLst>
        </p14:section>
        <p14:section name="Built" id="{34d0d58b-6b43-551f-0d9b-5f7b44f30710}">
          <p14:sldIdLst>
            <p14:sldId id="266"/>
            <p14:sldId id="267"/>
            <p14:sldId id="268"/>
            <p14:sldId id="269"/>
          </p14:sldIdLst>
        </p14:section>
        <p14:section name="Close" id="{32e0c8af-d44e-2cee-3936-b8eb80f3ea67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0:00-1:00. One sentence: a DSO signal that home batteries, cars and heat pumps follow, signed, bounded, with the owner always in control. Say what is real: a Victron plant and a Viessmann heat pump in Blatnica are on the board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1:00-2:00. Three numbers, then the three failure modes. The point: the storage exists, the signal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2:00-3:30. Walk the chain left to right. Stress: limits not setpoints, owner wins, device enforces time bounds itself, settlement on the 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3:30-4:30. Do not read all six. Point at SUPPORT and ABSORB, the everyday ones, and PREPARE and STRETCH, the crisis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4:30-5:30. The vendor only owns step five. Everything else is identical on the Victron, on the ViCare cloud agent and on the 270 simulated houses.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5:30-6:30. AI proposes, guard disposes. Say it twice. Then: why the guard is not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6:30-7:00. Grey is what the same houses would have drawn, blue is what they drew, red is the transformer. The gap is the product. Real numbers from the running system, 8 houses per simulated household.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7:00-8:00. Monster talk: Gridzilla eats peaks, but it is on a diet: it eats exactly the slice above L and not a watt more. A car plugged in at 18:00 trickles through dinner and gulps at 02:00. A battery swallows the peak and burps it back into the house. At noon it drinks the PV surplus. Nobody notices; the transformer sleeps at 70 instead of 110 percent. Then the algorithm in one breath: forecast what nobody controls, count the flexible energy, water-fill, send the ceilings. DeepSeek sits on top for what the plan cannot see: a cold snap, an outage, backflow.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8:00-8:45. Say it before the jury asks: the signal path and the algorithm are real, the fleet is simulated, and here is exactly how much the simulation flatters us. The street number is defensible from published pilots; the city number is arithmetic on enrolment.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8:45-12:00. Alt-tab: deck, Gridzilla board, VRM. Pin Blatnica before the SUPPORT step so the curve stays on our transformer. VRM is the independent witness: Victron's own portal showing the setpoint change. If the venue network dies, show the recorded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11:30-12:30. The point of this slide is credibility: nothing is a mock-up. Name the two real devices and the public broker.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12:30-13:30. Six controls, then the two gaps yourself. A juror who finds a gap you named is on your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13:30-14:30. Left: vendor independence is proven by the simulators, which run no Victron code. Right: the economics in two sentences, pay on the meter and the dynamic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13:30-14:15. Our numbers, not a quote. The point is the shape: small platform, incentive is the real opex, capex deferral is the saving, and enforcement on the meter is what makes the saving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14:30-15:00. The ask is a transformer to pilot on. Stop talking,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5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15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Gridzilla · Energy Bridge Critical Infrastructure Hackathon · Vienna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GRIDZILLA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The DSO's monster. Every house keeps it on a leash.</a:t>
            </a:r>
            <a:endParaRPr lang="en-US" sz="5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A signed, bounded grid signal for home batteries, cars and heat pumps,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with DeepSeek running the grid and a real plant in Blatnica following it live.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Mathew Stafurik · Peter Mikeška · Matthew  ·  Grid-Serving Storage track  ·  github.com/mathewstars/Gridzilla  ·  gridzilla.victronlab.sk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Europe's largest battery fleet is in people's basements. The grid cannot use one of them</a:t>
            </a:r>
            <a:endParaRPr lang="en-US" sz="3200" dirty="0"/>
          </a:p>
        </p:txBody>
      </p:sp>
      <p:sp>
        <p:nvSpPr>
          <p:cNvPr id="3" name="stat DSO-level signals to home storage in Slovakia. The only flexibility pilot served the TSO, not the street transformer"/>
          <p:cNvSpPr/>
          <p:nvPr/>
        </p:nvSpPr>
        <p:spPr>
          <a:xfrm>
            <a:off x="548640" y="155448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19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DSO-level signals to home storage in Slovakia. The only flexibility pilot served the TSO, not the street transformer</a:t>
            </a:r>
            <a:endParaRPr lang="en-US" sz="1200" dirty="0"/>
          </a:p>
        </p:txBody>
      </p:sp>
      <p:sp>
        <p:nvSpPr>
          <p:cNvPr id="6" name="stat The best case, Germany's §14a: a dimmer for new devices, charging only, used in under 1 % of hours"/>
          <p:cNvSpPr/>
          <p:nvPr/>
        </p:nvSpPr>
        <p:spPr>
          <a:xfrm>
            <a:off x="4297680" y="155448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719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kW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best case, Germany's §14a: a dimmer for new devices, charging only, used in under 1 % of hours</a:t>
            </a:r>
            <a:endParaRPr lang="en-US" sz="1200" dirty="0"/>
          </a:p>
        </p:txBody>
      </p:sp>
      <p:sp>
        <p:nvSpPr>
          <p:cNvPr id="9" name="stat Home batteries installed in Ukraine in 2025 alone. People charge by hand before the published outage queue"/>
          <p:cNvSpPr/>
          <p:nvPr/>
        </p:nvSpPr>
        <p:spPr>
          <a:xfrm>
            <a:off x="8046720" y="155448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719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GWh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Home batteries installed in Ukraine in 2025 alone. People charge by hand before the published outage queue</a:t>
            </a:r>
            <a:endParaRPr lang="en-US" sz="1200" dirty="0"/>
          </a:p>
        </p:txBody>
      </p:sp>
      <p:sp>
        <p:nvSpPr>
          <p:cNvPr id="12" name="problem"/>
          <p:cNvSpPr/>
          <p:nvPr/>
        </p:nvSpPr>
        <p:spPr>
          <a:xfrm>
            <a:off x="548640" y="3291840"/>
            <a:ext cx="1109167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breaks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40480"/>
            <a:ext cx="10543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Evening peaks: heat pumps and EV chargers push street transformers past rating; the DSO's only tools are curtailment or copper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PV noon: everyone exports at once, the feeder voltage rises, new connections get refused or capped for the whole year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Crisis: when a transformer is hit or the country is short, everyone is cut equally, including the houses that could have ridden through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One signed, bounded signal from the DSO to every house, on whatever path the vendor likes</a:t>
            </a:r>
            <a:endParaRPr lang="en-US" sz="3200" dirty="0"/>
          </a:p>
        </p:txBody>
      </p:sp>
      <p:sp>
        <p:nvSpPr>
          <p:cNvPr id="3" name="chain DSO"/>
          <p:cNvSpPr/>
          <p:nvPr/>
        </p:nvSpPr>
        <p:spPr>
          <a:xfrm>
            <a:off x="54864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202996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sees a transformer or feeder heading past rating</a:t>
            </a:r>
            <a:endParaRPr lang="en-US" sz="1150" dirty="0"/>
          </a:p>
        </p:txBody>
      </p:sp>
      <p:sp>
        <p:nvSpPr>
          <p:cNvPr id="7" name="arrow"/>
          <p:cNvSpPr/>
          <p:nvPr/>
        </p:nvSpPr>
        <p:spPr>
          <a:xfrm>
            <a:off x="253288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8" name="chain GRIDZILLA"/>
          <p:cNvSpPr/>
          <p:nvPr/>
        </p:nvSpPr>
        <p:spPr>
          <a:xfrm>
            <a:off x="278892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dot"/>
          <p:cNvSpPr/>
          <p:nvPr/>
        </p:nvSpPr>
        <p:spPr>
          <a:xfrm>
            <a:off x="297180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GRIDZILLA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7180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policy guard, Ed25519 signature, one topic per grid segment</a:t>
            </a:r>
            <a:endParaRPr lang="en-US" sz="1150" dirty="0"/>
          </a:p>
        </p:txBody>
      </p:sp>
      <p:sp>
        <p:nvSpPr>
          <p:cNvPr id="12" name="arrow"/>
          <p:cNvSpPr/>
          <p:nvPr/>
        </p:nvSpPr>
        <p:spPr>
          <a:xfrm>
            <a:off x="477316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3" name="chain BROKER"/>
          <p:cNvSpPr/>
          <p:nvPr/>
        </p:nvSpPr>
        <p:spPr>
          <a:xfrm>
            <a:off x="502920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dot"/>
          <p:cNvSpPr/>
          <p:nvPr/>
        </p:nvSpPr>
        <p:spPr>
          <a:xfrm>
            <a:off x="5212080" y="2029968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1208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BROKER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MQTT over TLS, delivery only, no authority</a:t>
            </a:r>
            <a:endParaRPr lang="en-US" sz="1150" dirty="0"/>
          </a:p>
        </p:txBody>
      </p:sp>
      <p:sp>
        <p:nvSpPr>
          <p:cNvPr id="17" name="arrow"/>
          <p:cNvSpPr/>
          <p:nvPr/>
        </p:nvSpPr>
        <p:spPr>
          <a:xfrm>
            <a:off x="701344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8" name="chain HOUSE AGENT"/>
          <p:cNvSpPr/>
          <p:nvPr/>
        </p:nvSpPr>
        <p:spPr>
          <a:xfrm>
            <a:off x="726948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dot"/>
          <p:cNvSpPr/>
          <p:nvPr/>
        </p:nvSpPr>
        <p:spPr>
          <a:xfrm>
            <a:off x="7452360" y="202996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5236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HOUSE AGENT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verifies, merges with the owner's limits, applies, acks</a:t>
            </a:r>
            <a:endParaRPr lang="en-US" sz="1150" dirty="0"/>
          </a:p>
        </p:txBody>
      </p:sp>
      <p:sp>
        <p:nvSpPr>
          <p:cNvPr id="22" name="arrow"/>
          <p:cNvSpPr/>
          <p:nvPr/>
        </p:nvSpPr>
        <p:spPr>
          <a:xfrm>
            <a:off x="925372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23" name="chain BATTERY · EV · HEAT"/>
          <p:cNvSpPr/>
          <p:nvPr/>
        </p:nvSpPr>
        <p:spPr>
          <a:xfrm>
            <a:off x="950976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t"/>
          <p:cNvSpPr/>
          <p:nvPr/>
        </p:nvSpPr>
        <p:spPr>
          <a:xfrm>
            <a:off x="9692640" y="2029968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9264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BATTERY · EV · HEAT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 limit at the meter, never a setpoint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114800"/>
            <a:ext cx="11091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signal names a limit at the grid connection point: import ceiling, export ceiling, export floor, target SoC. It never names a device or a register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owner's limits always win: minimum SoC, max current, opt-out. The house may answer partial or refused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Four-hour maximum, enforced on the platform and again on the device; revert on window end or 120 s without heartbeat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Pay on the meter: limits are a yes or no per 15-minute interval on the DSO's own smart meter, so there is nothing to game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Six signals, one grammar: limits for a window</a:t>
            </a:r>
            <a:endParaRPr lang="en-US" sz="3200" dirty="0"/>
          </a:p>
        </p:txBody>
      </p:sp>
      <p:sp>
        <p:nvSpPr>
          <p:cNvPr id="3" name="signal PREPARE"/>
          <p:cNvSpPr/>
          <p:nvPr/>
        </p:nvSpPr>
        <p:spPr>
          <a:xfrm>
            <a:off x="548640" y="15544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Fill the battery, the car and the tank to a target by a deadline, in the quiet hours</a:t>
            </a:r>
            <a:endParaRPr lang="en-US" sz="1250" dirty="0"/>
          </a:p>
        </p:txBody>
      </p:sp>
      <p:sp>
        <p:nvSpPr>
          <p:cNvPr id="7" name="signal ABSORB"/>
          <p:cNvSpPr/>
          <p:nvPr/>
        </p:nvSpPr>
        <p:spPr>
          <a:xfrm>
            <a:off x="4297680" y="15544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4526280" y="178308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ABSORB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PV surplus: cap export, charge, soak it into the car and the hot water, curtail last</a:t>
            </a:r>
            <a:endParaRPr lang="en-US" sz="1250" dirty="0"/>
          </a:p>
        </p:txBody>
      </p:sp>
      <p:sp>
        <p:nvSpPr>
          <p:cNvPr id="11" name="signal SUPPORT"/>
          <p:cNvSpPr/>
          <p:nvPr/>
        </p:nvSpPr>
        <p:spPr>
          <a:xfrm>
            <a:off x="8046720" y="15544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t"/>
          <p:cNvSpPr/>
          <p:nvPr/>
        </p:nvSpPr>
        <p:spPr>
          <a:xfrm>
            <a:off x="8275320" y="1783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7824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Peak or deficit: "take 3 kW only", and if the street needs more, "give at least 2 kW"</a:t>
            </a:r>
            <a:endParaRPr lang="en-US" sz="1250" dirty="0"/>
          </a:p>
        </p:txBody>
      </p:sp>
      <p:sp>
        <p:nvSpPr>
          <p:cNvPr id="15" name="signal STRETCH"/>
          <p:cNvSpPr/>
          <p:nvPr/>
        </p:nvSpPr>
        <p:spPr>
          <a:xfrm>
            <a:off x="548640" y="333756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t"/>
          <p:cNvSpPr/>
          <p:nvPr/>
        </p:nvSpPr>
        <p:spPr>
          <a:xfrm>
            <a:off x="777240" y="356616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8016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Street is dark: island, ration the battery until restoration, export locked to zero</a:t>
            </a:r>
            <a:endParaRPr lang="en-US" sz="1250" dirty="0"/>
          </a:p>
        </p:txBody>
      </p:sp>
      <p:sp>
        <p:nvSpPr>
          <p:cNvPr id="19" name="signal RECOVER"/>
          <p:cNvSpPr/>
          <p:nvPr/>
        </p:nvSpPr>
        <p:spPr>
          <a:xfrm>
            <a:off x="4297680" y="333756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t"/>
          <p:cNvSpPr/>
          <p:nvPr/>
        </p:nvSpPr>
        <p:spPr>
          <a:xfrm>
            <a:off x="4526280" y="3566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After restoration: staggered recharge so the street does not refill at once</a:t>
            </a:r>
            <a:endParaRPr lang="en-US" sz="1250" dirty="0"/>
          </a:p>
        </p:txBody>
      </p:sp>
      <p:sp>
        <p:nvSpPr>
          <p:cNvPr id="23" name="signal RELEASE"/>
          <p:cNvSpPr/>
          <p:nvPr/>
        </p:nvSpPr>
        <p:spPr>
          <a:xfrm>
            <a:off x="8046720" y="333756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t"/>
          <p:cNvSpPr/>
          <p:nvPr/>
        </p:nvSpPr>
        <p:spPr>
          <a:xfrm>
            <a:off x="8275320" y="35661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7824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Event over. Owner mode, immediately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2578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Envelopes: a SUPPORT or ABSORB carries one ceiling per 15-minute slot, the meter's settlement interval. Cohorts let one signal address half a street, so the other half exports while the first charges.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household is the unit: everything behind one meter, one agent, eight functions</a:t>
            </a:r>
            <a:endParaRPr lang="en-US" sz="3200" dirty="0"/>
          </a:p>
        </p:txBody>
      </p:sp>
      <p:sp>
        <p:nvSpPr>
          <p:cNvPr id="3" name="dot"/>
          <p:cNvSpPr/>
          <p:nvPr/>
        </p:nvSpPr>
        <p:spPr>
          <a:xfrm>
            <a:off x="548640" y="16459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554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9202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the lever of last resort: discharge to cover the house or feed the street, within the owner floor</a:t>
            </a:r>
            <a:endParaRPr lang="en-US" sz="1250" dirty="0"/>
          </a:p>
        </p:txBody>
      </p:sp>
      <p:sp>
        <p:nvSpPr>
          <p:cNvPr id="6" name="dot"/>
          <p:cNvSpPr/>
          <p:nvPr/>
        </p:nvSpPr>
        <p:spPr>
          <a:xfrm>
            <a:off x="548640" y="26974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charger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9718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the first lever: throttled 16 to 6 A under a cap, soaks surplus, paused when the street is dark</a:t>
            </a:r>
            <a:endParaRPr lang="en-US" sz="1250" dirty="0"/>
          </a:p>
        </p:txBody>
      </p:sp>
      <p:sp>
        <p:nvSpPr>
          <p:cNvPr id="9" name="dot"/>
          <p:cNvSpPr/>
          <p:nvPr/>
        </p:nvSpPr>
        <p:spPr>
          <a:xfrm>
            <a:off x="548640" y="374904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3657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pump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40233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second lever: tank to 55 °C under surplus, floor at 40 °C under a cap, 3 kW shed per house</a:t>
            </a:r>
            <a:endParaRPr lang="en-US" sz="1250" dirty="0"/>
          </a:p>
        </p:txBody>
      </p:sp>
      <p:sp>
        <p:nvSpPr>
          <p:cNvPr id="12" name="dot"/>
          <p:cNvSpPr/>
          <p:nvPr/>
        </p:nvSpPr>
        <p:spPr>
          <a:xfrm>
            <a:off x="548640" y="480060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5074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same rules at 65 and 45 °C; an electric boiler is a kilowatt-hour sponge</a:t>
            </a:r>
            <a:endParaRPr lang="en-US" sz="1250" dirty="0"/>
          </a:p>
        </p:txBody>
      </p:sp>
      <p:sp>
        <p:nvSpPr>
          <p:cNvPr id="15" name="eight functions"/>
          <p:cNvSpPr/>
          <p:nvPr/>
        </p:nvSpPr>
        <p:spPr>
          <a:xfrm>
            <a:off x="6675120" y="1554480"/>
            <a:ext cx="4937760" cy="4114800"/>
          </a:xfrm>
          <a:prstGeom prst="roundRect">
            <a:avLst>
              <a:gd name="adj" fmla="val 17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agent, any language, forty lines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2148840"/>
            <a:ext cx="4526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Pin the platform key at registration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Subscribe to the segment topics, outbound only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Verify signature, sequence, freshness, scope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Merge with owner limits: floor, caps, opt-out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Apply: the only vendor-specific step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Ack, signed with the device key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Watch the heartbeat and the window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Revert to owner mode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064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Blatnica, the real one: Victron Cerbo GX with MultiPlus-II and a 15 kWh battery, an 11 kW Victron EV station, and a Viessmann Vitocal heat pump via ViCare. One house on the board.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DeepSeek runs the grid every 15 minutes. The guard is the brake</a:t>
            </a:r>
            <a:endParaRPr lang="en-US" sz="3200" dirty="0"/>
          </a:p>
        </p:txBody>
      </p:sp>
      <p:sp>
        <p:nvSpPr>
          <p:cNvPr id="3" name="step SENSE"/>
          <p:cNvSpPr/>
          <p:nvPr/>
        </p:nvSpPr>
        <p:spPr>
          <a:xfrm>
            <a:off x="54864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72 transformers, 90-minute forecast, trigger at ±85 % of rating</a:t>
            </a:r>
            <a:endParaRPr lang="en-US" sz="1200" dirty="0"/>
          </a:p>
        </p:txBody>
      </p:sp>
      <p:sp>
        <p:nvSpPr>
          <p:cNvPr id="7" name="arrow"/>
          <p:cNvSpPr/>
          <p:nvPr/>
        </p:nvSpPr>
        <p:spPr>
          <a:xfrm>
            <a:off x="3163824" y="2514600"/>
            <a:ext cx="201168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8" name="step DEEPSEEK DECIDES"/>
          <p:cNvSpPr/>
          <p:nvPr/>
        </p:nvSpPr>
        <p:spPr>
          <a:xfrm>
            <a:off x="338328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dot"/>
          <p:cNvSpPr/>
          <p:nvPr/>
        </p:nvSpPr>
        <p:spPr>
          <a:xfrm>
            <a:off x="3611880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DECIDES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DeepSeek-V4.1-Flash on the DGX Spark proposes mode, segment, cap, window and a dynamic envelope, in ~3 s</a:t>
            </a:r>
            <a:endParaRPr lang="en-US" sz="1200" dirty="0"/>
          </a:p>
        </p:txBody>
      </p:sp>
      <p:sp>
        <p:nvSpPr>
          <p:cNvPr id="12" name="arrow"/>
          <p:cNvSpPr/>
          <p:nvPr/>
        </p:nvSpPr>
        <p:spPr>
          <a:xfrm>
            <a:off x="5998464" y="2514600"/>
            <a:ext cx="201168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3" name="step GUARD"/>
          <p:cNvSpPr/>
          <p:nvPr/>
        </p:nvSpPr>
        <p:spPr>
          <a:xfrm>
            <a:off x="621792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dot"/>
          <p:cNvSpPr/>
          <p:nvPr/>
        </p:nvSpPr>
        <p:spPr>
          <a:xfrm>
            <a:off x="6446520" y="18288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4944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deterministic policy: window, depth, rate, reverse rating, cooldowns. Not AI. Refuses or passes</a:t>
            </a:r>
            <a:endParaRPr lang="en-US" sz="1200" dirty="0"/>
          </a:p>
        </p:txBody>
      </p:sp>
      <p:sp>
        <p:nvSpPr>
          <p:cNvPr id="17" name="arrow"/>
          <p:cNvSpPr/>
          <p:nvPr/>
        </p:nvSpPr>
        <p:spPr>
          <a:xfrm>
            <a:off x="8833104" y="2514600"/>
            <a:ext cx="201168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8" name="step SIGN + PUBLISH"/>
          <p:cNvSpPr/>
          <p:nvPr/>
        </p:nvSpPr>
        <p:spPr>
          <a:xfrm>
            <a:off x="905256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dot"/>
          <p:cNvSpPr/>
          <p:nvPr/>
        </p:nvSpPr>
        <p:spPr>
          <a:xfrm>
            <a:off x="9281160" y="18288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8408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+ PUBLISH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Ed25519, one topic per segment, over TLS. Houses merge with owner limits and ack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023360"/>
            <a:ext cx="11091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Three modes: autonomous, operator approves, off. In autonomous mode nothing waits for a human; the guard and the device-side bounds are the safety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Scope is physics: a street transformer is relieved only by its own houses; a feeder or substation by every house under it; a village can feed its neighbours through the 22 kV 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decision is logged with its reasoning, latency, verdict and the acks it earned. That log is the audit trail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flattening looks like: speising-22, 400 kVA, from this morning's run</a:t>
            </a:r>
            <a:endParaRPr lang="en-US" sz="3200" dirty="0"/>
          </a:p>
        </p:txBody>
      </p:sp>
      <p:pic>
        <p:nvPicPr>
          <p:cNvPr id="3" name="Transformer load with and without Gridzilla" descr="/private/tmp/claude-501/-Users-mathew-Library-Mobile-Documents-com-apple-CloudDocs-Workspaces--ai-projects-hackaton/6847b38a-4405-4bc8-878f-68767b84da8f/scratchpad/deck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863840" cy="4754880"/>
          </a:xfrm>
          <a:prstGeom prst="rect">
            <a:avLst/>
          </a:prstGeom>
        </p:spPr>
      </p:pic>
      <p:sp>
        <p:nvSpPr>
          <p:cNvPr id="4" name="stat largest cut below the counterfactual on this transformer"/>
          <p:cNvSpPr/>
          <p:nvPr/>
        </p:nvSpPr>
        <p:spPr>
          <a:xfrm>
            <a:off x="8686800" y="14173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581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−199 kW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915400" y="23134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largest cut below the counterfactual on this transformer</a:t>
            </a:r>
            <a:endParaRPr lang="en-US" sz="1200" dirty="0"/>
          </a:p>
        </p:txBody>
      </p:sp>
      <p:sp>
        <p:nvSpPr>
          <p:cNvPr id="7" name="stat import cap per house DeepSeek chose; EVs throttled first, batteries second"/>
          <p:cNvSpPr/>
          <p:nvPr/>
        </p:nvSpPr>
        <p:spPr>
          <a:xfrm>
            <a:off x="8686800" y="30175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15400" y="31821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kW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39136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 cap per house DeepSeek chose; EVs throttled first, batteries second</a:t>
            </a:r>
            <a:endParaRPr lang="en-US" sz="1200" dirty="0"/>
          </a:p>
        </p:txBody>
      </p:sp>
      <p:sp>
        <p:nvSpPr>
          <p:cNvPr id="10" name="stat owner floors crossed; partial acks where a battery hit its reserve"/>
          <p:cNvSpPr/>
          <p:nvPr/>
        </p:nvSpPr>
        <p:spPr>
          <a:xfrm>
            <a:off x="8686800" y="46177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15400" y="4782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5513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owner floors crossed; partial acks where a battery hit its reserve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monster is on a diet: water-filling flattens every street</a:t>
            </a:r>
            <a:endParaRPr lang="en-US" sz="3200" dirty="0"/>
          </a:p>
        </p:txBody>
      </p:sp>
      <p:pic>
        <p:nvPicPr>
          <p:cNvPr id="3" name="Vienna 24-hour plan: without Gridzilla, with the diet plan, level L" descr="/private/tmp/claude-501/-Users-mathew-Library-Mobile-Documents-com-apple-CloudDocs-Workspaces--ai-projects-hackaton/6847b38a-4405-4bc8-878f-68767b84da8f/scratchpad/deck/fla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863840" cy="4754880"/>
          </a:xfrm>
          <a:prstGeom prst="rect">
            <a:avLst/>
          </a:prstGeom>
        </p:spPr>
      </p:pic>
      <p:sp>
        <p:nvSpPr>
          <p:cNvPr id="4" name="stat Vienna evening peak, of transformer rating: 23.7 MW becomes 13.4 MW"/>
          <p:cNvSpPr/>
          <p:nvPr/>
        </p:nvSpPr>
        <p:spPr>
          <a:xfrm>
            <a:off x="8686800" y="14173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581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→ 45 %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915400" y="23134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Vienna evening peak, of transformer rating: 23.7 MW becomes 13.4 MW</a:t>
            </a:r>
            <a:endParaRPr lang="en-US" sz="1200" dirty="0"/>
          </a:p>
        </p:txBody>
      </p:sp>
      <p:sp>
        <p:nvSpPr>
          <p:cNvPr id="7" name="stat of car charging moved from dinner into the night valley; every car full by 07:00"/>
          <p:cNvSpPr/>
          <p:nvPr/>
        </p:nvSpPr>
        <p:spPr>
          <a:xfrm>
            <a:off x="8686800" y="30175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15400" y="31821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 MWh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39136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car charging moved from dinner into the night valley; every car full by 07:00</a:t>
            </a:r>
            <a:endParaRPr lang="en-US" sz="1200" dirty="0"/>
          </a:p>
        </p:txBody>
      </p:sp>
      <p:sp>
        <p:nvSpPr>
          <p:cNvPr id="10" name="stat the lowest level where the cars fit below it and the peak above it fits in the batteries. Two ceilings per 15 min, per house, signed, renewed every 2 h"/>
          <p:cNvSpPr/>
          <p:nvPr/>
        </p:nvSpPr>
        <p:spPr>
          <a:xfrm>
            <a:off x="8686800" y="46177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15400" y="4782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5513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lowest level where the cars fit below it and the peak above it fits in the batteries. Two ceilings per 15 min, per house, signed, renewed every 2 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is real, what is modelled, and what the numbers mean</a:t>
            </a:r>
            <a:endParaRPr lang="en-US" sz="3200" dirty="0"/>
          </a:p>
        </p:txBody>
      </p:sp>
      <p:sp>
        <p:nvSpPr>
          <p:cNvPr id="3" name="real"/>
          <p:cNvSpPr/>
          <p:nvPr/>
        </p:nvSpPr>
        <p:spPr>
          <a:xfrm>
            <a:off x="548640" y="1371600"/>
            <a:ext cx="54864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463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TODAY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5074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control path: signed signal in, a Victron plant and a Viessmann heat pump move, verified acks come back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flattening algorithm and the guard, running on the fleet every two grid hours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One street in the program: 25-30 % off its evening peak, inside what published smart-charging and home-battery pilots report (3-6 kW per EV house, 1-2 kW per battery at the peak)</a:t>
            </a:r>
            <a:endParaRPr lang="en-US" sz="1250" dirty="0"/>
          </a:p>
        </p:txBody>
      </p:sp>
      <p:sp>
        <p:nvSpPr>
          <p:cNvPr id="7" name="modelled"/>
          <p:cNvSpPr/>
          <p:nvPr/>
        </p:nvSpPr>
        <p:spPr>
          <a:xfrm>
            <a:off x="6263640" y="137160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6446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0" y="1463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MODELLED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1920240"/>
            <a:ext cx="4983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fleet: 271 simulated households, each standing for 8 real ones: 2,184 program houses with 10-25 kWh batteries, 1,190 with an 11 kW charger needing 6-26 kWh a night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"without" curve assumes every car starts at full power the moment it is plugged in; real uncontrolled charging has 40-60 % coincidence, so the true gap is about half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Program houses carry ~30 % of a street's evening load here: a 2030 picture, not a street today</a:t>
            </a:r>
            <a:endParaRPr lang="en-US" sz="1250" dirty="0"/>
          </a:p>
        </p:txBody>
      </p:sp>
      <p:sp>
        <p:nvSpPr>
          <p:cNvPr id="11" name="stat one street, Erdberg-47: 615 → 439 kW at the peak, 29 %. The number we stand behind"/>
          <p:cNvSpPr/>
          <p:nvPr/>
        </p:nvSpPr>
        <p:spPr>
          <a:xfrm>
            <a:off x="548640" y="384048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00507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−176 kW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7365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 street, Erdberg-47: 615 → 439 kW at the peak, 29 %. The number we stand behind</a:t>
            </a:r>
            <a:endParaRPr lang="en-US" sz="1200" dirty="0"/>
          </a:p>
        </p:txBody>
      </p:sp>
      <p:sp>
        <p:nvSpPr>
          <p:cNvPr id="14" name="stat Vienna, if 2,000 houses enrol: the street effect times enrolment, with the coincidence caveat"/>
          <p:cNvSpPr/>
          <p:nvPr/>
        </p:nvSpPr>
        <p:spPr>
          <a:xfrm>
            <a:off x="3383280" y="384048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11880" y="400507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 MW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47365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Vienna, if 2,000 houses enrol: the street effect times enrolment, with the coincidence caveat</a:t>
            </a:r>
            <a:endParaRPr lang="en-US" sz="1200" dirty="0"/>
          </a:p>
        </p:txBody>
      </p:sp>
      <p:sp>
        <p:nvSpPr>
          <p:cNvPr id="17" name="stat the same fleet with realistic charging coincidence. Still a substation's worth of peak"/>
          <p:cNvSpPr/>
          <p:nvPr/>
        </p:nvSpPr>
        <p:spPr>
          <a:xfrm>
            <a:off x="6217920" y="384048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46520" y="400507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~5-6 MW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47365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same fleet with realistic charging coincidence. Still a substation's worth of peak</a:t>
            </a:r>
            <a:endParaRPr lang="en-US" sz="1200" dirty="0"/>
          </a:p>
        </p:txBody>
      </p:sp>
      <p:sp>
        <p:nvSpPr>
          <p:cNvPr id="20" name="stat real house in the fleet tonight. The fleet is the part we are asking you to build"/>
          <p:cNvSpPr/>
          <p:nvPr/>
        </p:nvSpPr>
        <p:spPr>
          <a:xfrm>
            <a:off x="9052560" y="38404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81160" y="400507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473659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real house in the fleet tonight. The fleet is the part we are asking you to build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Live, three windows: this deck, the Gridzilla board, VRM</a:t>
            </a:r>
            <a:endParaRPr lang="en-US" sz="3200" dirty="0"/>
          </a:p>
        </p:txBody>
      </p:sp>
      <p:pic>
        <p:nvPicPr>
          <p:cNvPr id="3" name="Presentation view of the live board" descr="/private/tmp/claude-501/-Users-mathew-Library-Mobile-Documents-com-apple-CloudDocs-Workspaces--ai-projects-hackaton/6847b38a-4405-4bc8-878f-68767b84da8f/scratchpad/deck/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4389120"/>
          </a:xfrm>
          <a:prstGeom prst="rect">
            <a:avLst/>
          </a:prstGeom>
        </p:spPr>
      </p:pic>
      <p:sp>
        <p:nvSpPr>
          <p:cNvPr id="4" name="demo script"/>
          <p:cNvSpPr/>
          <p:nvPr/>
        </p:nvSpPr>
        <p:spPr>
          <a:xfrm>
            <a:off x="8412480" y="1371600"/>
            <a:ext cx="3200400" cy="438912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41080" y="1508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Four minutes, alt-tab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965960"/>
            <a:ext cx="2788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city view, 72 transformers, 272 households live, one of them real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one DeepSeek review, sense, decide, guard, signed signal, countdown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the curve, with vs without, on the transformer it chose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Board, Flattening tab: the 24 h diet plan for Vienna, then one street; cars moved into the valley, batteries eat the peak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Board, pin Blatnica: send SUPPORT from the Manual tab; tiles move within seconds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VRM: the same plant from Victron's side, grid setpoint and battery power reacting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pause the heartbeat, every house reverts to owner mode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Everything on that screen runs on real infrastructure today</a:t>
            </a:r>
            <a:endParaRPr lang="en-US" sz="3200" dirty="0"/>
          </a:p>
        </p:txBody>
      </p:sp>
      <p:sp>
        <p:nvSpPr>
          <p:cNvPr id="3" name="stat households on the board, 8,070 houses represented"/>
          <p:cNvSpPr/>
          <p:nvPr/>
        </p:nvSpPr>
        <p:spPr>
          <a:xfrm>
            <a:off x="548640" y="146304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276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households on the board, 8,070 houses represented</a:t>
            </a:r>
            <a:endParaRPr lang="en-US" sz="1200" dirty="0"/>
          </a:p>
        </p:txBody>
      </p:sp>
      <p:sp>
        <p:nvSpPr>
          <p:cNvPr id="6" name="stat street transformers, 24 feeders, 8 substations with Wiener Netze names"/>
          <p:cNvSpPr/>
          <p:nvPr/>
        </p:nvSpPr>
        <p:spPr>
          <a:xfrm>
            <a:off x="3383280" y="146304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6276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street transformers, 24 feeders, 8 substations with Wiener Netze names</a:t>
            </a:r>
            <a:endParaRPr lang="en-US" sz="1200" dirty="0"/>
          </a:p>
        </p:txBody>
      </p:sp>
      <p:sp>
        <p:nvSpPr>
          <p:cNvPr id="9" name="stat real devices: a Victron plant and a Viessmann heat pump, 60 km from here"/>
          <p:cNvSpPr/>
          <p:nvPr/>
        </p:nvSpPr>
        <p:spPr>
          <a:xfrm>
            <a:off x="6217920" y="146304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276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real devices: a Victron plant and a Viessmann heat pump, 60 km from here</a:t>
            </a:r>
            <a:endParaRPr lang="en-US" sz="1200" dirty="0"/>
          </a:p>
        </p:txBody>
      </p:sp>
      <p:sp>
        <p:nvSpPr>
          <p:cNvPr id="12" name="stat DeepSeek decision latency on the DGX Spark"/>
          <p:cNvSpPr/>
          <p:nvPr/>
        </p:nvSpPr>
        <p:spPr>
          <a:xfrm>
            <a:off x="9052560" y="1463040"/>
            <a:ext cx="258775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627632"/>
            <a:ext cx="2130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s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359152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DeepSeek decision latency on the DGX Spark</a:t>
            </a:r>
            <a:endParaRPr lang="en-US" sz="1200" dirty="0"/>
          </a:p>
        </p:txBody>
      </p:sp>
      <p:sp>
        <p:nvSpPr>
          <p:cNvPr id="15" name="dot"/>
          <p:cNvSpPr/>
          <p:nvPr/>
        </p:nvSpPr>
        <p:spPr>
          <a:xfrm>
            <a:off x="548640" y="3200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3154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plant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Cerbo GX on Venus OS Large, a 53-node Node-RED agent we deploy over the admin API; EV Charging Station throttled first; ESS limits written and restored</a:t>
            </a:r>
            <a:endParaRPr lang="en-US" sz="1150" dirty="0"/>
          </a:p>
        </p:txBody>
      </p:sp>
      <p:sp>
        <p:nvSpPr>
          <p:cNvPr id="18" name="dot"/>
          <p:cNvSpPr/>
          <p:nvPr/>
        </p:nvSpPr>
        <p:spPr>
          <a:xfrm>
            <a:off x="6217920" y="3200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0" y="3154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pump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Vitocal CU401B through the ViCare REST API with a refresh token; hot-water setpoint and one-time charge, verified on the unit</a:t>
            </a:r>
            <a:endParaRPr lang="en-US" sz="1150" dirty="0"/>
          </a:p>
        </p:txBody>
      </p:sp>
      <p:sp>
        <p:nvSpPr>
          <p:cNvPr id="21" name="dot"/>
          <p:cNvSpPr/>
          <p:nvPr/>
        </p:nvSpPr>
        <p:spPr>
          <a:xfrm>
            <a:off x="548640" y="41879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41422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44622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Mosquitto on our own server, Let's Encrypt, TLS only, credentials and topic access lists; devices open outbound connections only</a:t>
            </a:r>
            <a:endParaRPr lang="en-US" sz="1150" dirty="0"/>
          </a:p>
        </p:txBody>
      </p:sp>
      <p:sp>
        <p:nvSpPr>
          <p:cNvPr id="24" name="dot"/>
          <p:cNvSpPr/>
          <p:nvPr/>
        </p:nvSpPr>
        <p:spPr>
          <a:xfrm>
            <a:off x="6217920" y="41879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41422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44622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FastAPI on a Ubuntu box behind Apache and Let's Encrypt; registry tree, guard, signing, history, autopilot; public board at gridzilla.victronlab.sk</a:t>
            </a:r>
            <a:endParaRPr lang="en-US" sz="1150" dirty="0"/>
          </a:p>
        </p:txBody>
      </p:sp>
      <p:sp>
        <p:nvSpPr>
          <p:cNvPr id="27" name="dot"/>
          <p:cNvSpPr/>
          <p:nvPr/>
        </p:nvSpPr>
        <p:spPr>
          <a:xfrm>
            <a:off x="548640" y="51755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97280" y="5129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97280" y="544982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262 households with battery, PV, EV commutes, heat pumps and boilers with real tank physics; each agent speaks the same protocol as the Cerbo</a:t>
            </a:r>
            <a:endParaRPr lang="en-US" sz="1150" dirty="0"/>
          </a:p>
        </p:txBody>
      </p:sp>
      <p:sp>
        <p:nvSpPr>
          <p:cNvPr id="30" name="dot"/>
          <p:cNvSpPr/>
          <p:nvPr/>
        </p:nvSpPr>
        <p:spPr>
          <a:xfrm>
            <a:off x="6217920" y="51755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0" y="5129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544982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Frozen as PROTOCOL.md with JSON Schemas for envelope, signal and ack; any vendor can implement the eight functions from it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Security of the control plane: the DSO can ask, it can never command</a:t>
            </a:r>
            <a:endParaRPr lang="en-US" sz="3200" dirty="0"/>
          </a:p>
        </p:txBody>
      </p:sp>
      <p:sp>
        <p:nvSpPr>
          <p:cNvPr id="3" name="sec Authenticity"/>
          <p:cNvSpPr/>
          <p:nvPr/>
        </p:nvSpPr>
        <p:spPr>
          <a:xfrm>
            <a:off x="548640" y="1463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1645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Authenticity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92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every signal, heartbeat and ack carries an Ed25519 signature; the device pins the platform key and signs with its own</a:t>
            </a:r>
            <a:endParaRPr lang="en-US" sz="1150" dirty="0"/>
          </a:p>
        </p:txBody>
      </p:sp>
      <p:sp>
        <p:nvSpPr>
          <p:cNvPr id="7" name="sec Replay"/>
          <p:cNvSpPr/>
          <p:nvPr/>
        </p:nvSpPr>
        <p:spPr>
          <a:xfrm>
            <a:off x="6217920" y="1463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6400800" y="1645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03720" y="1572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1892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monotonic sequence numbers persisted on the device, 120 s freshness, heartbeats with sequence and timestamp</a:t>
            </a:r>
            <a:endParaRPr lang="en-US" sz="1150" dirty="0"/>
          </a:p>
        </p:txBody>
      </p:sp>
      <p:sp>
        <p:nvSpPr>
          <p:cNvPr id="11" name="sec Bounded"/>
          <p:cNvSpPr/>
          <p:nvPr/>
        </p:nvSpPr>
        <p:spPr>
          <a:xfrm>
            <a:off x="548640" y="2606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t"/>
          <p:cNvSpPr/>
          <p:nvPr/>
        </p:nvSpPr>
        <p:spPr>
          <a:xfrm>
            <a:off x="731520" y="2788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34440" y="2715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35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limits, never setpoints; four-hour window enforced on the device itself; depth and rate capped by the guard</a:t>
            </a:r>
            <a:endParaRPr lang="en-US" sz="1150" dirty="0"/>
          </a:p>
        </p:txBody>
      </p:sp>
      <p:sp>
        <p:nvSpPr>
          <p:cNvPr id="15" name="sec Owner veto"/>
          <p:cNvSpPr/>
          <p:nvPr/>
        </p:nvSpPr>
        <p:spPr>
          <a:xfrm>
            <a:off x="6217920" y="2606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t"/>
          <p:cNvSpPr/>
          <p:nvPr/>
        </p:nvSpPr>
        <p:spPr>
          <a:xfrm>
            <a:off x="6400800" y="2788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2715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veto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3035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minimum SoC, max current, opt-out merged on the device; a compromised DSO key moves nothing past them</a:t>
            </a:r>
            <a:endParaRPr lang="en-US" sz="1150" dirty="0"/>
          </a:p>
        </p:txBody>
      </p:sp>
      <p:sp>
        <p:nvSpPr>
          <p:cNvPr id="19" name="sec Fail-safe"/>
          <p:cNvSpPr/>
          <p:nvPr/>
        </p:nvSpPr>
        <p:spPr>
          <a:xfrm>
            <a:off x="548640" y="3749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t"/>
          <p:cNvSpPr/>
          <p:nvPr/>
        </p:nvSpPr>
        <p:spPr>
          <a:xfrm>
            <a:off x="731520" y="3931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3444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Fail-safe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178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window end, heartbeat loss or RELEASE restore the owner's settings; a dead platform leaves every house in owner mode</a:t>
            </a:r>
            <a:endParaRPr lang="en-US" sz="1150" dirty="0"/>
          </a:p>
        </p:txBody>
      </p:sp>
      <p:sp>
        <p:nvSpPr>
          <p:cNvPr id="23" name="sec Transport"/>
          <p:cNvSpPr/>
          <p:nvPr/>
        </p:nvSpPr>
        <p:spPr>
          <a:xfrm>
            <a:off x="6217920" y="3749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t"/>
          <p:cNvSpPr/>
          <p:nvPr/>
        </p:nvSpPr>
        <p:spPr>
          <a:xfrm>
            <a:off x="6400800" y="3931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0372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4178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TLS with a real certificate, per-role credentials, topic ACLs; a device cannot publish a signal even if it tried</a:t>
            </a:r>
            <a:endParaRPr lang="en-US" sz="1150" dirty="0"/>
          </a:p>
        </p:txBody>
      </p:sp>
      <p:sp>
        <p:nvSpPr>
          <p:cNvPr id="27" name="open items"/>
          <p:cNvSpPr/>
          <p:nvPr/>
        </p:nvSpPr>
        <p:spPr>
          <a:xfrm>
            <a:off x="548640" y="502920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1D2127"/>
          </a:solidFill>
          <a:ln w="9525">
            <a:solidFill>
              <a:srgbClr val="C985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120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Named before you ask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Enrolment is open, any device id can register a key; production binds it to the meter point with a one-time code. The operator board has no login for the demo; production is SSO plus a two-person rule for feeder-level signals. Neither changes the protocol.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Any vendor, four lines each. Any household, paid on the meter</a:t>
            </a:r>
            <a:endParaRPr lang="en-US" sz="3200" dirty="0"/>
          </a:p>
        </p:txBody>
      </p:sp>
      <p:sp>
        <p:nvSpPr>
          <p:cNvPr id="3" name="vendors"/>
          <p:cNvSpPr/>
          <p:nvPr/>
        </p:nvSpPr>
        <p:spPr>
          <a:xfrm>
            <a:off x="548640" y="1463040"/>
            <a:ext cx="548640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Three paths to the same agent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5029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Vendor cloud: GoodWe SEMS, Huawei FusionSolar, SolarEdge, Tesla Fleet, SMA, Fronius. Export limit, discharge to cover load, forced discharge schedule, grid charge schedule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Local controller: Home Assistant, EVCC, OpenEMS, SunSpec Modbus. What the demo runs on Node-RED today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Standards gateway: EEBus LPC and LPP are literally our import and export caps; OpenADR 3, IEC 61850, OCPP 2.0.1 for chargers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GoodWe is one apply function away: the registers and the hardware are on the team</a:t>
            </a:r>
            <a:endParaRPr lang="en-US" sz="1300" dirty="0"/>
          </a:p>
        </p:txBody>
      </p:sp>
      <p:sp>
        <p:nvSpPr>
          <p:cNvPr id="6" name="incentives"/>
          <p:cNvSpPr/>
          <p:nvPr/>
        </p:nvSpPr>
        <p:spPr>
          <a:xfrm>
            <a:off x="6217920" y="1463040"/>
            <a:ext cx="5422392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Why a DSO pays and a household joins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057400"/>
            <a:ext cx="4983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Limits are verifiable, reductions are not: the DSO's own smart meter answers yes or no per 15-minute interval. No baseline to inflate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ack, no pay; compliance gates the perks; the DSO's existing disconnect is the backstop in a crisis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hook: a dynamic export limit beats today's static cap on all but a few afternoons, and gets a refused connection approved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Plus an availability fee, per-kWh payment for forced feed-in, a full battery before an outage, and a shorter shedding queue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Noon export is worthless when everyone exports; the same kilowatt-hours leave at six, paid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Production at a DSO: the effort, the cost, the saving</a:t>
            </a:r>
            <a:endParaRPr lang="en-US" sz="3200" dirty="0"/>
          </a:p>
        </p:txBody>
      </p:sp>
      <p:sp>
        <p:nvSpPr>
          <p:cNvPr id="3" name="effort"/>
          <p:cNvSpPr/>
          <p:nvPr/>
        </p:nvSpPr>
        <p:spPr>
          <a:xfrm>
            <a:off x="548640" y="1371600"/>
            <a:ext cx="3611880" cy="44805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EFFORT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3200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Protocol and agents are the small part; they exist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The DSO must add: enrolment bound to the meter point and operator login, a PKI with key rotation, settlement on meter data, the real network model feeding the tree and ratings, 24/7 operations, NIS2 and energy-law compliance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10-house pilot on one transformer: 3 months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A district of a few thousand homes: 12-18 months, 6-8 people, roughly 1.5-3 M€ including the security audit</a:t>
            </a:r>
            <a:endParaRPr lang="en-US" sz="1450" dirty="0"/>
          </a:p>
        </p:txBody>
      </p:sp>
      <p:sp>
        <p:nvSpPr>
          <p:cNvPr id="7" name="cost"/>
          <p:cNvSpPr/>
          <p:nvPr/>
        </p:nvSpPr>
        <p:spPr>
          <a:xfrm>
            <a:off x="4297680" y="1371600"/>
            <a:ext cx="3611880" cy="44805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448056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8348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1965960"/>
            <a:ext cx="3200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The platform is cheap: two servers and a broker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The real cost is the incentive: a flat 100-200 € per enrolled house per year, plus energy at crisis prices during STRETCH and SUPPORT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Paid only to houses whose meter proves they followed the signal. No enforcement, no payment, no saving</a:t>
            </a:r>
            <a:endParaRPr lang="en-US" sz="1450" dirty="0"/>
          </a:p>
        </p:txBody>
      </p:sp>
      <p:sp>
        <p:nvSpPr>
          <p:cNvPr id="11" name="saving"/>
          <p:cNvSpPr/>
          <p:nvPr/>
        </p:nvSpPr>
        <p:spPr>
          <a:xfrm>
            <a:off x="8046720" y="1371600"/>
            <a:ext cx="3611880" cy="44805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t"/>
          <p:cNvSpPr/>
          <p:nvPr/>
        </p:nvSpPr>
        <p:spPr>
          <a:xfrm>
            <a:off x="822960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1965960"/>
            <a:ext cx="3200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Street transformer upgrade 50-150 k€, feeder reinforcement hundreds of k€, a substation tens of M€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Every street held at ~70 % at the evening peak defers the reinforcement the EV and heat-pump wave otherwise forces this decade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Vienna scale: hundreds of M€ of capex deferred against a few M€ a year of incentives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Plus the only tool a DSO has during an outage: STRETCH rations the batteries of a dark street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A pilot street, a second vendor, a DSO that wants the signal</a:t>
            </a:r>
            <a:endParaRPr lang="en-US" sz="5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Enrolment bound to the meter point and operator login, two weeks. GoodWe agent on our own plant, one week.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A ten-house pilot with a Slovak or Austrian DSO on one real transformer, this winter.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github.com/mathewstars/Gridzilla  ·  gridzilla.victronlab.sk  ·  protocol, platform, agents and this deck are in the repo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idzilla">
  <a:themeElements>
    <a:clrScheme name="Gridzilla">
      <a:dk1>
        <a:srgbClr val="E8E6E0"/>
      </a:dk1>
      <a:lt1>
        <a:srgbClr val="15181C"/>
      </a:lt1>
      <a:dk2>
        <a:srgbClr val="A2A9B3"/>
      </a:dk2>
      <a:lt2>
        <a:srgbClr val="1D2127"/>
      </a:lt2>
      <a:accent1>
        <a:srgbClr val="E8893A"/>
      </a:accent1>
      <a:accent2>
        <a:srgbClr val="3987E5"/>
      </a:accent2>
      <a:accent3>
        <a:srgbClr val="5FC48A"/>
      </a:accent3>
      <a:accent4>
        <a:srgbClr val="E66767"/>
      </a:accent4>
      <a:accent5>
        <a:srgbClr val="D55181"/>
      </a:accent5>
      <a:accent6>
        <a:srgbClr val="C98500"/>
      </a:accent6>
      <a:hlink>
        <a:srgbClr val="3987E5"/>
      </a:hlink>
      <a:folHlink>
        <a:srgbClr val="A2A9B3"/>
      </a:folHlink>
    </a:clrScheme>
    <a:fontScheme name="Gridzill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Gridzilla</dc:title>
  <dc:subject>PptxGenJS Presentation</dc:subject>
  <dc:creator>Mathew, Peter, Matthew</dc:creator>
  <cp:lastModifiedBy>Mathew, Peter, Matthew</cp:lastModifiedBy>
  <cp:revision>1</cp:revision>
  <dcterms:created xsi:type="dcterms:W3CDTF">2026-10-24T12:31:05Z</dcterms:created>
  <dcterms:modified xsi:type="dcterms:W3CDTF">2026-10-24T12:31:05Z</dcterms:modified>
</cp:coreProperties>
</file>