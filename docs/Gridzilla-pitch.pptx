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34f85c-f273-682d-386b-02c8bcbcf93c}">
          <p14:sldIdLst>
            <p14:sldId id="256"/>
          </p14:sldIdLst>
        </p14:section>
        <p14:section name="Why" id="{cf4da425-a9bd-a1e2-e3bb-ca1d94f7e572}">
          <p14:sldIdLst>
            <p14:sldId id="257"/>
          </p14:sldIdLst>
        </p14:section>
        <p14:section name="What" id="{24c9b102-67ff-d5b2-7112-9ebf7ea69a62}">
          <p14:sldIdLst>
            <p14:sldId id="258"/>
          </p14:sldIdLst>
        </p14:section>
        <p14:section name="Demo" id="{c2439ae7-cc02-40a7-8bf1-37e5e18f443b}">
          <p14:sldIdLst>
            <p14:sldId id="260"/>
          </p14:sldIdLst>
        </p14:section>
        <p14:section name="Close" id="{c697aafd-1a08-73e9-8f15-0ea644e30130}">
          <p14:sldIdLst>
            <p14:sldId id="262"/>
          </p14:sldIdLst>
        </p14:section>
        <p14:section name="Appendix" id="{db3292ef-8a0d-4ad9-fe31-08eec94bc054}">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let it land. After the hard cut, one line, deadpan: Now you probably wonder what the monster really is. Then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0:30-1:00. Three numbers, then the three failure modes. The point: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1:00-1:45. Walk the chain left to right. Stress: limits not setpoints, owner wins, device enforces time bounds itself, settlement on the 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Gridzilla eats peaks. Every street, every evening. At six the cars come home and the transformer would go to a hundred and ten percent. With Gridzilla it stays at seventy. The cars still charge, just not all at dinner: a car plugged in at six trickles through the evening and fills up at two in the morning, full by seven. The batteries eat the dinner spike. The sun at noon goes into the batteries instead of the feeder. Nobody at home notices. And the operator never buys that bigger transformer. Planned every two hours from the real weather forecast, for the whole city, by thirty lines of code, not by the AI. If asked how: valley filling, the textbook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2:30-4:00. Alt-tab: deck, Gridzilla board, VRM. Pin Blatnica before the SUPPORT step so the curve stays on our transformer. VRM is the independent witness: Victron's own portal showing the setpoint change. If the venue network dies, show the recorded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Say it before the jury asks: the signal path and the algorithm are real, the fleet is simulated, and the counterfactual is honest: same cars, same batteries, realistic charging coincidence. The street numbers sit inside published pilots; the city number is that times 2,184 enrolled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The ask is a transformer to pilot on. Stop talking,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DSO's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A signed, bounded grid signal for home batteries, cars and heat pumps,</a:t>
            </a:r>
            <a:endParaRPr lang="en-US" sz="2200" dirty="0"/>
          </a:p>
          <a:p>
            <a:pPr algn="l" indent="0" marL="0">
              <a:buNone/>
            </a:pPr>
            <a:r>
              <a:rPr lang="en-US" sz="2200" dirty="0">
                <a:solidFill>
                  <a:schemeClr val="tx2"/>
                </a:solidFill>
              </a:rPr>
              <a:t>with DeepSeek running the grid and a real plant in Blatnica following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fleet is in people's basements. The grid cannot use one of them</a:t>
            </a:r>
            <a:endParaRPr lang="en-US" sz="3200" dirty="0"/>
          </a:p>
        </p:txBody>
      </p:sp>
      <p:sp>
        <p:nvSpPr>
          <p:cNvPr id="3" name="stat DSO-level signals to home storage in Slovakia. The only flexibility pilot served the TSO, not the street transformer"/>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DSO-level signals to home storage in Slovakia. The only flexibility pilot served the TSO, not the street transformer</a:t>
            </a:r>
            <a:endParaRPr lang="en-US" sz="1200" dirty="0"/>
          </a:p>
        </p:txBody>
      </p:sp>
      <p:sp>
        <p:nvSpPr>
          <p:cNvPr id="6" name="stat The best case, Germany's §14a: a dimmer for new device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The best case, Germany's §14a: a dimmer for new devices, charging only, used in under 1 % of hours</a:t>
            </a:r>
            <a:endParaRPr lang="en-US" sz="1200" dirty="0"/>
          </a:p>
        </p:txBody>
      </p:sp>
      <p:sp>
        <p:nvSpPr>
          <p:cNvPr id="9" name="stat Home batteries installed in Ukraine in 2025 alone. People charge by hand before the published outage queu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Home batteries installed in Ukraine in 2025 alone. People charge by hand before the published outage queue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Evening peaks: heat pumps and EV chargers push street transformers past rating; the DSO's only tools are curtailment or copper</a:t>
            </a:r>
            <a:endParaRPr lang="en-US" sz="1500" dirty="0"/>
          </a:p>
          <a:p>
            <a:pPr marL="342900" indent="-342900">
              <a:spcAft>
                <a:spcPts val="600"/>
              </a:spcAft>
              <a:buSzPct val="100000"/>
              <a:buChar char="•"/>
            </a:pPr>
            <a:r>
              <a:rPr lang="en-US" sz="1500" dirty="0">
                <a:solidFill>
                  <a:schemeClr val="tx1"/>
                </a:solidFill>
              </a:rPr>
              <a:t>PV noon: everyone exports at once, the feeder voltage rises, new connections get refused or capped for the whole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through</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bounded signal from the DSO to every house, on whatever path the vendor likes</a:t>
            </a:r>
            <a:endParaRPr lang="en-US" sz="3200" dirty="0"/>
          </a:p>
        </p:txBody>
      </p:sp>
      <p:sp>
        <p:nvSpPr>
          <p:cNvPr id="3" name="chain DSO"/>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DSO</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transformer or feeder heading past rating</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policy guard, Ed25519 signature, one topic per grid segment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BROKER"/>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BROKER</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MQTT over TLS, delivery only, no authority</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3"/>
          </a:solidFill>
          <a:ln w="12700">
            <a:solidFill>
              <a:schemeClr val="accent3"/>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verifies, merges with the owner's limits, applies, acks</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EV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5"/>
          </a:solidFill>
          <a:ln w="12700">
            <a:solidFill>
              <a:schemeClr val="accent5"/>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EV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at the meter, never a setpoint</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signal names a limit at the grid connection point: import ceiling, export ceiling, export floor, target SoC. It never names a device or a register</a:t>
            </a:r>
            <a:endParaRPr lang="en-US" sz="1500" dirty="0"/>
          </a:p>
          <a:p>
            <a:pPr marL="342900" indent="-342900">
              <a:spcAft>
                <a:spcPts val="600"/>
              </a:spcAft>
              <a:buSzPct val="100000"/>
              <a:buChar char="•"/>
            </a:pPr>
            <a:r>
              <a:rPr lang="en-US" sz="1500" dirty="0">
                <a:solidFill>
                  <a:schemeClr val="tx1"/>
                </a:solidFill>
              </a:rPr>
              <a:t>The owner's limits always win: minimum SoC, max current, opt-out. The house may answer partial or refused</a:t>
            </a:r>
            <a:endParaRPr lang="en-US" sz="1500" dirty="0"/>
          </a:p>
          <a:p>
            <a:pPr marL="342900" indent="-342900">
              <a:spcAft>
                <a:spcPts val="600"/>
              </a:spcAft>
              <a:buSzPct val="100000"/>
              <a:buChar char="•"/>
            </a:pPr>
            <a:r>
              <a:rPr lang="en-US" sz="1500" dirty="0">
                <a:solidFill>
                  <a:schemeClr val="tx1"/>
                </a:solidFill>
              </a:rPr>
              <a:t>Four-hour maximum, enforced on the platform and again on the device; revert on window end or 120 s without heartbeat</a:t>
            </a:r>
            <a:endParaRPr lang="en-US" sz="1500" dirty="0"/>
          </a:p>
          <a:p>
            <a:pPr marL="342900" indent="-342900">
              <a:spcAft>
                <a:spcPts val="600"/>
              </a:spcAft>
              <a:buSzPct val="100000"/>
              <a:buChar char="•"/>
            </a:pPr>
            <a:r>
              <a:rPr lang="en-US" sz="1500" dirty="0">
                <a:solidFill>
                  <a:schemeClr val="tx1"/>
                </a:solidFill>
              </a:rPr>
              <a:t>Pay on the meter: limits are a yes or no per 15-minute interval on the DSO's own smart meter, so there is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Ninety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transformers, 272 households live, one of them real; the with/without curve</a:t>
            </a:r>
            <a:endParaRPr lang="en-US" sz="1250" dirty="0"/>
          </a:p>
          <a:p>
            <a:pPr marL="342900" indent="-342900">
              <a:spcAft>
                <a:spcPts val="600"/>
              </a:spcAft>
              <a:buSzPct val="100000"/>
              <a:buChar char="•"/>
            </a:pPr>
            <a:r>
              <a:rPr lang="en-US" sz="1250" dirty="0">
                <a:solidFill>
                  <a:schemeClr val="tx1"/>
                </a:solidFill>
              </a:rPr>
              <a:t>Board: the last DeepSeek decision: sense, decide, guard, signed signal</a:t>
            </a:r>
            <a:endParaRPr lang="en-US" sz="1250" dirty="0"/>
          </a:p>
          <a:p>
            <a:pPr marL="342900" indent="-342900">
              <a:spcAft>
                <a:spcPts val="600"/>
              </a:spcAft>
              <a:buSzPct val="100000"/>
              <a:buChar char="•"/>
            </a:pPr>
            <a:r>
              <a:rPr lang="en-US" sz="1250" dirty="0">
                <a:solidFill>
                  <a:schemeClr val="tx1"/>
                </a:solidFill>
              </a:rPr>
              <a:t>Board, Flattening tab: tonight's diet plan, Vienna then one street</a:t>
            </a:r>
            <a:endParaRPr lang="en-US" sz="1250" dirty="0"/>
          </a:p>
          <a:p>
            <a:pPr marL="342900" indent="-342900">
              <a:spcAft>
                <a:spcPts val="600"/>
              </a:spcAft>
              <a:buSzPct val="100000"/>
              <a:buChar char="•"/>
            </a:pPr>
            <a:r>
              <a:rPr lang="en-US" sz="1250" dirty="0">
                <a:solidFill>
                  <a:schemeClr val="tx1"/>
                </a:solidFill>
              </a:rPr>
              <a:t>Board, pin Blatnica: the real plant live, last ack verified</a:t>
            </a:r>
            <a:endParaRPr lang="en-US" sz="1250" dirty="0"/>
          </a:p>
          <a:p>
            <a:pPr marL="342900" indent="-342900">
              <a:spcAft>
                <a:spcPts val="600"/>
              </a:spcAft>
              <a:buSzPct val="100000"/>
              <a:buChar char="•"/>
            </a:pPr>
            <a:r>
              <a:rPr lang="en-US" sz="1250" dirty="0">
                <a:solidFill>
                  <a:schemeClr val="tx1"/>
                </a:solidFill>
              </a:rPr>
              <a:t>Board: pause the heartbeat, every house reverts</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modelled,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control path: signed signal in, a Victron plant and a Viessmann heat pump move, verified acks come back</a:t>
            </a:r>
            <a:endParaRPr lang="en-US" sz="1250" dirty="0"/>
          </a:p>
          <a:p>
            <a:pPr marL="342900" indent="-342900">
              <a:spcAft>
                <a:spcPts val="600"/>
              </a:spcAft>
              <a:buSzPct val="100000"/>
              <a:buChar char="•"/>
            </a:pPr>
            <a:r>
              <a:rPr lang="en-US" sz="1250" dirty="0">
                <a:solidFill>
                  <a:schemeClr val="tx1"/>
                </a:solidFill>
              </a:rPr>
              <a:t>The flattening algorithm and the guard, running on the fleet every two grid hours</a:t>
            </a:r>
            <a:endParaRPr lang="en-US" sz="1250" dirty="0"/>
          </a:p>
          <a:p>
            <a:pPr marL="342900" indent="-342900">
              <a:spcAft>
                <a:spcPts val="600"/>
              </a:spcAft>
              <a:buSzPct val="100000"/>
              <a:buChar char="•"/>
            </a:pPr>
            <a:r>
              <a:rPr lang="en-US" sz="1250" dirty="0">
                <a:solidFill>
                  <a:schemeClr val="tx1"/>
                </a:solidFill>
              </a:rPr>
              <a:t>Measured on streets with cars: 18-31 % off the evening peak, inside what published smart-charging and home-battery pilots report (3-6 kW per EV house, 1-2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MODELLED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program houses with 10-25 kWh batteries, 1,190 with an 11 kW charger needing 6-26 kWh a night</a:t>
            </a:r>
            <a:endParaRPr lang="en-US" sz="1250" dirty="0"/>
          </a:p>
          <a:p>
            <a:pPr marL="342900" indent="-342900">
              <a:spcAft>
                <a:spcPts val="600"/>
              </a:spcAft>
              <a:buSzPct val="100000"/>
              <a:buChar char="•"/>
            </a:pPr>
            <a:r>
              <a:rPr lang="en-US" sz="1250" dirty="0">
                <a:solidFill>
                  <a:schemeClr val="tx1"/>
                </a:solidFill>
              </a:rPr>
              <a:t>The "without" curve is the same houses with no signal: a car charges on 55 % of nights, arrivals spread over three hours, full power until full. No inflated coincidence</a:t>
            </a:r>
            <a:endParaRPr lang="en-US" sz="1250" dirty="0"/>
          </a:p>
          <a:p>
            <a:pPr marL="342900" indent="-342900">
              <a:spcAft>
                <a:spcPts val="600"/>
              </a:spcAft>
              <a:buSzPct val="100000"/>
              <a:buChar char="•"/>
            </a:pPr>
            <a:r>
              <a:rPr lang="en-US" sz="1250" dirty="0">
                <a:solidFill>
                  <a:schemeClr val="tx1"/>
                </a:solidFill>
              </a:rPr>
              <a:t>Program houses carry ~30 % of a street's evening load here: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vendor, a DSO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Enrolment bound to the meter point and operator login, two weeks. GoodWe agent on our own plant, one week.</a:t>
            </a:r>
            <a:endParaRPr lang="en-US" sz="2200" dirty="0"/>
          </a:p>
          <a:p>
            <a:pPr algn="l" indent="0" marL="0">
              <a:buNone/>
            </a:pPr>
            <a:r>
              <a:rPr lang="en-US" sz="2200" dirty="0">
                <a:solidFill>
                  <a:schemeClr val="tx2"/>
                </a:solidFill>
              </a:rPr>
              <a:t>A ten-house pilot with a Slovak or Austrian DSO on one real transformer, this winter.</a:t>
            </a:r>
            <a:endParaRPr lang="en-US" sz="2200" dirty="0"/>
          </a:p>
          <a:p>
            <a:pPr algn="l" indent="0" marL="0">
              <a:buNone/>
            </a:pPr>
            <a:r>
              <a:rPr lang="en-US" sz="2200" dirty="0">
                <a:solidFill>
                  <a:schemeClr val="tx2"/>
                </a:solidFill>
              </a:rPr>
              <a:t>The vision: streets that island on grid-forming inverters when the 22 kV line is gone, rationed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2026-10-24T13:32:04Z</dcterms:created>
  <dcterms:modified xsi:type="dcterms:W3CDTF">2026-10-24T13:32:04Z</dcterms:modified>
</cp:coreProperties>
</file>