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4a" ContentType="audio/m4a"/>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e32acb-6e92-e9dd-3123-31c7c5f0f8f4}">
          <p14:sldIdLst>
            <p14:sldId id="256"/>
          </p14:sldIdLst>
        </p14:section>
        <p14:section name="Why" id="{cfbcf059-7153-4ae9-cbec-aeca2701738a}">
          <p14:sldIdLst>
            <p14:sldId id="257"/>
          </p14:sldIdLst>
        </p14:section>
        <p14:section name="What" id="{7d4eff71-f409-90bd-0e83-238341001379}">
          <p14:sldIdLst>
            <p14:sldId id="258"/>
            <p14:sldId id="259"/>
            <p14:sldId id="260"/>
          </p14:sldIdLst>
        </p14:section>
        <p14:section name="How" id="{bc818aa4-ac35-0c19-e8d2-bcd9af05edff}">
          <p14:sldIdLst>
            <p14:sldId id="261"/>
            <p14:sldId id="262"/>
            <p14:sldId id="263"/>
          </p14:sldIdLst>
        </p14:section>
        <p14:section name="Demo" id="{90f1751d-d857-b837-a547-920affaec584}">
          <p14:sldIdLst>
            <p14:sldId id="264"/>
          </p14:sldIdLst>
        </p14:section>
        <p14:section name="Built" id="{9bb52fb5-59f4-d4f3-4328-0b82ca5f3270}">
          <p14:sldIdLst>
            <p14:sldId id="265"/>
            <p14:sldId id="266"/>
            <p14:sldId id="267"/>
          </p14:sldIdLst>
        </p14:section>
        <p14:section name="Close" id="{b3e6c8ec-d7c3-b2a3-0b9f-8967573cee34}">
          <p14:sldIdLst>
            <p14:sldId id="268"/>
          </p14:sldIdLst>
        </p14:section>
        <p14:section name="Appendix" id="{6bad8b19-0d90-70f0-9bce-39546c27978c}">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Click the speaker icon top right the moment the slide is up: 30 seconds of trailer, say nothing, let it land. Then One sentence: a DSO signal that home batteries, cars and heat pumps follow, signed, bounded, with the owner always in control. Say what is real: a Victron plant and a Viessmann heat pump in Blatnica are on the board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0:45-1:45. Three numbers, then the three failure modes. The point: the storage exists, the signal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Walk the chain left to right. Stress: limits not setpoints, owner wins, device enforces time bounds itself, settlement on the 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Do not read all six. Point at SUPPORT and ABSORB, the everyday ones, PREPARE and RECOVER, the crisis ones, and name STRETCH as the vision: a street that keeps its lights on from its own basements needs grid-forming inverters, which are arriving. The protocol already has the signal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3:00-3:30. The vendor only owns step five. Everything else is identical on the Victron, on the ViCare cloud agent and on the 270 simulated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3:30-4:15. AI proposes, guard disposes. Say it twice. Then: why the guard is not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4:15-5:15. Monster talk: Gridzilla eats peaks, but it is on a diet: it eats exactly the slice above L and not a watt more. A car plugged in at 18:00 trickles through dinner and gulps at 02:00. A battery swallows the peak and burps it back into the house. At noon it drinks the PV surplus. Nobody notices; the transformer sleeps at 70 instead of 110 percent. Then the algorithm in one breath: forecast what nobody controls, count the flexible energy, water-fill, send the ceilings. DeepSeek sits on top for what the plan cannot see: a cold snap, an outage, backflow.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5:15-6:00. Say it before the jury asks: the signal path and the algorithm are real, the fleet is simulated, and the counterfactual is honest: same cars, same batteries, realistic charging coincidence. The street numbers sit inside published pilots; the city number is that times 2,184 enrolled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6:00-9:15. Alt-tab: deck, Gridzilla board, VRM. Pin Blatnica before the SUPPORT step so the curve stays on our transformer. VRM is the independent witness: Victron's own portal showing the setpoint change. If the venue network dies, show the recorded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9:15-9:45. The point of this slide is credibility: nothing is a mock-up. Name the two real devices and the public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9:45-10:30. Left: vendor independence is proven by the simulators, which run no Victron code. Right: the economics in two sentences, pay on the meter and the dynamic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10:30-11:15. Our numbers, not a quote. The point is the shape: small platform, incentive is the real opex, capex deferral is the saving, and enforcement on the meter is what makes the saving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11:15-12:00. The ask is a transformer to pilot on. Stop talking,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Grey is what the same houses would have drawn, blue is what they drew, red is the transformer. The gap is the product. Real numbers from the running system, 8 houses per simulated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the security slide. Six controls, then the two gaps yourself. A juror who finds a gap you named is on your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518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548640" y="3703320"/>
            <a:ext cx="11091672" cy="109728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518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Gridzilla · Energy Bridge Critical Infrastructure Hackathon · Vienna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media/media-1-1.m4a"/><Relationship Id="rId2" Type="http://schemas.microsoft.com/office/2007/relationships/media" Target="../media/media-1-1.m4a"/><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t"/>
          <p:cNvSpPr/>
          <p:nvPr/>
        </p:nvSpPr>
        <p:spPr>
          <a:xfrm>
            <a:off x="548640" y="1417320"/>
            <a:ext cx="384048" cy="384048"/>
          </a:xfrm>
          <a:prstGeom prst="ellipse">
            <a:avLst/>
          </a:prstGeom>
          <a:solidFill>
            <a:schemeClr val="accent1"/>
          </a:solidFill>
          <a:ln w="12700">
            <a:solidFill>
              <a:schemeClr val="accent1"/>
            </a:solidFill>
            <a:prstDash val="solid"/>
          </a:ln>
        </p:spPr>
      </p:sp>
      <p:sp>
        <p:nvSpPr>
          <p:cNvPr id="3" name="Text 1"/>
          <p:cNvSpPr txBox="1"/>
          <p:nvPr/>
        </p:nvSpPr>
        <p:spPr>
          <a:xfrm>
            <a:off x="1097280" y="1371600"/>
            <a:ext cx="548640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GRIDZILLA</a:t>
            </a:r>
            <a:endParaRPr lang="en-US" sz="2000" dirty="0"/>
          </a:p>
        </p:txBody>
      </p:sp>
      <p:sp>
        <p:nvSpPr>
          <p:cNvPr id="4"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5400" b="1" dirty="0">
                <a:solidFill>
                  <a:schemeClr val="tx1"/>
                </a:solidFill>
              </a:rPr>
              <a:t>The DSO's monster. Every house keeps it on a leash.</a:t>
            </a:r>
            <a:endParaRPr lang="en-US" sz="5400" dirty="0"/>
          </a:p>
        </p:txBody>
      </p:sp>
      <p:sp>
        <p:nvSpPr>
          <p:cNvPr id="5" name="Text 0"/>
          <p:cNvSpPr/>
          <p:nvPr>
            <p:ph idx="101" type="body" hasCustomPrompt="1"/>
          </p:nvPr>
        </p:nvSpPr>
        <p:spPr>
          <a:xfrm>
            <a:off x="548640" y="3703320"/>
            <a:ext cx="11091672" cy="1097280"/>
          </a:xfrm>
          <a:prstGeom prst="rect">
            <a:avLst/>
          </a:prstGeom>
          <a:noFill/>
          <a:ln/>
        </p:spPr>
        <p:txBody>
          <a:bodyPr wrap="square" lIns="0" tIns="0" rIns="0" bIns="0" rtlCol="0" anchor="t"/>
          <a:lstStyle/>
          <a:p>
            <a:pPr algn="l" indent="0" marL="0">
              <a:buNone/>
            </a:pPr>
            <a:r>
              <a:rPr lang="en-US" sz="2200" dirty="0">
                <a:solidFill>
                  <a:schemeClr val="tx2"/>
                </a:solidFill>
              </a:rPr>
              <a:t>A signed, bounded grid signal for home batteries, cars and heat pumps,</a:t>
            </a:r>
            <a:endParaRPr lang="en-US" sz="2200" dirty="0"/>
          </a:p>
          <a:p>
            <a:pPr algn="l" indent="0" marL="0">
              <a:buNone/>
            </a:pPr>
            <a:r>
              <a:rPr lang="en-US" sz="2200" dirty="0">
                <a:solidFill>
                  <a:schemeClr val="tx2"/>
                </a:solidFill>
              </a:rPr>
              <a:t>with DeepSeek running the grid and a real plant in Blatnica following it live.</a:t>
            </a:r>
            <a:endParaRPr lang="en-US" sz="2200" dirty="0"/>
          </a:p>
        </p:txBody>
      </p:sp>
      <p:sp>
        <p:nvSpPr>
          <p:cNvPr id="6" name="Text 4"/>
          <p:cNvSpPr txBox="1"/>
          <p:nvPr/>
        </p:nvSpPr>
        <p:spPr>
          <a:xfrm>
            <a:off x="548640" y="6035040"/>
            <a:ext cx="11091672" cy="365760"/>
          </a:xfrm>
          <a:prstGeom prst="rect">
            <a:avLst/>
          </a:prstGeom>
          <a:noFill/>
          <a:ln/>
        </p:spPr>
        <p:txBody>
          <a:bodyPr wrap="square" lIns="0" tIns="0" rIns="0" bIns="0" rtlCol="0" anchor="t"/>
          <a:lstStyle/>
          <a:p>
            <a:pPr indent="0" marL="0">
              <a:buNone/>
            </a:pPr>
            <a:r>
              <a:rPr lang="en-US" sz="1200" dirty="0">
                <a:solidFill>
                  <a:schemeClr val="tx2"/>
                </a:solidFill>
              </a:rPr>
              <a:t>Mathew Stafurik · Peter Mikeška · Matthew  ·  Grid-Serving Storage track  ·  github.com/mathewstars/Gridzilla  ·  gridzilla.victronlab.sk</a:t>
            </a:r>
            <a:endParaRPr lang="en-US" sz="1200" dirty="0"/>
          </a:p>
        </p:txBody>
      </p:sp>
      <p:pic>
        <p:nvPicPr>
          <p:cNvPr id="3" name="Gridzilla jingle">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000232" y="36576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Europe's largest battery fleet is in people's basements. The grid cannot use one of them</a:t>
            </a:r>
            <a:endParaRPr lang="en-US" sz="3200" dirty="0"/>
          </a:p>
        </p:txBody>
      </p:sp>
      <p:sp>
        <p:nvSpPr>
          <p:cNvPr id="3" name="stat DSO-level signals to home storage in Slovakia. The only flexibility pilot served the TSO, not the street transformer"/>
          <p:cNvSpPr/>
          <p:nvPr/>
        </p:nvSpPr>
        <p:spPr>
          <a:xfrm>
            <a:off x="548640" y="1554480"/>
            <a:ext cx="3566160" cy="1417320"/>
          </a:xfrm>
          <a:prstGeom prst="roundRect">
            <a:avLst>
              <a:gd name="adj" fmla="val 5161"/>
            </a:avLst>
          </a:prstGeom>
          <a:solidFill>
            <a:schemeClr val="bg2"/>
          </a:solidFill>
          <a:ln w="9525">
            <a:solidFill>
              <a:schemeClr val="bg2"/>
            </a:solidFill>
            <a:prstDash val="solid"/>
          </a:ln>
        </p:spPr>
      </p:sp>
      <p:sp>
        <p:nvSpPr>
          <p:cNvPr id="4" name="Text 2"/>
          <p:cNvSpPr txBox="1"/>
          <p:nvPr/>
        </p:nvSpPr>
        <p:spPr>
          <a:xfrm>
            <a:off x="777240" y="1719072"/>
            <a:ext cx="3108960" cy="731520"/>
          </a:xfrm>
          <a:prstGeom prst="rect">
            <a:avLst/>
          </a:prstGeom>
          <a:noFill/>
          <a:ln/>
        </p:spPr>
        <p:txBody>
          <a:bodyPr wrap="square" lIns="0" tIns="0" rIns="0" bIns="0" rtlCol="0" anchor="t"/>
          <a:lstStyle/>
          <a:p>
            <a:pPr indent="0" marL="0">
              <a:buNone/>
            </a:pPr>
            <a:r>
              <a:rPr lang="en-US" sz="3600" b="1" dirty="0">
                <a:solidFill>
                  <a:schemeClr val="accent4"/>
                </a:solidFill>
                <a:latin typeface="Arial" pitchFamily="34" charset="0"/>
                <a:ea typeface="Arial" pitchFamily="34" charset="-122"/>
                <a:cs typeface="Arial" pitchFamily="34" charset="-120"/>
              </a:rPr>
              <a:t>0</a:t>
            </a:r>
            <a:endParaRPr lang="en-US" sz="3600" dirty="0"/>
          </a:p>
        </p:txBody>
      </p:sp>
      <p:sp>
        <p:nvSpPr>
          <p:cNvPr id="5" name="Text 3"/>
          <p:cNvSpPr txBox="1"/>
          <p:nvPr/>
        </p:nvSpPr>
        <p:spPr>
          <a:xfrm>
            <a:off x="777240" y="2450592"/>
            <a:ext cx="3108960" cy="457200"/>
          </a:xfrm>
          <a:prstGeom prst="rect">
            <a:avLst/>
          </a:prstGeom>
          <a:noFill/>
          <a:ln/>
        </p:spPr>
        <p:txBody>
          <a:bodyPr wrap="square" lIns="0" tIns="0" rIns="0" bIns="0" rtlCol="0" anchor="t"/>
          <a:lstStyle/>
          <a:p>
            <a:pPr indent="0" marL="0">
              <a:buNone/>
            </a:pPr>
            <a:r>
              <a:rPr lang="en-US" sz="1200" dirty="0">
                <a:solidFill>
                  <a:schemeClr val="tx2"/>
                </a:solidFill>
              </a:rPr>
              <a:t>DSO-level signals to home storage in Slovakia. The only flexibility pilot served the TSO, not the street transformer</a:t>
            </a:r>
            <a:endParaRPr lang="en-US" sz="1200" dirty="0"/>
          </a:p>
        </p:txBody>
      </p:sp>
      <p:sp>
        <p:nvSpPr>
          <p:cNvPr id="6" name="stat The best case, Germany's §14a: a dimmer for new devices, charging only, used in under 1 % of hours"/>
          <p:cNvSpPr/>
          <p:nvPr/>
        </p:nvSpPr>
        <p:spPr>
          <a:xfrm>
            <a:off x="4297680" y="1554480"/>
            <a:ext cx="3566160" cy="1417320"/>
          </a:xfrm>
          <a:prstGeom prst="roundRect">
            <a:avLst>
              <a:gd name="adj" fmla="val 5161"/>
            </a:avLst>
          </a:prstGeom>
          <a:solidFill>
            <a:schemeClr val="bg2"/>
          </a:solidFill>
          <a:ln w="9525">
            <a:solidFill>
              <a:schemeClr val="bg2"/>
            </a:solidFill>
            <a:prstDash val="solid"/>
          </a:ln>
        </p:spPr>
      </p:sp>
      <p:sp>
        <p:nvSpPr>
          <p:cNvPr id="7" name="Text 5"/>
          <p:cNvSpPr txBox="1"/>
          <p:nvPr/>
        </p:nvSpPr>
        <p:spPr>
          <a:xfrm>
            <a:off x="4526280" y="1719072"/>
            <a:ext cx="3108960" cy="731520"/>
          </a:xfrm>
          <a:prstGeom prst="rect">
            <a:avLst/>
          </a:prstGeom>
          <a:noFill/>
          <a:ln/>
        </p:spPr>
        <p:txBody>
          <a:bodyPr wrap="square" lIns="0" tIns="0" rIns="0" bIns="0" rtlCol="0" anchor="t"/>
          <a:lstStyle/>
          <a:p>
            <a:pPr indent="0" marL="0">
              <a:buNone/>
            </a:pPr>
            <a:r>
              <a:rPr lang="en-US" sz="3600" b="1" dirty="0">
                <a:solidFill>
                  <a:schemeClr val="accent6"/>
                </a:solidFill>
                <a:latin typeface="Arial" pitchFamily="34" charset="0"/>
                <a:ea typeface="Arial" pitchFamily="34" charset="-122"/>
                <a:cs typeface="Arial" pitchFamily="34" charset="-120"/>
              </a:rPr>
              <a:t>4.2 kW</a:t>
            </a:r>
            <a:endParaRPr lang="en-US" sz="3600" dirty="0"/>
          </a:p>
        </p:txBody>
      </p:sp>
      <p:sp>
        <p:nvSpPr>
          <p:cNvPr id="8" name="Text 6"/>
          <p:cNvSpPr txBox="1"/>
          <p:nvPr/>
        </p:nvSpPr>
        <p:spPr>
          <a:xfrm>
            <a:off x="4526280" y="2450592"/>
            <a:ext cx="3108960" cy="457200"/>
          </a:xfrm>
          <a:prstGeom prst="rect">
            <a:avLst/>
          </a:prstGeom>
          <a:noFill/>
          <a:ln/>
        </p:spPr>
        <p:txBody>
          <a:bodyPr wrap="square" lIns="0" tIns="0" rIns="0" bIns="0" rtlCol="0" anchor="t"/>
          <a:lstStyle/>
          <a:p>
            <a:pPr indent="0" marL="0">
              <a:buNone/>
            </a:pPr>
            <a:r>
              <a:rPr lang="en-US" sz="1200" dirty="0">
                <a:solidFill>
                  <a:schemeClr val="tx2"/>
                </a:solidFill>
              </a:rPr>
              <a:t>The best case, Germany's §14a: a dimmer for new devices, charging only, used in under 1 % of hours</a:t>
            </a:r>
            <a:endParaRPr lang="en-US" sz="1200" dirty="0"/>
          </a:p>
        </p:txBody>
      </p:sp>
      <p:sp>
        <p:nvSpPr>
          <p:cNvPr id="9" name="stat Home batteries installed in Ukraine in 2025 alone. People charge by hand before the published outage queue"/>
          <p:cNvSpPr/>
          <p:nvPr/>
        </p:nvSpPr>
        <p:spPr>
          <a:xfrm>
            <a:off x="8046720" y="1554480"/>
            <a:ext cx="3566160" cy="1417320"/>
          </a:xfrm>
          <a:prstGeom prst="roundRect">
            <a:avLst>
              <a:gd name="adj" fmla="val 5161"/>
            </a:avLst>
          </a:prstGeom>
          <a:solidFill>
            <a:schemeClr val="bg2"/>
          </a:solidFill>
          <a:ln w="9525">
            <a:solidFill>
              <a:schemeClr val="bg2"/>
            </a:solidFill>
            <a:prstDash val="solid"/>
          </a:ln>
        </p:spPr>
      </p:sp>
      <p:sp>
        <p:nvSpPr>
          <p:cNvPr id="10" name="Text 8"/>
          <p:cNvSpPr txBox="1"/>
          <p:nvPr/>
        </p:nvSpPr>
        <p:spPr>
          <a:xfrm>
            <a:off x="8275320" y="1719072"/>
            <a:ext cx="310896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3 GWh</a:t>
            </a:r>
            <a:endParaRPr lang="en-US" sz="3600" dirty="0"/>
          </a:p>
        </p:txBody>
      </p:sp>
      <p:sp>
        <p:nvSpPr>
          <p:cNvPr id="11" name="Text 9"/>
          <p:cNvSpPr txBox="1"/>
          <p:nvPr/>
        </p:nvSpPr>
        <p:spPr>
          <a:xfrm>
            <a:off x="8275320" y="2450592"/>
            <a:ext cx="3108960" cy="457200"/>
          </a:xfrm>
          <a:prstGeom prst="rect">
            <a:avLst/>
          </a:prstGeom>
          <a:noFill/>
          <a:ln/>
        </p:spPr>
        <p:txBody>
          <a:bodyPr wrap="square" lIns="0" tIns="0" rIns="0" bIns="0" rtlCol="0" anchor="t"/>
          <a:lstStyle/>
          <a:p>
            <a:pPr indent="0" marL="0">
              <a:buNone/>
            </a:pPr>
            <a:r>
              <a:rPr lang="en-US" sz="1200" dirty="0">
                <a:solidFill>
                  <a:schemeClr val="tx2"/>
                </a:solidFill>
              </a:rPr>
              <a:t>Home batteries installed in Ukraine in 2025 alone. People charge by hand before the published outage queue</a:t>
            </a:r>
            <a:endParaRPr lang="en-US" sz="1200" dirty="0"/>
          </a:p>
        </p:txBody>
      </p:sp>
      <p:sp>
        <p:nvSpPr>
          <p:cNvPr id="12" name="problem"/>
          <p:cNvSpPr/>
          <p:nvPr/>
        </p:nvSpPr>
        <p:spPr>
          <a:xfrm>
            <a:off x="548640" y="3291840"/>
            <a:ext cx="11091672" cy="2377440"/>
          </a:xfrm>
          <a:prstGeom prst="roundRect">
            <a:avLst>
              <a:gd name="adj" fmla="val 3077"/>
            </a:avLst>
          </a:prstGeom>
          <a:solidFill>
            <a:schemeClr val="bg2"/>
          </a:solidFill>
          <a:ln w="9525">
            <a:solidFill>
              <a:schemeClr val="bg2"/>
            </a:solidFill>
            <a:prstDash val="solid"/>
          </a:ln>
        </p:spPr>
      </p:sp>
      <p:sp>
        <p:nvSpPr>
          <p:cNvPr id="13" name="Text 11"/>
          <p:cNvSpPr txBox="1"/>
          <p:nvPr/>
        </p:nvSpPr>
        <p:spPr>
          <a:xfrm>
            <a:off x="822960" y="3429000"/>
            <a:ext cx="4572000" cy="365760"/>
          </a:xfrm>
          <a:prstGeom prst="rect">
            <a:avLst/>
          </a:prstGeom>
          <a:noFill/>
          <a:ln/>
        </p:spPr>
        <p:txBody>
          <a:bodyPr wrap="square" lIns="0" tIns="0" rIns="0" bIns="0" rtlCol="0" anchor="t"/>
          <a:lstStyle/>
          <a:p>
            <a:pPr indent="0" marL="0">
              <a:buNone/>
            </a:pPr>
            <a:r>
              <a:rPr lang="en-US" sz="1600" b="1" dirty="0">
                <a:solidFill>
                  <a:schemeClr val="accent1"/>
                </a:solidFill>
              </a:rPr>
              <a:t>What breaks</a:t>
            </a:r>
            <a:endParaRPr lang="en-US" sz="1600" dirty="0"/>
          </a:p>
        </p:txBody>
      </p:sp>
      <p:sp>
        <p:nvSpPr>
          <p:cNvPr id="14" name="Text 12"/>
          <p:cNvSpPr txBox="1"/>
          <p:nvPr/>
        </p:nvSpPr>
        <p:spPr>
          <a:xfrm>
            <a:off x="822960" y="3840480"/>
            <a:ext cx="10543032"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Evening peaks: heat pumps and EV chargers push street transformers past rating; the DSO's only tools are curtailment or copper</a:t>
            </a:r>
            <a:endParaRPr lang="en-US" sz="1500" dirty="0"/>
          </a:p>
          <a:p>
            <a:pPr marL="342900" indent="-342900">
              <a:spcAft>
                <a:spcPts val="600"/>
              </a:spcAft>
              <a:buSzPct val="100000"/>
              <a:buChar char="•"/>
            </a:pPr>
            <a:r>
              <a:rPr lang="en-US" sz="1500" dirty="0">
                <a:solidFill>
                  <a:schemeClr val="tx1"/>
                </a:solidFill>
              </a:rPr>
              <a:t>PV noon: everyone exports at once, the feeder voltage rises, new connections get refused or capped for the whole year</a:t>
            </a:r>
            <a:endParaRPr lang="en-US" sz="1500" dirty="0"/>
          </a:p>
          <a:p>
            <a:pPr marL="342900" indent="-342900">
              <a:spcAft>
                <a:spcPts val="600"/>
              </a:spcAft>
              <a:buSzPct val="100000"/>
              <a:buChar char="•"/>
            </a:pPr>
            <a:r>
              <a:rPr lang="en-US" sz="1500" dirty="0">
                <a:solidFill>
                  <a:schemeClr val="tx1"/>
                </a:solidFill>
              </a:rPr>
              <a:t>Crisis: when a transformer is hit or the country is short, everyone is cut equally, including the houses that could have ridden through</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One signed, bounded signal from the DSO to every house, on whatever path the vendor likes</a:t>
            </a:r>
            <a:endParaRPr lang="en-US" sz="3200" dirty="0"/>
          </a:p>
        </p:txBody>
      </p:sp>
      <p:sp>
        <p:nvSpPr>
          <p:cNvPr id="3" name="chain DSO"/>
          <p:cNvSpPr/>
          <p:nvPr/>
        </p:nvSpPr>
        <p:spPr>
          <a:xfrm>
            <a:off x="548640" y="1828800"/>
            <a:ext cx="1965960" cy="1920240"/>
          </a:xfrm>
          <a:prstGeom prst="roundRect">
            <a:avLst>
              <a:gd name="adj" fmla="val 3810"/>
            </a:avLst>
          </a:prstGeom>
          <a:solidFill>
            <a:schemeClr val="bg2"/>
          </a:solidFill>
          <a:ln w="9525">
            <a:solidFill>
              <a:schemeClr val="bg2"/>
            </a:solidFill>
            <a:prstDash val="solid"/>
          </a:ln>
        </p:spPr>
      </p:sp>
      <p:sp>
        <p:nvSpPr>
          <p:cNvPr id="4" name="dot"/>
          <p:cNvSpPr/>
          <p:nvPr/>
        </p:nvSpPr>
        <p:spPr>
          <a:xfrm>
            <a:off x="731520" y="2029968"/>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731520" y="2514600"/>
            <a:ext cx="1645920" cy="365760"/>
          </a:xfrm>
          <a:prstGeom prst="rect">
            <a:avLst/>
          </a:prstGeom>
          <a:noFill/>
          <a:ln/>
        </p:spPr>
        <p:txBody>
          <a:bodyPr wrap="square" lIns="0" tIns="0" rIns="0" bIns="0" rtlCol="0" anchor="t"/>
          <a:lstStyle/>
          <a:p>
            <a:pPr indent="0" marL="0">
              <a:buNone/>
            </a:pPr>
            <a:r>
              <a:rPr lang="en-US" sz="1300" b="1" dirty="0">
                <a:solidFill>
                  <a:schemeClr val="tx1"/>
                </a:solidFill>
              </a:rPr>
              <a:t>DSO</a:t>
            </a:r>
            <a:endParaRPr lang="en-US" sz="1300" dirty="0"/>
          </a:p>
        </p:txBody>
      </p:sp>
      <p:sp>
        <p:nvSpPr>
          <p:cNvPr id="6" name="Text 4"/>
          <p:cNvSpPr txBox="1"/>
          <p:nvPr/>
        </p:nvSpPr>
        <p:spPr>
          <a:xfrm>
            <a:off x="731520" y="2852928"/>
            <a:ext cx="1645920" cy="822960"/>
          </a:xfrm>
          <a:prstGeom prst="rect">
            <a:avLst/>
          </a:prstGeom>
          <a:noFill/>
          <a:ln/>
        </p:spPr>
        <p:txBody>
          <a:bodyPr wrap="square" lIns="0" tIns="0" rIns="0" bIns="0" rtlCol="0" anchor="t"/>
          <a:lstStyle/>
          <a:p>
            <a:pPr indent="0" marL="0">
              <a:buNone/>
            </a:pPr>
            <a:r>
              <a:rPr lang="en-US" sz="1150" dirty="0">
                <a:solidFill>
                  <a:schemeClr val="tx2"/>
                </a:solidFill>
              </a:rPr>
              <a:t>sees a transformer or feeder heading past rating</a:t>
            </a:r>
            <a:endParaRPr lang="en-US" sz="1150" dirty="0"/>
          </a:p>
        </p:txBody>
      </p:sp>
      <p:sp>
        <p:nvSpPr>
          <p:cNvPr id="7" name="arrow"/>
          <p:cNvSpPr/>
          <p:nvPr/>
        </p:nvSpPr>
        <p:spPr>
          <a:xfrm>
            <a:off x="2532888" y="2651760"/>
            <a:ext cx="237744" cy="292608"/>
          </a:xfrm>
          <a:prstGeom prst="rightArrow">
            <a:avLst/>
          </a:prstGeom>
          <a:solidFill>
            <a:srgbClr val="A2A9B3"/>
          </a:solidFill>
          <a:ln w="12700">
            <a:solidFill>
              <a:srgbClr val="A2A9B3"/>
            </a:solidFill>
            <a:prstDash val="solid"/>
          </a:ln>
        </p:spPr>
      </p:sp>
      <p:sp>
        <p:nvSpPr>
          <p:cNvPr id="8" name="chain GRIDZILLA"/>
          <p:cNvSpPr/>
          <p:nvPr/>
        </p:nvSpPr>
        <p:spPr>
          <a:xfrm>
            <a:off x="2788920" y="1828800"/>
            <a:ext cx="1965960" cy="1920240"/>
          </a:xfrm>
          <a:prstGeom prst="roundRect">
            <a:avLst>
              <a:gd name="adj" fmla="val 3810"/>
            </a:avLst>
          </a:prstGeom>
          <a:solidFill>
            <a:schemeClr val="bg2"/>
          </a:solidFill>
          <a:ln w="9525">
            <a:solidFill>
              <a:schemeClr val="bg2"/>
            </a:solidFill>
            <a:prstDash val="solid"/>
          </a:ln>
        </p:spPr>
      </p:sp>
      <p:sp>
        <p:nvSpPr>
          <p:cNvPr id="9" name="dot"/>
          <p:cNvSpPr/>
          <p:nvPr/>
        </p:nvSpPr>
        <p:spPr>
          <a:xfrm>
            <a:off x="2971800" y="2029968"/>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2971800" y="2514600"/>
            <a:ext cx="1645920" cy="365760"/>
          </a:xfrm>
          <a:prstGeom prst="rect">
            <a:avLst/>
          </a:prstGeom>
          <a:noFill/>
          <a:ln/>
        </p:spPr>
        <p:txBody>
          <a:bodyPr wrap="square" lIns="0" tIns="0" rIns="0" bIns="0" rtlCol="0" anchor="t"/>
          <a:lstStyle/>
          <a:p>
            <a:pPr indent="0" marL="0">
              <a:buNone/>
            </a:pPr>
            <a:r>
              <a:rPr lang="en-US" sz="1300" b="1" dirty="0">
                <a:solidFill>
                  <a:schemeClr val="tx1"/>
                </a:solidFill>
              </a:rPr>
              <a:t>GRIDZILLA</a:t>
            </a:r>
            <a:endParaRPr lang="en-US" sz="1300" dirty="0"/>
          </a:p>
        </p:txBody>
      </p:sp>
      <p:sp>
        <p:nvSpPr>
          <p:cNvPr id="11" name="Text 9"/>
          <p:cNvSpPr txBox="1"/>
          <p:nvPr/>
        </p:nvSpPr>
        <p:spPr>
          <a:xfrm>
            <a:off x="2971800" y="2852928"/>
            <a:ext cx="1645920" cy="822960"/>
          </a:xfrm>
          <a:prstGeom prst="rect">
            <a:avLst/>
          </a:prstGeom>
          <a:noFill/>
          <a:ln/>
        </p:spPr>
        <p:txBody>
          <a:bodyPr wrap="square" lIns="0" tIns="0" rIns="0" bIns="0" rtlCol="0" anchor="t"/>
          <a:lstStyle/>
          <a:p>
            <a:pPr indent="0" marL="0">
              <a:buNone/>
            </a:pPr>
            <a:r>
              <a:rPr lang="en-US" sz="1150" dirty="0">
                <a:solidFill>
                  <a:schemeClr val="tx2"/>
                </a:solidFill>
              </a:rPr>
              <a:t>policy guard, Ed25519 signature, one topic per grid segment</a:t>
            </a:r>
            <a:endParaRPr lang="en-US" sz="1150" dirty="0"/>
          </a:p>
        </p:txBody>
      </p:sp>
      <p:sp>
        <p:nvSpPr>
          <p:cNvPr id="12" name="arrow"/>
          <p:cNvSpPr/>
          <p:nvPr/>
        </p:nvSpPr>
        <p:spPr>
          <a:xfrm>
            <a:off x="4773168" y="2651760"/>
            <a:ext cx="237744" cy="292608"/>
          </a:xfrm>
          <a:prstGeom prst="rightArrow">
            <a:avLst/>
          </a:prstGeom>
          <a:solidFill>
            <a:srgbClr val="A2A9B3"/>
          </a:solidFill>
          <a:ln w="12700">
            <a:solidFill>
              <a:srgbClr val="A2A9B3"/>
            </a:solidFill>
            <a:prstDash val="solid"/>
          </a:ln>
        </p:spPr>
      </p:sp>
      <p:sp>
        <p:nvSpPr>
          <p:cNvPr id="13" name="chain BROKER"/>
          <p:cNvSpPr/>
          <p:nvPr/>
        </p:nvSpPr>
        <p:spPr>
          <a:xfrm>
            <a:off x="5029200" y="1828800"/>
            <a:ext cx="1965960" cy="1920240"/>
          </a:xfrm>
          <a:prstGeom prst="roundRect">
            <a:avLst>
              <a:gd name="adj" fmla="val 3810"/>
            </a:avLst>
          </a:prstGeom>
          <a:solidFill>
            <a:schemeClr val="bg2"/>
          </a:solidFill>
          <a:ln w="9525">
            <a:solidFill>
              <a:schemeClr val="bg2"/>
            </a:solidFill>
            <a:prstDash val="solid"/>
          </a:ln>
        </p:spPr>
      </p:sp>
      <p:sp>
        <p:nvSpPr>
          <p:cNvPr id="14" name="dot"/>
          <p:cNvSpPr/>
          <p:nvPr/>
        </p:nvSpPr>
        <p:spPr>
          <a:xfrm>
            <a:off x="5212080" y="2029968"/>
            <a:ext cx="384048" cy="384048"/>
          </a:xfrm>
          <a:prstGeom prst="ellipse">
            <a:avLst/>
          </a:prstGeom>
          <a:solidFill>
            <a:schemeClr val="tx2"/>
          </a:solidFill>
          <a:ln w="12700">
            <a:solidFill>
              <a:schemeClr val="tx2"/>
            </a:solidFill>
            <a:prstDash val="solid"/>
          </a:ln>
        </p:spPr>
      </p:sp>
      <p:sp>
        <p:nvSpPr>
          <p:cNvPr id="15" name="Text 13"/>
          <p:cNvSpPr txBox="1"/>
          <p:nvPr/>
        </p:nvSpPr>
        <p:spPr>
          <a:xfrm>
            <a:off x="5212080" y="2514600"/>
            <a:ext cx="1645920" cy="365760"/>
          </a:xfrm>
          <a:prstGeom prst="rect">
            <a:avLst/>
          </a:prstGeom>
          <a:noFill/>
          <a:ln/>
        </p:spPr>
        <p:txBody>
          <a:bodyPr wrap="square" lIns="0" tIns="0" rIns="0" bIns="0" rtlCol="0" anchor="t"/>
          <a:lstStyle/>
          <a:p>
            <a:pPr indent="0" marL="0">
              <a:buNone/>
            </a:pPr>
            <a:r>
              <a:rPr lang="en-US" sz="1300" b="1" dirty="0">
                <a:solidFill>
                  <a:schemeClr val="tx1"/>
                </a:solidFill>
              </a:rPr>
              <a:t>BROKER</a:t>
            </a:r>
            <a:endParaRPr lang="en-US" sz="1300" dirty="0"/>
          </a:p>
        </p:txBody>
      </p:sp>
      <p:sp>
        <p:nvSpPr>
          <p:cNvPr id="16" name="Text 14"/>
          <p:cNvSpPr txBox="1"/>
          <p:nvPr/>
        </p:nvSpPr>
        <p:spPr>
          <a:xfrm>
            <a:off x="5212080" y="2852928"/>
            <a:ext cx="1645920" cy="822960"/>
          </a:xfrm>
          <a:prstGeom prst="rect">
            <a:avLst/>
          </a:prstGeom>
          <a:noFill/>
          <a:ln/>
        </p:spPr>
        <p:txBody>
          <a:bodyPr wrap="square" lIns="0" tIns="0" rIns="0" bIns="0" rtlCol="0" anchor="t"/>
          <a:lstStyle/>
          <a:p>
            <a:pPr indent="0" marL="0">
              <a:buNone/>
            </a:pPr>
            <a:r>
              <a:rPr lang="en-US" sz="1150" dirty="0">
                <a:solidFill>
                  <a:schemeClr val="tx2"/>
                </a:solidFill>
              </a:rPr>
              <a:t>MQTT over TLS, delivery only, no authority</a:t>
            </a:r>
            <a:endParaRPr lang="en-US" sz="1150" dirty="0"/>
          </a:p>
        </p:txBody>
      </p:sp>
      <p:sp>
        <p:nvSpPr>
          <p:cNvPr id="17" name="arrow"/>
          <p:cNvSpPr/>
          <p:nvPr/>
        </p:nvSpPr>
        <p:spPr>
          <a:xfrm>
            <a:off x="7013448" y="2651760"/>
            <a:ext cx="237744" cy="292608"/>
          </a:xfrm>
          <a:prstGeom prst="rightArrow">
            <a:avLst/>
          </a:prstGeom>
          <a:solidFill>
            <a:srgbClr val="A2A9B3"/>
          </a:solidFill>
          <a:ln w="12700">
            <a:solidFill>
              <a:srgbClr val="A2A9B3"/>
            </a:solidFill>
            <a:prstDash val="solid"/>
          </a:ln>
        </p:spPr>
      </p:sp>
      <p:sp>
        <p:nvSpPr>
          <p:cNvPr id="18" name="chain HOUSE AGENT"/>
          <p:cNvSpPr/>
          <p:nvPr/>
        </p:nvSpPr>
        <p:spPr>
          <a:xfrm>
            <a:off x="7269480" y="1828800"/>
            <a:ext cx="1965960" cy="1920240"/>
          </a:xfrm>
          <a:prstGeom prst="roundRect">
            <a:avLst>
              <a:gd name="adj" fmla="val 3810"/>
            </a:avLst>
          </a:prstGeom>
          <a:solidFill>
            <a:schemeClr val="bg2"/>
          </a:solidFill>
          <a:ln w="9525">
            <a:solidFill>
              <a:schemeClr val="bg2"/>
            </a:solidFill>
            <a:prstDash val="solid"/>
          </a:ln>
        </p:spPr>
      </p:sp>
      <p:sp>
        <p:nvSpPr>
          <p:cNvPr id="19" name="dot"/>
          <p:cNvSpPr/>
          <p:nvPr/>
        </p:nvSpPr>
        <p:spPr>
          <a:xfrm>
            <a:off x="7452360" y="2029968"/>
            <a:ext cx="384048" cy="384048"/>
          </a:xfrm>
          <a:prstGeom prst="ellipse">
            <a:avLst/>
          </a:prstGeom>
          <a:solidFill>
            <a:schemeClr val="accent3"/>
          </a:solidFill>
          <a:ln w="12700">
            <a:solidFill>
              <a:schemeClr val="accent3"/>
            </a:solidFill>
            <a:prstDash val="solid"/>
          </a:ln>
        </p:spPr>
      </p:sp>
      <p:sp>
        <p:nvSpPr>
          <p:cNvPr id="20" name="Text 18"/>
          <p:cNvSpPr txBox="1"/>
          <p:nvPr/>
        </p:nvSpPr>
        <p:spPr>
          <a:xfrm>
            <a:off x="7452360" y="2514600"/>
            <a:ext cx="1645920" cy="365760"/>
          </a:xfrm>
          <a:prstGeom prst="rect">
            <a:avLst/>
          </a:prstGeom>
          <a:noFill/>
          <a:ln/>
        </p:spPr>
        <p:txBody>
          <a:bodyPr wrap="square" lIns="0" tIns="0" rIns="0" bIns="0" rtlCol="0" anchor="t"/>
          <a:lstStyle/>
          <a:p>
            <a:pPr indent="0" marL="0">
              <a:buNone/>
            </a:pPr>
            <a:r>
              <a:rPr lang="en-US" sz="1300" b="1" dirty="0">
                <a:solidFill>
                  <a:schemeClr val="tx1"/>
                </a:solidFill>
              </a:rPr>
              <a:t>HOUSE AGENT</a:t>
            </a:r>
            <a:endParaRPr lang="en-US" sz="1300" dirty="0"/>
          </a:p>
        </p:txBody>
      </p:sp>
      <p:sp>
        <p:nvSpPr>
          <p:cNvPr id="21" name="Text 19"/>
          <p:cNvSpPr txBox="1"/>
          <p:nvPr/>
        </p:nvSpPr>
        <p:spPr>
          <a:xfrm>
            <a:off x="7452360" y="2852928"/>
            <a:ext cx="1645920" cy="822960"/>
          </a:xfrm>
          <a:prstGeom prst="rect">
            <a:avLst/>
          </a:prstGeom>
          <a:noFill/>
          <a:ln/>
        </p:spPr>
        <p:txBody>
          <a:bodyPr wrap="square" lIns="0" tIns="0" rIns="0" bIns="0" rtlCol="0" anchor="t"/>
          <a:lstStyle/>
          <a:p>
            <a:pPr indent="0" marL="0">
              <a:buNone/>
            </a:pPr>
            <a:r>
              <a:rPr lang="en-US" sz="1150" dirty="0">
                <a:solidFill>
                  <a:schemeClr val="tx2"/>
                </a:solidFill>
              </a:rPr>
              <a:t>verifies, merges with the owner's limits, applies, acks</a:t>
            </a:r>
            <a:endParaRPr lang="en-US" sz="1150" dirty="0"/>
          </a:p>
        </p:txBody>
      </p:sp>
      <p:sp>
        <p:nvSpPr>
          <p:cNvPr id="22" name="arrow"/>
          <p:cNvSpPr/>
          <p:nvPr/>
        </p:nvSpPr>
        <p:spPr>
          <a:xfrm>
            <a:off x="9253728" y="2651760"/>
            <a:ext cx="237744" cy="292608"/>
          </a:xfrm>
          <a:prstGeom prst="rightArrow">
            <a:avLst/>
          </a:prstGeom>
          <a:solidFill>
            <a:srgbClr val="A2A9B3"/>
          </a:solidFill>
          <a:ln w="12700">
            <a:solidFill>
              <a:srgbClr val="A2A9B3"/>
            </a:solidFill>
            <a:prstDash val="solid"/>
          </a:ln>
        </p:spPr>
      </p:sp>
      <p:sp>
        <p:nvSpPr>
          <p:cNvPr id="23" name="chain BATTERY · EV · HEAT"/>
          <p:cNvSpPr/>
          <p:nvPr/>
        </p:nvSpPr>
        <p:spPr>
          <a:xfrm>
            <a:off x="9509760" y="1828800"/>
            <a:ext cx="1965960" cy="1920240"/>
          </a:xfrm>
          <a:prstGeom prst="roundRect">
            <a:avLst>
              <a:gd name="adj" fmla="val 3810"/>
            </a:avLst>
          </a:prstGeom>
          <a:solidFill>
            <a:schemeClr val="bg2"/>
          </a:solidFill>
          <a:ln w="9525">
            <a:solidFill>
              <a:schemeClr val="bg2"/>
            </a:solidFill>
            <a:prstDash val="solid"/>
          </a:ln>
        </p:spPr>
      </p:sp>
      <p:sp>
        <p:nvSpPr>
          <p:cNvPr id="24" name="dot"/>
          <p:cNvSpPr/>
          <p:nvPr/>
        </p:nvSpPr>
        <p:spPr>
          <a:xfrm>
            <a:off x="9692640" y="2029968"/>
            <a:ext cx="384048" cy="384048"/>
          </a:xfrm>
          <a:prstGeom prst="ellipse">
            <a:avLst/>
          </a:prstGeom>
          <a:solidFill>
            <a:schemeClr val="accent5"/>
          </a:solidFill>
          <a:ln w="12700">
            <a:solidFill>
              <a:schemeClr val="accent5"/>
            </a:solidFill>
            <a:prstDash val="solid"/>
          </a:ln>
        </p:spPr>
      </p:sp>
      <p:sp>
        <p:nvSpPr>
          <p:cNvPr id="25" name="Text 23"/>
          <p:cNvSpPr txBox="1"/>
          <p:nvPr/>
        </p:nvSpPr>
        <p:spPr>
          <a:xfrm>
            <a:off x="9692640" y="2514600"/>
            <a:ext cx="1645920" cy="365760"/>
          </a:xfrm>
          <a:prstGeom prst="rect">
            <a:avLst/>
          </a:prstGeom>
          <a:noFill/>
          <a:ln/>
        </p:spPr>
        <p:txBody>
          <a:bodyPr wrap="square" lIns="0" tIns="0" rIns="0" bIns="0" rtlCol="0" anchor="t"/>
          <a:lstStyle/>
          <a:p>
            <a:pPr indent="0" marL="0">
              <a:buNone/>
            </a:pPr>
            <a:r>
              <a:rPr lang="en-US" sz="1300" b="1" dirty="0">
                <a:solidFill>
                  <a:schemeClr val="tx1"/>
                </a:solidFill>
              </a:rPr>
              <a:t>BATTERY · EV · HEAT</a:t>
            </a:r>
            <a:endParaRPr lang="en-US" sz="1300" dirty="0"/>
          </a:p>
        </p:txBody>
      </p:sp>
      <p:sp>
        <p:nvSpPr>
          <p:cNvPr id="26" name="Text 24"/>
          <p:cNvSpPr txBox="1"/>
          <p:nvPr/>
        </p:nvSpPr>
        <p:spPr>
          <a:xfrm>
            <a:off x="9692640" y="2852928"/>
            <a:ext cx="1645920" cy="822960"/>
          </a:xfrm>
          <a:prstGeom prst="rect">
            <a:avLst/>
          </a:prstGeom>
          <a:noFill/>
          <a:ln/>
        </p:spPr>
        <p:txBody>
          <a:bodyPr wrap="square" lIns="0" tIns="0" rIns="0" bIns="0" rtlCol="0" anchor="t"/>
          <a:lstStyle/>
          <a:p>
            <a:pPr indent="0" marL="0">
              <a:buNone/>
            </a:pPr>
            <a:r>
              <a:rPr lang="en-US" sz="1150" dirty="0">
                <a:solidFill>
                  <a:schemeClr val="tx2"/>
                </a:solidFill>
              </a:rPr>
              <a:t>a limit at the meter, never a setpoint</a:t>
            </a:r>
            <a:endParaRPr lang="en-US" sz="1150" dirty="0"/>
          </a:p>
        </p:txBody>
      </p:sp>
      <p:sp>
        <p:nvSpPr>
          <p:cNvPr id="27" name="Text 25"/>
          <p:cNvSpPr txBox="1"/>
          <p:nvPr/>
        </p:nvSpPr>
        <p:spPr>
          <a:xfrm>
            <a:off x="548640" y="4114800"/>
            <a:ext cx="11091672"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The signal names a limit at the grid connection point: import ceiling, export ceiling, export floor, target SoC. It never names a device or a register</a:t>
            </a:r>
            <a:endParaRPr lang="en-US" sz="1500" dirty="0"/>
          </a:p>
          <a:p>
            <a:pPr marL="342900" indent="-342900">
              <a:spcAft>
                <a:spcPts val="600"/>
              </a:spcAft>
              <a:buSzPct val="100000"/>
              <a:buChar char="•"/>
            </a:pPr>
            <a:r>
              <a:rPr lang="en-US" sz="1500" dirty="0">
                <a:solidFill>
                  <a:schemeClr val="tx1"/>
                </a:solidFill>
              </a:rPr>
              <a:t>The owner's limits always win: minimum SoC, max current, opt-out. The house may answer partial or refused</a:t>
            </a:r>
            <a:endParaRPr lang="en-US" sz="1500" dirty="0"/>
          </a:p>
          <a:p>
            <a:pPr marL="342900" indent="-342900">
              <a:spcAft>
                <a:spcPts val="600"/>
              </a:spcAft>
              <a:buSzPct val="100000"/>
              <a:buChar char="•"/>
            </a:pPr>
            <a:r>
              <a:rPr lang="en-US" sz="1500" dirty="0">
                <a:solidFill>
                  <a:schemeClr val="tx1"/>
                </a:solidFill>
              </a:rPr>
              <a:t>Four-hour maximum, enforced on the platform and again on the device; revert on window end or 120 s without heartbeat</a:t>
            </a:r>
            <a:endParaRPr lang="en-US" sz="1500" dirty="0"/>
          </a:p>
          <a:p>
            <a:pPr marL="342900" indent="-342900">
              <a:spcAft>
                <a:spcPts val="600"/>
              </a:spcAft>
              <a:buSzPct val="100000"/>
              <a:buChar char="•"/>
            </a:pPr>
            <a:r>
              <a:rPr lang="en-US" sz="1500" dirty="0">
                <a:solidFill>
                  <a:schemeClr val="tx1"/>
                </a:solidFill>
              </a:rPr>
              <a:t>Pay on the meter: limits are a yes or no per 15-minute interval on the DSO's own smart meter, so there is nothing to game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Six signals, one grammar: limits for a window</a:t>
            </a:r>
            <a:endParaRPr lang="en-US" sz="3200" dirty="0"/>
          </a:p>
        </p:txBody>
      </p:sp>
      <p:sp>
        <p:nvSpPr>
          <p:cNvPr id="3" name="signal PREPARE"/>
          <p:cNvSpPr/>
          <p:nvPr/>
        </p:nvSpPr>
        <p:spPr>
          <a:xfrm>
            <a:off x="548640" y="1554480"/>
            <a:ext cx="3566160" cy="1600200"/>
          </a:xfrm>
          <a:prstGeom prst="roundRect">
            <a:avLst>
              <a:gd name="adj" fmla="val 4571"/>
            </a:avLst>
          </a:prstGeom>
          <a:solidFill>
            <a:schemeClr val="bg2"/>
          </a:solidFill>
          <a:ln w="9525">
            <a:solidFill>
              <a:schemeClr val="bg2"/>
            </a:solidFill>
            <a:prstDash val="solid"/>
          </a:ln>
        </p:spPr>
      </p:sp>
      <p:sp>
        <p:nvSpPr>
          <p:cNvPr id="4" name="dot"/>
          <p:cNvSpPr/>
          <p:nvPr/>
        </p:nvSpPr>
        <p:spPr>
          <a:xfrm>
            <a:off x="777240" y="178308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8016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PREPARE</a:t>
            </a:r>
            <a:endParaRPr lang="en-US" sz="1800" dirty="0"/>
          </a:p>
        </p:txBody>
      </p:sp>
      <p:sp>
        <p:nvSpPr>
          <p:cNvPr id="6" name="Text 4"/>
          <p:cNvSpPr txBox="1"/>
          <p:nvPr/>
        </p:nvSpPr>
        <p:spPr>
          <a:xfrm>
            <a:off x="77724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Fill the battery, the car and the tank to a target by a deadline, in the quiet hours</a:t>
            </a:r>
            <a:endParaRPr lang="en-US" sz="1250" dirty="0"/>
          </a:p>
        </p:txBody>
      </p:sp>
      <p:sp>
        <p:nvSpPr>
          <p:cNvPr id="7" name="signal ABSORB"/>
          <p:cNvSpPr/>
          <p:nvPr/>
        </p:nvSpPr>
        <p:spPr>
          <a:xfrm>
            <a:off x="4297680" y="1554480"/>
            <a:ext cx="3566160" cy="1600200"/>
          </a:xfrm>
          <a:prstGeom prst="roundRect">
            <a:avLst>
              <a:gd name="adj" fmla="val 4571"/>
            </a:avLst>
          </a:prstGeom>
          <a:solidFill>
            <a:schemeClr val="bg2"/>
          </a:solidFill>
          <a:ln w="9525">
            <a:solidFill>
              <a:schemeClr val="bg2"/>
            </a:solidFill>
            <a:prstDash val="solid"/>
          </a:ln>
        </p:spPr>
      </p:sp>
      <p:sp>
        <p:nvSpPr>
          <p:cNvPr id="8" name="dot"/>
          <p:cNvSpPr/>
          <p:nvPr/>
        </p:nvSpPr>
        <p:spPr>
          <a:xfrm>
            <a:off x="4526280" y="1783080"/>
            <a:ext cx="384048" cy="384048"/>
          </a:xfrm>
          <a:prstGeom prst="ellipse">
            <a:avLst/>
          </a:prstGeom>
          <a:solidFill>
            <a:schemeClr val="accent6"/>
          </a:solidFill>
          <a:ln w="12700">
            <a:solidFill>
              <a:schemeClr val="accent6"/>
            </a:solidFill>
            <a:prstDash val="solid"/>
          </a:ln>
        </p:spPr>
      </p:sp>
      <p:sp>
        <p:nvSpPr>
          <p:cNvPr id="9" name="Text 7"/>
          <p:cNvSpPr txBox="1"/>
          <p:nvPr/>
        </p:nvSpPr>
        <p:spPr>
          <a:xfrm>
            <a:off x="502920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ABSORB</a:t>
            </a:r>
            <a:endParaRPr lang="en-US" sz="1800" dirty="0"/>
          </a:p>
        </p:txBody>
      </p:sp>
      <p:sp>
        <p:nvSpPr>
          <p:cNvPr id="10" name="Text 8"/>
          <p:cNvSpPr txBox="1"/>
          <p:nvPr/>
        </p:nvSpPr>
        <p:spPr>
          <a:xfrm>
            <a:off x="452628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PV surplus: cap export, charge, soak it into the car and the hot water, curtail last</a:t>
            </a:r>
            <a:endParaRPr lang="en-US" sz="1250" dirty="0"/>
          </a:p>
        </p:txBody>
      </p:sp>
      <p:sp>
        <p:nvSpPr>
          <p:cNvPr id="11" name="signal SUPPORT"/>
          <p:cNvSpPr/>
          <p:nvPr/>
        </p:nvSpPr>
        <p:spPr>
          <a:xfrm>
            <a:off x="8046720" y="1554480"/>
            <a:ext cx="3566160" cy="1600200"/>
          </a:xfrm>
          <a:prstGeom prst="roundRect">
            <a:avLst>
              <a:gd name="adj" fmla="val 4571"/>
            </a:avLst>
          </a:prstGeom>
          <a:solidFill>
            <a:schemeClr val="bg2"/>
          </a:solidFill>
          <a:ln w="9525">
            <a:solidFill>
              <a:schemeClr val="bg2"/>
            </a:solidFill>
            <a:prstDash val="solid"/>
          </a:ln>
        </p:spPr>
      </p:sp>
      <p:sp>
        <p:nvSpPr>
          <p:cNvPr id="12" name="dot"/>
          <p:cNvSpPr/>
          <p:nvPr/>
        </p:nvSpPr>
        <p:spPr>
          <a:xfrm>
            <a:off x="8275320" y="1783080"/>
            <a:ext cx="384048" cy="384048"/>
          </a:xfrm>
          <a:prstGeom prst="ellipse">
            <a:avLst/>
          </a:prstGeom>
          <a:solidFill>
            <a:schemeClr val="accent1"/>
          </a:solidFill>
          <a:ln w="12700">
            <a:solidFill>
              <a:schemeClr val="accent1"/>
            </a:solidFill>
            <a:prstDash val="solid"/>
          </a:ln>
        </p:spPr>
      </p:sp>
      <p:sp>
        <p:nvSpPr>
          <p:cNvPr id="13" name="Text 11"/>
          <p:cNvSpPr txBox="1"/>
          <p:nvPr/>
        </p:nvSpPr>
        <p:spPr>
          <a:xfrm>
            <a:off x="8778240" y="175564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SUPPORT</a:t>
            </a:r>
            <a:endParaRPr lang="en-US" sz="1800" dirty="0"/>
          </a:p>
        </p:txBody>
      </p:sp>
      <p:sp>
        <p:nvSpPr>
          <p:cNvPr id="14" name="Text 12"/>
          <p:cNvSpPr txBox="1"/>
          <p:nvPr/>
        </p:nvSpPr>
        <p:spPr>
          <a:xfrm>
            <a:off x="8275320" y="2212848"/>
            <a:ext cx="3108960" cy="914400"/>
          </a:xfrm>
          <a:prstGeom prst="rect">
            <a:avLst/>
          </a:prstGeom>
          <a:noFill/>
          <a:ln/>
        </p:spPr>
        <p:txBody>
          <a:bodyPr wrap="square" lIns="0" tIns="0" rIns="0" bIns="0" rtlCol="0" anchor="t"/>
          <a:lstStyle/>
          <a:p>
            <a:pPr indent="0" marL="0">
              <a:buNone/>
            </a:pPr>
            <a:r>
              <a:rPr lang="en-US" sz="1250" dirty="0">
                <a:solidFill>
                  <a:schemeClr val="tx2"/>
                </a:solidFill>
              </a:rPr>
              <a:t>Peak or deficit: "take 3 kW only", and if the street needs more, "give at least 2 kW"</a:t>
            </a:r>
            <a:endParaRPr lang="en-US" sz="1250" dirty="0"/>
          </a:p>
        </p:txBody>
      </p:sp>
      <p:sp>
        <p:nvSpPr>
          <p:cNvPr id="15" name="signal STRETCH · vision"/>
          <p:cNvSpPr/>
          <p:nvPr/>
        </p:nvSpPr>
        <p:spPr>
          <a:xfrm>
            <a:off x="548640" y="3337560"/>
            <a:ext cx="3566160" cy="1600200"/>
          </a:xfrm>
          <a:prstGeom prst="roundRect">
            <a:avLst>
              <a:gd name="adj" fmla="val 4571"/>
            </a:avLst>
          </a:prstGeom>
          <a:solidFill>
            <a:schemeClr val="bg2"/>
          </a:solidFill>
          <a:ln w="9525">
            <a:solidFill>
              <a:schemeClr val="bg2"/>
            </a:solidFill>
            <a:prstDash val="solid"/>
          </a:ln>
        </p:spPr>
      </p:sp>
      <p:sp>
        <p:nvSpPr>
          <p:cNvPr id="16" name="dot"/>
          <p:cNvSpPr/>
          <p:nvPr/>
        </p:nvSpPr>
        <p:spPr>
          <a:xfrm>
            <a:off x="777240" y="3566160"/>
            <a:ext cx="384048" cy="384048"/>
          </a:xfrm>
          <a:prstGeom prst="ellipse">
            <a:avLst/>
          </a:prstGeom>
          <a:solidFill>
            <a:schemeClr val="accent4"/>
          </a:solidFill>
          <a:ln w="12700">
            <a:solidFill>
              <a:schemeClr val="accent4"/>
            </a:solidFill>
            <a:prstDash val="solid"/>
          </a:ln>
        </p:spPr>
      </p:sp>
      <p:sp>
        <p:nvSpPr>
          <p:cNvPr id="17" name="Text 15"/>
          <p:cNvSpPr txBox="1"/>
          <p:nvPr/>
        </p:nvSpPr>
        <p:spPr>
          <a:xfrm>
            <a:off x="128016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STRETCH · vision</a:t>
            </a:r>
            <a:endParaRPr lang="en-US" sz="1800" dirty="0"/>
          </a:p>
        </p:txBody>
      </p:sp>
      <p:sp>
        <p:nvSpPr>
          <p:cNvPr id="18" name="Text 16"/>
          <p:cNvSpPr txBox="1"/>
          <p:nvPr/>
        </p:nvSpPr>
        <p:spPr>
          <a:xfrm>
            <a:off x="777240" y="3995928"/>
            <a:ext cx="3108960" cy="914400"/>
          </a:xfrm>
          <a:prstGeom prst="rect">
            <a:avLst/>
          </a:prstGeom>
          <a:noFill/>
          <a:ln/>
        </p:spPr>
        <p:txBody>
          <a:bodyPr wrap="square" lIns="0" tIns="0" rIns="0" bIns="0" rtlCol="0" anchor="t"/>
          <a:lstStyle/>
          <a:p>
            <a:pPr indent="0" marL="0">
              <a:buNone/>
            </a:pPr>
            <a:r>
              <a:rPr lang="en-US" sz="1100" dirty="0">
                <a:solidFill>
                  <a:schemeClr val="tx2"/>
                </a:solidFill>
              </a:rPr>
              <a:t>Street is dark: grid-forming inverters island the street, batteries are rationed until restoration, export locked to zero. Today's home inverters cannot form a grid; the signal is ready for the ones that will</a:t>
            </a:r>
            <a:endParaRPr lang="en-US" sz="1100" dirty="0"/>
          </a:p>
        </p:txBody>
      </p:sp>
      <p:sp>
        <p:nvSpPr>
          <p:cNvPr id="19" name="signal RECOVER"/>
          <p:cNvSpPr/>
          <p:nvPr/>
        </p:nvSpPr>
        <p:spPr>
          <a:xfrm>
            <a:off x="4297680" y="3337560"/>
            <a:ext cx="3566160" cy="1600200"/>
          </a:xfrm>
          <a:prstGeom prst="roundRect">
            <a:avLst>
              <a:gd name="adj" fmla="val 4571"/>
            </a:avLst>
          </a:prstGeom>
          <a:solidFill>
            <a:schemeClr val="bg2"/>
          </a:solidFill>
          <a:ln w="9525">
            <a:solidFill>
              <a:schemeClr val="bg2"/>
            </a:solidFill>
            <a:prstDash val="solid"/>
          </a:ln>
        </p:spPr>
      </p:sp>
      <p:sp>
        <p:nvSpPr>
          <p:cNvPr id="20" name="dot"/>
          <p:cNvSpPr/>
          <p:nvPr/>
        </p:nvSpPr>
        <p:spPr>
          <a:xfrm>
            <a:off x="4526280" y="3566160"/>
            <a:ext cx="384048" cy="384048"/>
          </a:xfrm>
          <a:prstGeom prst="ellipse">
            <a:avLst/>
          </a:prstGeom>
          <a:solidFill>
            <a:schemeClr val="accent2"/>
          </a:solidFill>
          <a:ln w="12700">
            <a:solidFill>
              <a:schemeClr val="accent2"/>
            </a:solidFill>
            <a:prstDash val="solid"/>
          </a:ln>
        </p:spPr>
      </p:sp>
      <p:sp>
        <p:nvSpPr>
          <p:cNvPr id="21" name="Text 19"/>
          <p:cNvSpPr txBox="1"/>
          <p:nvPr/>
        </p:nvSpPr>
        <p:spPr>
          <a:xfrm>
            <a:off x="502920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RECOVER</a:t>
            </a:r>
            <a:endParaRPr lang="en-US" sz="1800" dirty="0"/>
          </a:p>
        </p:txBody>
      </p:sp>
      <p:sp>
        <p:nvSpPr>
          <p:cNvPr id="22" name="Text 20"/>
          <p:cNvSpPr txBox="1"/>
          <p:nvPr/>
        </p:nvSpPr>
        <p:spPr>
          <a:xfrm>
            <a:off x="4526280" y="3995928"/>
            <a:ext cx="3108960" cy="914400"/>
          </a:xfrm>
          <a:prstGeom prst="rect">
            <a:avLst/>
          </a:prstGeom>
          <a:noFill/>
          <a:ln/>
        </p:spPr>
        <p:txBody>
          <a:bodyPr wrap="square" lIns="0" tIns="0" rIns="0" bIns="0" rtlCol="0" anchor="t"/>
          <a:lstStyle/>
          <a:p>
            <a:pPr indent="0" marL="0">
              <a:buNone/>
            </a:pPr>
            <a:r>
              <a:rPr lang="en-US" sz="1250" dirty="0">
                <a:solidFill>
                  <a:schemeClr val="tx2"/>
                </a:solidFill>
              </a:rPr>
              <a:t>After restoration: staggered recharge so the street does not refill at once</a:t>
            </a:r>
            <a:endParaRPr lang="en-US" sz="1250" dirty="0"/>
          </a:p>
        </p:txBody>
      </p:sp>
      <p:sp>
        <p:nvSpPr>
          <p:cNvPr id="23" name="signal RELEASE"/>
          <p:cNvSpPr/>
          <p:nvPr/>
        </p:nvSpPr>
        <p:spPr>
          <a:xfrm>
            <a:off x="8046720" y="3337560"/>
            <a:ext cx="3566160" cy="1600200"/>
          </a:xfrm>
          <a:prstGeom prst="roundRect">
            <a:avLst>
              <a:gd name="adj" fmla="val 4571"/>
            </a:avLst>
          </a:prstGeom>
          <a:solidFill>
            <a:schemeClr val="bg2"/>
          </a:solidFill>
          <a:ln w="9525">
            <a:solidFill>
              <a:schemeClr val="bg2"/>
            </a:solidFill>
            <a:prstDash val="solid"/>
          </a:ln>
        </p:spPr>
      </p:sp>
      <p:sp>
        <p:nvSpPr>
          <p:cNvPr id="24" name="dot"/>
          <p:cNvSpPr/>
          <p:nvPr/>
        </p:nvSpPr>
        <p:spPr>
          <a:xfrm>
            <a:off x="8275320" y="3566160"/>
            <a:ext cx="384048" cy="384048"/>
          </a:xfrm>
          <a:prstGeom prst="ellipse">
            <a:avLst/>
          </a:prstGeom>
          <a:solidFill>
            <a:schemeClr val="tx2"/>
          </a:solidFill>
          <a:ln w="12700">
            <a:solidFill>
              <a:schemeClr val="tx2"/>
            </a:solidFill>
            <a:prstDash val="solid"/>
          </a:ln>
        </p:spPr>
      </p:sp>
      <p:sp>
        <p:nvSpPr>
          <p:cNvPr id="25" name="Text 23"/>
          <p:cNvSpPr txBox="1"/>
          <p:nvPr/>
        </p:nvSpPr>
        <p:spPr>
          <a:xfrm>
            <a:off x="8778240" y="3538728"/>
            <a:ext cx="265176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RELEASE</a:t>
            </a:r>
            <a:endParaRPr lang="en-US" sz="1800" dirty="0"/>
          </a:p>
        </p:txBody>
      </p:sp>
      <p:sp>
        <p:nvSpPr>
          <p:cNvPr id="26" name="Text 24"/>
          <p:cNvSpPr txBox="1"/>
          <p:nvPr/>
        </p:nvSpPr>
        <p:spPr>
          <a:xfrm>
            <a:off x="8275320" y="3995928"/>
            <a:ext cx="3108960" cy="914400"/>
          </a:xfrm>
          <a:prstGeom prst="rect">
            <a:avLst/>
          </a:prstGeom>
          <a:noFill/>
          <a:ln/>
        </p:spPr>
        <p:txBody>
          <a:bodyPr wrap="square" lIns="0" tIns="0" rIns="0" bIns="0" rtlCol="0" anchor="t"/>
          <a:lstStyle/>
          <a:p>
            <a:pPr indent="0" marL="0">
              <a:buNone/>
            </a:pPr>
            <a:r>
              <a:rPr lang="en-US" sz="1250" dirty="0">
                <a:solidFill>
                  <a:schemeClr val="tx2"/>
                </a:solidFill>
              </a:rPr>
              <a:t>Event over. Owner mode, immediately</a:t>
            </a:r>
            <a:endParaRPr lang="en-US" sz="1250" dirty="0"/>
          </a:p>
        </p:txBody>
      </p:sp>
      <p:sp>
        <p:nvSpPr>
          <p:cNvPr id="27" name="Text 25"/>
          <p:cNvSpPr txBox="1"/>
          <p:nvPr/>
        </p:nvSpPr>
        <p:spPr>
          <a:xfrm>
            <a:off x="548640" y="5257800"/>
            <a:ext cx="11091672" cy="822960"/>
          </a:xfrm>
          <a:prstGeom prst="rect">
            <a:avLst/>
          </a:prstGeom>
          <a:noFill/>
          <a:ln/>
        </p:spPr>
        <p:txBody>
          <a:bodyPr wrap="square" lIns="0" tIns="0" rIns="0" bIns="0" rtlCol="0" anchor="t"/>
          <a:lstStyle/>
          <a:p>
            <a:pPr indent="0" marL="0">
              <a:buNone/>
            </a:pPr>
            <a:r>
              <a:rPr lang="en-US" sz="1400" i="1" dirty="0">
                <a:solidFill>
                  <a:schemeClr val="tx2"/>
                </a:solidFill>
              </a:rPr>
              <a:t>Envelopes: a SUPPORT or ABSORB carries one ceiling per 15-minute slot, the meter's settlement interval. Cohorts let one signal address half a street, so the other half exports while the first charges.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household is the unit: everything behind one meter, one agent, eight functions</a:t>
            </a:r>
            <a:endParaRPr lang="en-US" sz="3200" dirty="0"/>
          </a:p>
        </p:txBody>
      </p:sp>
      <p:sp>
        <p:nvSpPr>
          <p:cNvPr id="3" name="dot"/>
          <p:cNvSpPr/>
          <p:nvPr/>
        </p:nvSpPr>
        <p:spPr>
          <a:xfrm>
            <a:off x="548640" y="1645920"/>
            <a:ext cx="384048" cy="384048"/>
          </a:xfrm>
          <a:prstGeom prst="ellipse">
            <a:avLst/>
          </a:prstGeom>
          <a:solidFill>
            <a:schemeClr val="accent2"/>
          </a:solidFill>
          <a:ln w="12700">
            <a:solidFill>
              <a:schemeClr val="accent2"/>
            </a:solidFill>
            <a:prstDash val="solid"/>
          </a:ln>
        </p:spPr>
      </p:sp>
      <p:sp>
        <p:nvSpPr>
          <p:cNvPr id="4" name="Text 2"/>
          <p:cNvSpPr txBox="1"/>
          <p:nvPr/>
        </p:nvSpPr>
        <p:spPr>
          <a:xfrm>
            <a:off x="1143000" y="155448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Battery</a:t>
            </a:r>
            <a:endParaRPr lang="en-US" sz="1600" dirty="0"/>
          </a:p>
        </p:txBody>
      </p:sp>
      <p:sp>
        <p:nvSpPr>
          <p:cNvPr id="5" name="Text 3"/>
          <p:cNvSpPr txBox="1"/>
          <p:nvPr/>
        </p:nvSpPr>
        <p:spPr>
          <a:xfrm>
            <a:off x="1143000" y="1920240"/>
            <a:ext cx="5120640" cy="640080"/>
          </a:xfrm>
          <a:prstGeom prst="rect">
            <a:avLst/>
          </a:prstGeom>
          <a:noFill/>
          <a:ln/>
        </p:spPr>
        <p:txBody>
          <a:bodyPr wrap="square" lIns="0" tIns="0" rIns="0" bIns="0" rtlCol="0" anchor="t"/>
          <a:lstStyle/>
          <a:p>
            <a:pPr indent="0" marL="0">
              <a:buNone/>
            </a:pPr>
            <a:r>
              <a:rPr lang="en-US" sz="1250" dirty="0">
                <a:solidFill>
                  <a:schemeClr val="tx2"/>
                </a:solidFill>
              </a:rPr>
              <a:t>the lever of last resort: discharge to cover the house or feed the street, within the owner floor</a:t>
            </a:r>
            <a:endParaRPr lang="en-US" sz="1250" dirty="0"/>
          </a:p>
        </p:txBody>
      </p:sp>
      <p:sp>
        <p:nvSpPr>
          <p:cNvPr id="6" name="dot"/>
          <p:cNvSpPr/>
          <p:nvPr/>
        </p:nvSpPr>
        <p:spPr>
          <a:xfrm>
            <a:off x="548640" y="2697480"/>
            <a:ext cx="384048" cy="384048"/>
          </a:xfrm>
          <a:prstGeom prst="ellipse">
            <a:avLst/>
          </a:prstGeom>
          <a:solidFill>
            <a:schemeClr val="accent3"/>
          </a:solidFill>
          <a:ln w="12700">
            <a:solidFill>
              <a:schemeClr val="accent3"/>
            </a:solidFill>
            <a:prstDash val="solid"/>
          </a:ln>
        </p:spPr>
      </p:sp>
      <p:sp>
        <p:nvSpPr>
          <p:cNvPr id="7" name="Text 5"/>
          <p:cNvSpPr txBox="1"/>
          <p:nvPr/>
        </p:nvSpPr>
        <p:spPr>
          <a:xfrm>
            <a:off x="1143000" y="260604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EV charger</a:t>
            </a:r>
            <a:endParaRPr lang="en-US" sz="1600" dirty="0"/>
          </a:p>
        </p:txBody>
      </p:sp>
      <p:sp>
        <p:nvSpPr>
          <p:cNvPr id="8" name="Text 6"/>
          <p:cNvSpPr txBox="1"/>
          <p:nvPr/>
        </p:nvSpPr>
        <p:spPr>
          <a:xfrm>
            <a:off x="1143000" y="2971800"/>
            <a:ext cx="5120640" cy="640080"/>
          </a:xfrm>
          <a:prstGeom prst="rect">
            <a:avLst/>
          </a:prstGeom>
          <a:noFill/>
          <a:ln/>
        </p:spPr>
        <p:txBody>
          <a:bodyPr wrap="square" lIns="0" tIns="0" rIns="0" bIns="0" rtlCol="0" anchor="t"/>
          <a:lstStyle/>
          <a:p>
            <a:pPr indent="0" marL="0">
              <a:buNone/>
            </a:pPr>
            <a:r>
              <a:rPr lang="en-US" sz="1250" dirty="0">
                <a:solidFill>
                  <a:schemeClr val="tx2"/>
                </a:solidFill>
              </a:rPr>
              <a:t>the first lever: throttled 16 to 6 A under a cap, soaks surplus, paused when the street is dark</a:t>
            </a:r>
            <a:endParaRPr lang="en-US" sz="1250" dirty="0"/>
          </a:p>
        </p:txBody>
      </p:sp>
      <p:sp>
        <p:nvSpPr>
          <p:cNvPr id="9" name="dot"/>
          <p:cNvSpPr/>
          <p:nvPr/>
        </p:nvSpPr>
        <p:spPr>
          <a:xfrm>
            <a:off x="548640" y="3749040"/>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1143000" y="365760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Heat pump</a:t>
            </a:r>
            <a:endParaRPr lang="en-US" sz="1600" dirty="0"/>
          </a:p>
        </p:txBody>
      </p:sp>
      <p:sp>
        <p:nvSpPr>
          <p:cNvPr id="11" name="Text 9"/>
          <p:cNvSpPr txBox="1"/>
          <p:nvPr/>
        </p:nvSpPr>
        <p:spPr>
          <a:xfrm>
            <a:off x="1143000" y="4023360"/>
            <a:ext cx="5120640" cy="640080"/>
          </a:xfrm>
          <a:prstGeom prst="rect">
            <a:avLst/>
          </a:prstGeom>
          <a:noFill/>
          <a:ln/>
        </p:spPr>
        <p:txBody>
          <a:bodyPr wrap="square" lIns="0" tIns="0" rIns="0" bIns="0" rtlCol="0" anchor="t"/>
          <a:lstStyle/>
          <a:p>
            <a:pPr indent="0" marL="0">
              <a:buNone/>
            </a:pPr>
            <a:r>
              <a:rPr lang="en-US" sz="1250" dirty="0">
                <a:solidFill>
                  <a:schemeClr val="tx2"/>
                </a:solidFill>
              </a:rPr>
              <a:t>second lever: tank to 55 °C under surplus, floor at 40 °C under a cap, 3 kW shed per house</a:t>
            </a:r>
            <a:endParaRPr lang="en-US" sz="1250" dirty="0"/>
          </a:p>
        </p:txBody>
      </p:sp>
      <p:sp>
        <p:nvSpPr>
          <p:cNvPr id="12" name="dot"/>
          <p:cNvSpPr/>
          <p:nvPr/>
        </p:nvSpPr>
        <p:spPr>
          <a:xfrm>
            <a:off x="548640" y="4800600"/>
            <a:ext cx="384048" cy="384048"/>
          </a:xfrm>
          <a:prstGeom prst="ellipse">
            <a:avLst/>
          </a:prstGeom>
          <a:solidFill>
            <a:schemeClr val="accent6"/>
          </a:solidFill>
          <a:ln w="12700">
            <a:solidFill>
              <a:schemeClr val="accent6"/>
            </a:solidFill>
            <a:prstDash val="solid"/>
          </a:ln>
        </p:spPr>
      </p:sp>
      <p:sp>
        <p:nvSpPr>
          <p:cNvPr id="13" name="Text 11"/>
          <p:cNvSpPr txBox="1"/>
          <p:nvPr/>
        </p:nvSpPr>
        <p:spPr>
          <a:xfrm>
            <a:off x="1143000" y="4709160"/>
            <a:ext cx="201168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Boiler</a:t>
            </a:r>
            <a:endParaRPr lang="en-US" sz="1600" dirty="0"/>
          </a:p>
        </p:txBody>
      </p:sp>
      <p:sp>
        <p:nvSpPr>
          <p:cNvPr id="14" name="Text 12"/>
          <p:cNvSpPr txBox="1"/>
          <p:nvPr/>
        </p:nvSpPr>
        <p:spPr>
          <a:xfrm>
            <a:off x="1143000" y="5074920"/>
            <a:ext cx="5120640" cy="640080"/>
          </a:xfrm>
          <a:prstGeom prst="rect">
            <a:avLst/>
          </a:prstGeom>
          <a:noFill/>
          <a:ln/>
        </p:spPr>
        <p:txBody>
          <a:bodyPr wrap="square" lIns="0" tIns="0" rIns="0" bIns="0" rtlCol="0" anchor="t"/>
          <a:lstStyle/>
          <a:p>
            <a:pPr indent="0" marL="0">
              <a:buNone/>
            </a:pPr>
            <a:r>
              <a:rPr lang="en-US" sz="1250" dirty="0">
                <a:solidFill>
                  <a:schemeClr val="tx2"/>
                </a:solidFill>
              </a:rPr>
              <a:t>same rules at 65 and 45 °C; an electric boiler is a kilowatt-hour sponge</a:t>
            </a:r>
            <a:endParaRPr lang="en-US" sz="1250" dirty="0"/>
          </a:p>
        </p:txBody>
      </p:sp>
      <p:sp>
        <p:nvSpPr>
          <p:cNvPr id="15" name="eight functions"/>
          <p:cNvSpPr/>
          <p:nvPr/>
        </p:nvSpPr>
        <p:spPr>
          <a:xfrm>
            <a:off x="6675120" y="1554480"/>
            <a:ext cx="4937760" cy="4114800"/>
          </a:xfrm>
          <a:prstGeom prst="roundRect">
            <a:avLst>
              <a:gd name="adj" fmla="val 1778"/>
            </a:avLst>
          </a:prstGeom>
          <a:solidFill>
            <a:schemeClr val="bg2"/>
          </a:solidFill>
          <a:ln w="9525">
            <a:solidFill>
              <a:schemeClr val="bg2"/>
            </a:solidFill>
            <a:prstDash val="solid"/>
          </a:ln>
        </p:spPr>
      </p:sp>
      <p:sp>
        <p:nvSpPr>
          <p:cNvPr id="16" name="Text 14"/>
          <p:cNvSpPr txBox="1"/>
          <p:nvPr/>
        </p:nvSpPr>
        <p:spPr>
          <a:xfrm>
            <a:off x="6903720" y="169164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The agent, any language, forty lines</a:t>
            </a:r>
            <a:endParaRPr lang="en-US" sz="1500" dirty="0"/>
          </a:p>
        </p:txBody>
      </p:sp>
      <p:sp>
        <p:nvSpPr>
          <p:cNvPr id="17" name="Text 15"/>
          <p:cNvSpPr txBox="1"/>
          <p:nvPr/>
        </p:nvSpPr>
        <p:spPr>
          <a:xfrm>
            <a:off x="6903720" y="2148840"/>
            <a:ext cx="4526280" cy="33832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50" dirty="0">
                <a:solidFill>
                  <a:schemeClr val="tx1"/>
                </a:solidFill>
              </a:rPr>
              <a:t>Pin the platform key at registration</a:t>
            </a:r>
            <a:endParaRPr lang="en-US" sz="1350" dirty="0"/>
          </a:p>
          <a:p>
            <a:pPr marL="342900" indent="-342900">
              <a:spcAft>
                <a:spcPts val="600"/>
              </a:spcAft>
              <a:buSzPct val="100000"/>
              <a:buFont typeface="+mj-lt"/>
              <a:buAutoNum type="arabicPeriod" startAt="1"/>
            </a:pPr>
            <a:r>
              <a:rPr lang="en-US" sz="1350" dirty="0">
                <a:solidFill>
                  <a:schemeClr val="tx1"/>
                </a:solidFill>
              </a:rPr>
              <a:t>Subscribe to the segment topics, outbound only</a:t>
            </a:r>
            <a:endParaRPr lang="en-US" sz="1350" dirty="0"/>
          </a:p>
          <a:p>
            <a:pPr marL="342900" indent="-342900">
              <a:spcAft>
                <a:spcPts val="600"/>
              </a:spcAft>
              <a:buSzPct val="100000"/>
              <a:buFont typeface="+mj-lt"/>
              <a:buAutoNum type="arabicPeriod" startAt="1"/>
            </a:pPr>
            <a:r>
              <a:rPr lang="en-US" sz="1350" dirty="0">
                <a:solidFill>
                  <a:schemeClr val="tx1"/>
                </a:solidFill>
              </a:rPr>
              <a:t>Verify signature, sequence, freshness, scope</a:t>
            </a:r>
            <a:endParaRPr lang="en-US" sz="1350" dirty="0"/>
          </a:p>
          <a:p>
            <a:pPr marL="342900" indent="-342900">
              <a:spcAft>
                <a:spcPts val="600"/>
              </a:spcAft>
              <a:buSzPct val="100000"/>
              <a:buFont typeface="+mj-lt"/>
              <a:buAutoNum type="arabicPeriod" startAt="1"/>
            </a:pPr>
            <a:r>
              <a:rPr lang="en-US" sz="1350" dirty="0">
                <a:solidFill>
                  <a:schemeClr val="tx1"/>
                </a:solidFill>
              </a:rPr>
              <a:t>Merge with owner limits: floor, caps, opt-out</a:t>
            </a:r>
            <a:endParaRPr lang="en-US" sz="1350" dirty="0"/>
          </a:p>
          <a:p>
            <a:pPr marL="342900" indent="-342900">
              <a:spcAft>
                <a:spcPts val="600"/>
              </a:spcAft>
              <a:buSzPct val="100000"/>
              <a:buFont typeface="+mj-lt"/>
              <a:buAutoNum type="arabicPeriod" startAt="1"/>
            </a:pPr>
            <a:r>
              <a:rPr lang="en-US" sz="1350" dirty="0">
                <a:solidFill>
                  <a:schemeClr val="tx1"/>
                </a:solidFill>
              </a:rPr>
              <a:t>Apply: the only vendor-specific step</a:t>
            </a:r>
            <a:endParaRPr lang="en-US" sz="1350" dirty="0"/>
          </a:p>
          <a:p>
            <a:pPr marL="342900" indent="-342900">
              <a:spcAft>
                <a:spcPts val="600"/>
              </a:spcAft>
              <a:buSzPct val="100000"/>
              <a:buFont typeface="+mj-lt"/>
              <a:buAutoNum type="arabicPeriod" startAt="1"/>
            </a:pPr>
            <a:r>
              <a:rPr lang="en-US" sz="1350" dirty="0">
                <a:solidFill>
                  <a:schemeClr val="tx1"/>
                </a:solidFill>
              </a:rPr>
              <a:t>Ack, signed with the device key</a:t>
            </a:r>
            <a:endParaRPr lang="en-US" sz="1350" dirty="0"/>
          </a:p>
          <a:p>
            <a:pPr marL="342900" indent="-342900">
              <a:spcAft>
                <a:spcPts val="600"/>
              </a:spcAft>
              <a:buSzPct val="100000"/>
              <a:buFont typeface="+mj-lt"/>
              <a:buAutoNum type="arabicPeriod" startAt="1"/>
            </a:pPr>
            <a:r>
              <a:rPr lang="en-US" sz="1350" dirty="0">
                <a:solidFill>
                  <a:schemeClr val="tx1"/>
                </a:solidFill>
              </a:rPr>
              <a:t>Watch the heartbeat and the window</a:t>
            </a:r>
            <a:endParaRPr lang="en-US" sz="1350" dirty="0"/>
          </a:p>
          <a:p>
            <a:pPr marL="342900" indent="-342900">
              <a:spcAft>
                <a:spcPts val="600"/>
              </a:spcAft>
              <a:buSzPct val="100000"/>
              <a:buFont typeface="+mj-lt"/>
              <a:buAutoNum type="arabicPeriod" startAt="1"/>
            </a:pPr>
            <a:r>
              <a:rPr lang="en-US" sz="1350" dirty="0">
                <a:solidFill>
                  <a:schemeClr val="tx1"/>
                </a:solidFill>
              </a:rPr>
              <a:t>Revert to owner mode</a:t>
            </a:r>
            <a:endParaRPr lang="en-US" sz="1350" dirty="0"/>
          </a:p>
        </p:txBody>
      </p:sp>
      <p:sp>
        <p:nvSpPr>
          <p:cNvPr id="18" name="Text 16"/>
          <p:cNvSpPr txBox="1"/>
          <p:nvPr/>
        </p:nvSpPr>
        <p:spPr>
          <a:xfrm>
            <a:off x="548640" y="5806440"/>
            <a:ext cx="11091672" cy="548640"/>
          </a:xfrm>
          <a:prstGeom prst="rect">
            <a:avLst/>
          </a:prstGeom>
          <a:noFill/>
          <a:ln/>
        </p:spPr>
        <p:txBody>
          <a:bodyPr wrap="square" lIns="0" tIns="0" rIns="0" bIns="0" rtlCol="0" anchor="t"/>
          <a:lstStyle/>
          <a:p>
            <a:pPr indent="0" marL="0">
              <a:buNone/>
            </a:pPr>
            <a:r>
              <a:rPr lang="en-US" sz="1300" i="1" dirty="0">
                <a:solidFill>
                  <a:schemeClr val="tx2"/>
                </a:solidFill>
              </a:rPr>
              <a:t>Blatnica, the real one: Victron Cerbo GX with MultiPlus-II and a 15 kWh battery, an 11 kW Victron EV station, and a Viessmann Vitocal heat pump via ViCare. One house on the board.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DeepSeek runs the grid every 15 minutes. The guard is the brake</a:t>
            </a:r>
            <a:endParaRPr lang="en-US" sz="3200" dirty="0"/>
          </a:p>
        </p:txBody>
      </p:sp>
      <p:sp>
        <p:nvSpPr>
          <p:cNvPr id="3" name="step SENSE"/>
          <p:cNvSpPr/>
          <p:nvPr/>
        </p:nvSpPr>
        <p:spPr>
          <a:xfrm>
            <a:off x="548640" y="1600200"/>
            <a:ext cx="2606040" cy="2103120"/>
          </a:xfrm>
          <a:prstGeom prst="roundRect">
            <a:avLst>
              <a:gd name="adj" fmla="val 3478"/>
            </a:avLst>
          </a:prstGeom>
          <a:solidFill>
            <a:schemeClr val="bg2"/>
          </a:solidFill>
          <a:ln w="9525">
            <a:solidFill>
              <a:schemeClr val="bg2"/>
            </a:solidFill>
            <a:prstDash val="solid"/>
          </a:ln>
        </p:spPr>
      </p:sp>
      <p:sp>
        <p:nvSpPr>
          <p:cNvPr id="4" name="dot"/>
          <p:cNvSpPr/>
          <p:nvPr/>
        </p:nvSpPr>
        <p:spPr>
          <a:xfrm>
            <a:off x="777240" y="182880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128016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SENSE</a:t>
            </a:r>
            <a:endParaRPr lang="en-US" sz="1300" dirty="0"/>
          </a:p>
        </p:txBody>
      </p:sp>
      <p:sp>
        <p:nvSpPr>
          <p:cNvPr id="6" name="Text 4"/>
          <p:cNvSpPr txBox="1"/>
          <p:nvPr/>
        </p:nvSpPr>
        <p:spPr>
          <a:xfrm>
            <a:off x="77724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72 transformers, 90-minute forecast, trigger at ±85 % of rating</a:t>
            </a:r>
            <a:endParaRPr lang="en-US" sz="1200" dirty="0"/>
          </a:p>
        </p:txBody>
      </p:sp>
      <p:sp>
        <p:nvSpPr>
          <p:cNvPr id="7" name="arrow"/>
          <p:cNvSpPr/>
          <p:nvPr/>
        </p:nvSpPr>
        <p:spPr>
          <a:xfrm>
            <a:off x="3163824" y="2514600"/>
            <a:ext cx="201168" cy="292608"/>
          </a:xfrm>
          <a:prstGeom prst="rightArrow">
            <a:avLst/>
          </a:prstGeom>
          <a:solidFill>
            <a:srgbClr val="A2A9B3"/>
          </a:solidFill>
          <a:ln w="12700">
            <a:solidFill>
              <a:srgbClr val="A2A9B3"/>
            </a:solidFill>
            <a:prstDash val="solid"/>
          </a:ln>
        </p:spPr>
      </p:sp>
      <p:sp>
        <p:nvSpPr>
          <p:cNvPr id="8" name="step DEEPSEEK DECIDES"/>
          <p:cNvSpPr/>
          <p:nvPr/>
        </p:nvSpPr>
        <p:spPr>
          <a:xfrm>
            <a:off x="3383280" y="1600200"/>
            <a:ext cx="2606040" cy="2103120"/>
          </a:xfrm>
          <a:prstGeom prst="roundRect">
            <a:avLst>
              <a:gd name="adj" fmla="val 3478"/>
            </a:avLst>
          </a:prstGeom>
          <a:solidFill>
            <a:schemeClr val="bg2"/>
          </a:solidFill>
          <a:ln w="9525">
            <a:solidFill>
              <a:schemeClr val="bg2"/>
            </a:solidFill>
            <a:prstDash val="solid"/>
          </a:ln>
        </p:spPr>
      </p:sp>
      <p:sp>
        <p:nvSpPr>
          <p:cNvPr id="9" name="dot"/>
          <p:cNvSpPr/>
          <p:nvPr/>
        </p:nvSpPr>
        <p:spPr>
          <a:xfrm>
            <a:off x="3611880" y="182880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11480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DEEPSEEK DECIDES</a:t>
            </a:r>
            <a:endParaRPr lang="en-US" sz="1300" dirty="0"/>
          </a:p>
        </p:txBody>
      </p:sp>
      <p:sp>
        <p:nvSpPr>
          <p:cNvPr id="11" name="Text 9"/>
          <p:cNvSpPr txBox="1"/>
          <p:nvPr/>
        </p:nvSpPr>
        <p:spPr>
          <a:xfrm>
            <a:off x="361188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DeepSeek-V4.1-Flash on the DGX Spark proposes mode, segment, cap, window and a dynamic envelope, in ~3 s</a:t>
            </a:r>
            <a:endParaRPr lang="en-US" sz="1200" dirty="0"/>
          </a:p>
        </p:txBody>
      </p:sp>
      <p:sp>
        <p:nvSpPr>
          <p:cNvPr id="12" name="arrow"/>
          <p:cNvSpPr/>
          <p:nvPr/>
        </p:nvSpPr>
        <p:spPr>
          <a:xfrm>
            <a:off x="5998464" y="2514600"/>
            <a:ext cx="201168" cy="292608"/>
          </a:xfrm>
          <a:prstGeom prst="rightArrow">
            <a:avLst/>
          </a:prstGeom>
          <a:solidFill>
            <a:srgbClr val="A2A9B3"/>
          </a:solidFill>
          <a:ln w="12700">
            <a:solidFill>
              <a:srgbClr val="A2A9B3"/>
            </a:solidFill>
            <a:prstDash val="solid"/>
          </a:ln>
        </p:spPr>
      </p:sp>
      <p:sp>
        <p:nvSpPr>
          <p:cNvPr id="13" name="step GUARD"/>
          <p:cNvSpPr/>
          <p:nvPr/>
        </p:nvSpPr>
        <p:spPr>
          <a:xfrm>
            <a:off x="6217920" y="1600200"/>
            <a:ext cx="2606040" cy="2103120"/>
          </a:xfrm>
          <a:prstGeom prst="roundRect">
            <a:avLst>
              <a:gd name="adj" fmla="val 3478"/>
            </a:avLst>
          </a:prstGeom>
          <a:solidFill>
            <a:schemeClr val="bg2"/>
          </a:solidFill>
          <a:ln w="9525">
            <a:solidFill>
              <a:schemeClr val="bg2"/>
            </a:solidFill>
            <a:prstDash val="solid"/>
          </a:ln>
        </p:spPr>
      </p:sp>
      <p:sp>
        <p:nvSpPr>
          <p:cNvPr id="14" name="dot"/>
          <p:cNvSpPr/>
          <p:nvPr/>
        </p:nvSpPr>
        <p:spPr>
          <a:xfrm>
            <a:off x="6446520" y="1828800"/>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694944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GUARD</a:t>
            </a:r>
            <a:endParaRPr lang="en-US" sz="1300" dirty="0"/>
          </a:p>
        </p:txBody>
      </p:sp>
      <p:sp>
        <p:nvSpPr>
          <p:cNvPr id="16" name="Text 14"/>
          <p:cNvSpPr txBox="1"/>
          <p:nvPr/>
        </p:nvSpPr>
        <p:spPr>
          <a:xfrm>
            <a:off x="644652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deterministic policy: window, depth, rate, reverse rating, cooldowns. Not AI. Refuses or passes</a:t>
            </a:r>
            <a:endParaRPr lang="en-US" sz="1200" dirty="0"/>
          </a:p>
        </p:txBody>
      </p:sp>
      <p:sp>
        <p:nvSpPr>
          <p:cNvPr id="17" name="arrow"/>
          <p:cNvSpPr/>
          <p:nvPr/>
        </p:nvSpPr>
        <p:spPr>
          <a:xfrm>
            <a:off x="8833104" y="2514600"/>
            <a:ext cx="201168" cy="292608"/>
          </a:xfrm>
          <a:prstGeom prst="rightArrow">
            <a:avLst/>
          </a:prstGeom>
          <a:solidFill>
            <a:srgbClr val="A2A9B3"/>
          </a:solidFill>
          <a:ln w="12700">
            <a:solidFill>
              <a:srgbClr val="A2A9B3"/>
            </a:solidFill>
            <a:prstDash val="solid"/>
          </a:ln>
        </p:spPr>
      </p:sp>
      <p:sp>
        <p:nvSpPr>
          <p:cNvPr id="18" name="step SIGN + PUBLISH"/>
          <p:cNvSpPr/>
          <p:nvPr/>
        </p:nvSpPr>
        <p:spPr>
          <a:xfrm>
            <a:off x="9052560" y="1600200"/>
            <a:ext cx="2606040" cy="2103120"/>
          </a:xfrm>
          <a:prstGeom prst="roundRect">
            <a:avLst>
              <a:gd name="adj" fmla="val 3478"/>
            </a:avLst>
          </a:prstGeom>
          <a:solidFill>
            <a:schemeClr val="bg2"/>
          </a:solidFill>
          <a:ln w="9525">
            <a:solidFill>
              <a:schemeClr val="bg2"/>
            </a:solidFill>
            <a:prstDash val="solid"/>
          </a:ln>
        </p:spPr>
      </p:sp>
      <p:sp>
        <p:nvSpPr>
          <p:cNvPr id="19" name="dot"/>
          <p:cNvSpPr/>
          <p:nvPr/>
        </p:nvSpPr>
        <p:spPr>
          <a:xfrm>
            <a:off x="9281160" y="1828800"/>
            <a:ext cx="384048" cy="384048"/>
          </a:xfrm>
          <a:prstGeom prst="ellipse">
            <a:avLst/>
          </a:prstGeom>
          <a:solidFill>
            <a:schemeClr val="accent5"/>
          </a:solidFill>
          <a:ln w="12700">
            <a:solidFill>
              <a:schemeClr val="accent5"/>
            </a:solidFill>
            <a:prstDash val="solid"/>
          </a:ln>
        </p:spPr>
      </p:sp>
      <p:sp>
        <p:nvSpPr>
          <p:cNvPr id="20" name="Text 18"/>
          <p:cNvSpPr txBox="1"/>
          <p:nvPr/>
        </p:nvSpPr>
        <p:spPr>
          <a:xfrm>
            <a:off x="9784080" y="1801368"/>
            <a:ext cx="1828800" cy="457200"/>
          </a:xfrm>
          <a:prstGeom prst="rect">
            <a:avLst/>
          </a:prstGeom>
          <a:noFill/>
          <a:ln/>
        </p:spPr>
        <p:txBody>
          <a:bodyPr wrap="square" lIns="0" tIns="0" rIns="0" bIns="0" rtlCol="0" anchor="t"/>
          <a:lstStyle/>
          <a:p>
            <a:pPr indent="0" marL="0">
              <a:buNone/>
            </a:pPr>
            <a:r>
              <a:rPr lang="en-US" sz="1300" b="1" dirty="0">
                <a:solidFill>
                  <a:schemeClr val="tx1"/>
                </a:solidFill>
                <a:latin typeface="Arial" pitchFamily="34" charset="0"/>
                <a:ea typeface="Arial" pitchFamily="34" charset="-122"/>
                <a:cs typeface="Arial" pitchFamily="34" charset="-120"/>
              </a:rPr>
              <a:t>SIGN + PUBLISH</a:t>
            </a:r>
            <a:endParaRPr lang="en-US" sz="1300" dirty="0"/>
          </a:p>
        </p:txBody>
      </p:sp>
      <p:sp>
        <p:nvSpPr>
          <p:cNvPr id="21" name="Text 19"/>
          <p:cNvSpPr txBox="1"/>
          <p:nvPr/>
        </p:nvSpPr>
        <p:spPr>
          <a:xfrm>
            <a:off x="9281160" y="2377440"/>
            <a:ext cx="2194560" cy="1280160"/>
          </a:xfrm>
          <a:prstGeom prst="rect">
            <a:avLst/>
          </a:prstGeom>
          <a:noFill/>
          <a:ln/>
        </p:spPr>
        <p:txBody>
          <a:bodyPr wrap="square" lIns="0" tIns="0" rIns="0" bIns="0" rtlCol="0" anchor="t"/>
          <a:lstStyle/>
          <a:p>
            <a:pPr indent="0" marL="0">
              <a:buNone/>
            </a:pPr>
            <a:r>
              <a:rPr lang="en-US" sz="1200" dirty="0">
                <a:solidFill>
                  <a:schemeClr val="tx2"/>
                </a:solidFill>
              </a:rPr>
              <a:t>Ed25519, one topic per segment, over TLS. Houses merge with owner limits and ack</a:t>
            </a:r>
            <a:endParaRPr lang="en-US" sz="1200" dirty="0"/>
          </a:p>
        </p:txBody>
      </p:sp>
      <p:sp>
        <p:nvSpPr>
          <p:cNvPr id="22" name="Text 20"/>
          <p:cNvSpPr txBox="1"/>
          <p:nvPr/>
        </p:nvSpPr>
        <p:spPr>
          <a:xfrm>
            <a:off x="548640" y="4023360"/>
            <a:ext cx="11091672" cy="21945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Three modes: autonomous, operator approves, off. In autonomous mode nothing waits for a human; the guard and the device-side bounds are the safety</a:t>
            </a:r>
            <a:endParaRPr lang="en-US" sz="1500" dirty="0"/>
          </a:p>
          <a:p>
            <a:pPr marL="342900" indent="-342900">
              <a:spcAft>
                <a:spcPts val="600"/>
              </a:spcAft>
              <a:buSzPct val="100000"/>
              <a:buChar char="•"/>
            </a:pPr>
            <a:r>
              <a:rPr lang="en-US" sz="1500" dirty="0">
                <a:solidFill>
                  <a:schemeClr val="tx1"/>
                </a:solidFill>
              </a:rPr>
              <a:t>Scope is physics: a street transformer is relieved only by its own houses; a feeder or substation by every house under it; a village can feed its neighbours through the 22 kV line</a:t>
            </a:r>
            <a:endParaRPr lang="en-US" sz="1500" dirty="0"/>
          </a:p>
          <a:p>
            <a:pPr marL="342900" indent="-342900">
              <a:spcAft>
                <a:spcPts val="600"/>
              </a:spcAft>
              <a:buSzPct val="100000"/>
              <a:buChar char="•"/>
            </a:pPr>
            <a:r>
              <a:rPr lang="en-US" sz="1500" dirty="0">
                <a:solidFill>
                  <a:schemeClr val="tx1"/>
                </a:solidFill>
              </a:rPr>
              <a:t>Every decision is logged with its reasoning, latency, verdict and the acks it earned. That log is the audit trail</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The monster is on a diet: water-filling flattens every street</a:t>
            </a:r>
            <a:endParaRPr lang="en-US" sz="3200" dirty="0"/>
          </a:p>
        </p:txBody>
      </p:sp>
      <p:pic>
        <p:nvPicPr>
          <p:cNvPr id="3" name="Vienna 24-hour plan: without Gridzilla, with the diet plan, level L" descr="/private/tmp/claude-501/-Users-mathew-Library-Mobile-Documents-com-apple-CloudDocs-Workspaces--ai-projects-hackaton/6847b38a-4405-4bc8-878f-68767b84da8f/scratchpad/deck/flatchart.png">    </p:cNvPr>
          <p:cNvPicPr>
            <a:picLocks noChangeAspect="1"/>
          </p:cNvPicPr>
          <p:nvPr/>
        </p:nvPicPr>
        <p:blipFill>
          <a:blip r:embed="rId1"/>
          <a:stretch>
            <a:fillRect/>
          </a:stretch>
        </p:blipFill>
        <p:spPr>
          <a:xfrm>
            <a:off x="548640" y="1417320"/>
            <a:ext cx="7863840" cy="4754880"/>
          </a:xfrm>
          <a:prstGeom prst="rect">
            <a:avLst/>
          </a:prstGeom>
        </p:spPr>
      </p:pic>
      <p:sp>
        <p:nvSpPr>
          <p:cNvPr id="4" name="stat the planner's forecast for tonight, of transformer rating: 23.7 MW becomes 13.4 MW. Measured result on the next slide"/>
          <p:cNvSpPr/>
          <p:nvPr/>
        </p:nvSpPr>
        <p:spPr>
          <a:xfrm>
            <a:off x="8686800" y="1417320"/>
            <a:ext cx="2926080" cy="1417320"/>
          </a:xfrm>
          <a:prstGeom prst="roundRect">
            <a:avLst>
              <a:gd name="adj" fmla="val 5161"/>
            </a:avLst>
          </a:prstGeom>
          <a:solidFill>
            <a:schemeClr val="bg2"/>
          </a:solidFill>
          <a:ln w="9525">
            <a:solidFill>
              <a:schemeClr val="bg2"/>
            </a:solidFill>
            <a:prstDash val="solid"/>
          </a:ln>
        </p:spPr>
      </p:sp>
      <p:sp>
        <p:nvSpPr>
          <p:cNvPr id="5" name="Text 2"/>
          <p:cNvSpPr txBox="1"/>
          <p:nvPr/>
        </p:nvSpPr>
        <p:spPr>
          <a:xfrm>
            <a:off x="8915400" y="1581912"/>
            <a:ext cx="246888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79 → 45 %</a:t>
            </a:r>
            <a:endParaRPr lang="en-US" sz="3600" dirty="0"/>
          </a:p>
        </p:txBody>
      </p:sp>
      <p:sp>
        <p:nvSpPr>
          <p:cNvPr id="6" name="Text 3"/>
          <p:cNvSpPr txBox="1"/>
          <p:nvPr/>
        </p:nvSpPr>
        <p:spPr>
          <a:xfrm>
            <a:off x="8915400" y="2313432"/>
            <a:ext cx="2468880" cy="457200"/>
          </a:xfrm>
          <a:prstGeom prst="rect">
            <a:avLst/>
          </a:prstGeom>
          <a:noFill/>
          <a:ln/>
        </p:spPr>
        <p:txBody>
          <a:bodyPr wrap="square" lIns="0" tIns="0" rIns="0" bIns="0" rtlCol="0" anchor="t"/>
          <a:lstStyle/>
          <a:p>
            <a:pPr indent="0" marL="0">
              <a:buNone/>
            </a:pPr>
            <a:r>
              <a:rPr lang="en-US" sz="1200" dirty="0">
                <a:solidFill>
                  <a:schemeClr val="tx2"/>
                </a:solidFill>
              </a:rPr>
              <a:t>the planner's forecast for tonight, of transformer rating: 23.7 MW becomes 13.4 MW. Measured result on the next slide</a:t>
            </a:r>
            <a:endParaRPr lang="en-US" sz="1200" dirty="0"/>
          </a:p>
        </p:txBody>
      </p:sp>
      <p:sp>
        <p:nvSpPr>
          <p:cNvPr id="7" name="stat of car charging moved from dinner into the night valley; every car full by 07:00"/>
          <p:cNvSpPr/>
          <p:nvPr/>
        </p:nvSpPr>
        <p:spPr>
          <a:xfrm>
            <a:off x="8686800" y="3017520"/>
            <a:ext cx="2926080" cy="1417320"/>
          </a:xfrm>
          <a:prstGeom prst="roundRect">
            <a:avLst>
              <a:gd name="adj" fmla="val 5161"/>
            </a:avLst>
          </a:prstGeom>
          <a:solidFill>
            <a:schemeClr val="bg2"/>
          </a:solidFill>
          <a:ln w="9525">
            <a:solidFill>
              <a:schemeClr val="bg2"/>
            </a:solidFill>
            <a:prstDash val="solid"/>
          </a:ln>
        </p:spPr>
      </p:sp>
      <p:sp>
        <p:nvSpPr>
          <p:cNvPr id="8" name="Text 5"/>
          <p:cNvSpPr txBox="1"/>
          <p:nvPr/>
        </p:nvSpPr>
        <p:spPr>
          <a:xfrm>
            <a:off x="8915400" y="3182112"/>
            <a:ext cx="246888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10.5 MWh</a:t>
            </a:r>
            <a:endParaRPr lang="en-US" sz="3600" dirty="0"/>
          </a:p>
        </p:txBody>
      </p:sp>
      <p:sp>
        <p:nvSpPr>
          <p:cNvPr id="9" name="Text 6"/>
          <p:cNvSpPr txBox="1"/>
          <p:nvPr/>
        </p:nvSpPr>
        <p:spPr>
          <a:xfrm>
            <a:off x="8915400" y="3913632"/>
            <a:ext cx="2468880" cy="457200"/>
          </a:xfrm>
          <a:prstGeom prst="rect">
            <a:avLst/>
          </a:prstGeom>
          <a:noFill/>
          <a:ln/>
        </p:spPr>
        <p:txBody>
          <a:bodyPr wrap="square" lIns="0" tIns="0" rIns="0" bIns="0" rtlCol="0" anchor="t"/>
          <a:lstStyle/>
          <a:p>
            <a:pPr indent="0" marL="0">
              <a:buNone/>
            </a:pPr>
            <a:r>
              <a:rPr lang="en-US" sz="1200" dirty="0">
                <a:solidFill>
                  <a:schemeClr val="tx2"/>
                </a:solidFill>
              </a:rPr>
              <a:t>of car charging moved from dinner into the night valley; every car full by 07:00</a:t>
            </a:r>
            <a:endParaRPr lang="en-US" sz="1200" dirty="0"/>
          </a:p>
        </p:txBody>
      </p:sp>
      <p:sp>
        <p:nvSpPr>
          <p:cNvPr id="10" name="stat the lowest level where the cars fit below it and the peak above it fits in the batteries. Two ceilings per 15 min, per house, signed, renewed every 2 h"/>
          <p:cNvSpPr/>
          <p:nvPr/>
        </p:nvSpPr>
        <p:spPr>
          <a:xfrm>
            <a:off x="8686800" y="4617720"/>
            <a:ext cx="2926080" cy="1417320"/>
          </a:xfrm>
          <a:prstGeom prst="roundRect">
            <a:avLst>
              <a:gd name="adj" fmla="val 5161"/>
            </a:avLst>
          </a:prstGeom>
          <a:solidFill>
            <a:schemeClr val="bg2"/>
          </a:solidFill>
          <a:ln w="9525">
            <a:solidFill>
              <a:schemeClr val="bg2"/>
            </a:solidFill>
            <a:prstDash val="solid"/>
          </a:ln>
        </p:spPr>
      </p:sp>
      <p:sp>
        <p:nvSpPr>
          <p:cNvPr id="11" name="Text 8"/>
          <p:cNvSpPr txBox="1"/>
          <p:nvPr/>
        </p:nvSpPr>
        <p:spPr>
          <a:xfrm>
            <a:off x="8915400" y="4782312"/>
            <a:ext cx="24688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L</a:t>
            </a:r>
            <a:endParaRPr lang="en-US" sz="3600" dirty="0"/>
          </a:p>
        </p:txBody>
      </p:sp>
      <p:sp>
        <p:nvSpPr>
          <p:cNvPr id="12" name="Text 9"/>
          <p:cNvSpPr txBox="1"/>
          <p:nvPr/>
        </p:nvSpPr>
        <p:spPr>
          <a:xfrm>
            <a:off x="8915400" y="5513832"/>
            <a:ext cx="2468880" cy="457200"/>
          </a:xfrm>
          <a:prstGeom prst="rect">
            <a:avLst/>
          </a:prstGeom>
          <a:noFill/>
          <a:ln/>
        </p:spPr>
        <p:txBody>
          <a:bodyPr wrap="square" lIns="0" tIns="0" rIns="0" bIns="0" rtlCol="0" anchor="t"/>
          <a:lstStyle/>
          <a:p>
            <a:pPr indent="0" marL="0">
              <a:buNone/>
            </a:pPr>
            <a:r>
              <a:rPr lang="en-US" sz="1200" dirty="0">
                <a:solidFill>
                  <a:schemeClr val="tx2"/>
                </a:solidFill>
              </a:rPr>
              <a:t>the lowest level where the cars fit below it and the peak above it fits in the batteries. Two ceilings per 15 min, per house, signed, renewed every 2 h</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What is real, what is modelled, and what the numbers mean</a:t>
            </a:r>
            <a:endParaRPr lang="en-US" sz="3200" dirty="0"/>
          </a:p>
        </p:txBody>
      </p:sp>
      <p:sp>
        <p:nvSpPr>
          <p:cNvPr id="3" name="real"/>
          <p:cNvSpPr/>
          <p:nvPr/>
        </p:nvSpPr>
        <p:spPr>
          <a:xfrm>
            <a:off x="548640" y="1371600"/>
            <a:ext cx="5486400" cy="2240280"/>
          </a:xfrm>
          <a:prstGeom prst="roundRect">
            <a:avLst>
              <a:gd name="adj" fmla="val 3265"/>
            </a:avLst>
          </a:prstGeom>
          <a:solidFill>
            <a:schemeClr val="bg2"/>
          </a:solidFill>
          <a:ln w="9525">
            <a:solidFill>
              <a:schemeClr val="bg2"/>
            </a:solidFill>
            <a:prstDash val="solid"/>
          </a:ln>
        </p:spPr>
      </p:sp>
      <p:sp>
        <p:nvSpPr>
          <p:cNvPr id="4" name="dot"/>
          <p:cNvSpPr/>
          <p:nvPr/>
        </p:nvSpPr>
        <p:spPr>
          <a:xfrm>
            <a:off x="731520" y="150876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34440" y="1463040"/>
            <a:ext cx="3657600" cy="411480"/>
          </a:xfrm>
          <a:prstGeom prst="rect">
            <a:avLst/>
          </a:prstGeom>
          <a:noFill/>
          <a:ln/>
        </p:spPr>
        <p:txBody>
          <a:bodyPr wrap="square" lIns="0" tIns="0" rIns="0" bIns="0" rtlCol="0" anchor="ctr"/>
          <a:lstStyle/>
          <a:p>
            <a:pPr indent="0" marL="0">
              <a:buNone/>
            </a:pPr>
            <a:r>
              <a:rPr lang="en-US" sz="1600" b="1" dirty="0">
                <a:solidFill>
                  <a:schemeClr val="accent3"/>
                </a:solidFill>
                <a:latin typeface="Arial" pitchFamily="34" charset="0"/>
                <a:ea typeface="Arial" pitchFamily="34" charset="-122"/>
                <a:cs typeface="Arial" pitchFamily="34" charset="-120"/>
              </a:rPr>
              <a:t>REAL TODAY</a:t>
            </a:r>
            <a:endParaRPr lang="en-US" sz="1600" dirty="0"/>
          </a:p>
        </p:txBody>
      </p:sp>
      <p:sp>
        <p:nvSpPr>
          <p:cNvPr id="6" name="Text 4"/>
          <p:cNvSpPr txBox="1"/>
          <p:nvPr/>
        </p:nvSpPr>
        <p:spPr>
          <a:xfrm>
            <a:off x="777240" y="1920240"/>
            <a:ext cx="5074920"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control path: signed signal in, a Victron plant and a Viessmann heat pump move, verified acks come back</a:t>
            </a:r>
            <a:endParaRPr lang="en-US" sz="1250" dirty="0"/>
          </a:p>
          <a:p>
            <a:pPr marL="342900" indent="-342900">
              <a:spcAft>
                <a:spcPts val="600"/>
              </a:spcAft>
              <a:buSzPct val="100000"/>
              <a:buChar char="•"/>
            </a:pPr>
            <a:r>
              <a:rPr lang="en-US" sz="1250" dirty="0">
                <a:solidFill>
                  <a:schemeClr val="tx1"/>
                </a:solidFill>
              </a:rPr>
              <a:t>The flattening algorithm and the guard, running on the fleet every two grid hours</a:t>
            </a:r>
            <a:endParaRPr lang="en-US" sz="1250" dirty="0"/>
          </a:p>
          <a:p>
            <a:pPr marL="342900" indent="-342900">
              <a:spcAft>
                <a:spcPts val="600"/>
              </a:spcAft>
              <a:buSzPct val="100000"/>
              <a:buChar char="•"/>
            </a:pPr>
            <a:r>
              <a:rPr lang="en-US" sz="1250" dirty="0">
                <a:solidFill>
                  <a:schemeClr val="tx1"/>
                </a:solidFill>
              </a:rPr>
              <a:t>Measured on streets with cars: 18-31 % off the evening peak, inside what published smart-charging and home-battery pilots report (3-6 kW per EV house, 1-2 kW per battery at the peak)</a:t>
            </a:r>
            <a:endParaRPr lang="en-US" sz="1250" dirty="0"/>
          </a:p>
        </p:txBody>
      </p:sp>
      <p:sp>
        <p:nvSpPr>
          <p:cNvPr id="7" name="modelled"/>
          <p:cNvSpPr/>
          <p:nvPr/>
        </p:nvSpPr>
        <p:spPr>
          <a:xfrm>
            <a:off x="6263640" y="1371600"/>
            <a:ext cx="5394960" cy="2240280"/>
          </a:xfrm>
          <a:prstGeom prst="roundRect">
            <a:avLst>
              <a:gd name="adj" fmla="val 3265"/>
            </a:avLst>
          </a:prstGeom>
          <a:solidFill>
            <a:schemeClr val="bg2"/>
          </a:solidFill>
          <a:ln w="9525">
            <a:solidFill>
              <a:schemeClr val="bg2"/>
            </a:solidFill>
            <a:prstDash val="solid"/>
          </a:ln>
        </p:spPr>
      </p:sp>
      <p:sp>
        <p:nvSpPr>
          <p:cNvPr id="8" name="dot"/>
          <p:cNvSpPr/>
          <p:nvPr/>
        </p:nvSpPr>
        <p:spPr>
          <a:xfrm>
            <a:off x="6446520" y="150876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6949440" y="1463040"/>
            <a:ext cx="3657600" cy="41148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MODELLED</a:t>
            </a:r>
            <a:endParaRPr lang="en-US" sz="1600" dirty="0"/>
          </a:p>
        </p:txBody>
      </p:sp>
      <p:sp>
        <p:nvSpPr>
          <p:cNvPr id="10" name="Text 8"/>
          <p:cNvSpPr txBox="1"/>
          <p:nvPr/>
        </p:nvSpPr>
        <p:spPr>
          <a:xfrm>
            <a:off x="6492240" y="192024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The fleet: 271 simulated households, each standing for 8 real ones: 2,184 program houses with 10-25 kWh batteries, 1,190 with an 11 kW charger needing 6-26 kWh a night</a:t>
            </a:r>
            <a:endParaRPr lang="en-US" sz="1250" dirty="0"/>
          </a:p>
          <a:p>
            <a:pPr marL="342900" indent="-342900">
              <a:spcAft>
                <a:spcPts val="600"/>
              </a:spcAft>
              <a:buSzPct val="100000"/>
              <a:buChar char="•"/>
            </a:pPr>
            <a:r>
              <a:rPr lang="en-US" sz="1250" dirty="0">
                <a:solidFill>
                  <a:schemeClr val="tx1"/>
                </a:solidFill>
              </a:rPr>
              <a:t>The "without" curve is the same houses with no signal: a car charges on 55 % of nights, arrivals spread over three hours, full power until full. No inflated coincidence</a:t>
            </a:r>
            <a:endParaRPr lang="en-US" sz="1250" dirty="0"/>
          </a:p>
          <a:p>
            <a:pPr marL="342900" indent="-342900">
              <a:spcAft>
                <a:spcPts val="600"/>
              </a:spcAft>
              <a:buSzPct val="100000"/>
              <a:buChar char="•"/>
            </a:pPr>
            <a:r>
              <a:rPr lang="en-US" sz="1250" dirty="0">
                <a:solidFill>
                  <a:schemeClr val="tx1"/>
                </a:solidFill>
              </a:rPr>
              <a:t>Program houses carry ~30 % of a street's evening load here: a 2030 picture, not a street today</a:t>
            </a:r>
            <a:endParaRPr lang="en-US" sz="1250" dirty="0"/>
          </a:p>
        </p:txBody>
      </p:sp>
      <p:sp>
        <p:nvSpPr>
          <p:cNvPr id="11" name="stat one street, Speising-22: 574 → 398 kW at the evening peak, 31 %, measured tonight"/>
          <p:cNvSpPr/>
          <p:nvPr/>
        </p:nvSpPr>
        <p:spPr>
          <a:xfrm>
            <a:off x="548640" y="3840480"/>
            <a:ext cx="2651760" cy="1417320"/>
          </a:xfrm>
          <a:prstGeom prst="roundRect">
            <a:avLst>
              <a:gd name="adj" fmla="val 5161"/>
            </a:avLst>
          </a:prstGeom>
          <a:solidFill>
            <a:schemeClr val="bg2"/>
          </a:solidFill>
          <a:ln w="9525">
            <a:solidFill>
              <a:schemeClr val="bg2"/>
            </a:solidFill>
            <a:prstDash val="solid"/>
          </a:ln>
        </p:spPr>
      </p:sp>
      <p:sp>
        <p:nvSpPr>
          <p:cNvPr id="12" name="Text 10"/>
          <p:cNvSpPr txBox="1"/>
          <p:nvPr/>
        </p:nvSpPr>
        <p:spPr>
          <a:xfrm>
            <a:off x="777240" y="4005072"/>
            <a:ext cx="219456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−176 kW</a:t>
            </a:r>
            <a:endParaRPr lang="en-US" sz="3600" dirty="0"/>
          </a:p>
        </p:txBody>
      </p:sp>
      <p:sp>
        <p:nvSpPr>
          <p:cNvPr id="13" name="Text 11"/>
          <p:cNvSpPr txBox="1"/>
          <p:nvPr/>
        </p:nvSpPr>
        <p:spPr>
          <a:xfrm>
            <a:off x="77724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one street, Speising-22: 574 → 398 kW at the evening peak, 31 %, measured tonight</a:t>
            </a:r>
            <a:endParaRPr lang="en-US" sz="1200" dirty="0"/>
          </a:p>
        </p:txBody>
      </p:sp>
      <p:sp>
        <p:nvSpPr>
          <p:cNvPr id="14" name="stat Vienna with 2,184 enrolled houses: 26.6 → 21.7 MW at the evening peak, 19 %, measured tonight"/>
          <p:cNvSpPr/>
          <p:nvPr/>
        </p:nvSpPr>
        <p:spPr>
          <a:xfrm>
            <a:off x="3383280" y="3840480"/>
            <a:ext cx="2651760" cy="1417320"/>
          </a:xfrm>
          <a:prstGeom prst="roundRect">
            <a:avLst>
              <a:gd name="adj" fmla="val 5161"/>
            </a:avLst>
          </a:prstGeom>
          <a:solidFill>
            <a:schemeClr val="bg2"/>
          </a:solidFill>
          <a:ln w="9525">
            <a:solidFill>
              <a:schemeClr val="bg2"/>
            </a:solidFill>
            <a:prstDash val="solid"/>
          </a:ln>
        </p:spPr>
      </p:sp>
      <p:sp>
        <p:nvSpPr>
          <p:cNvPr id="15" name="Text 13"/>
          <p:cNvSpPr txBox="1"/>
          <p:nvPr/>
        </p:nvSpPr>
        <p:spPr>
          <a:xfrm>
            <a:off x="3611880" y="4005072"/>
            <a:ext cx="219456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−5.2 MW</a:t>
            </a:r>
            <a:endParaRPr lang="en-US" sz="3600" dirty="0"/>
          </a:p>
        </p:txBody>
      </p:sp>
      <p:sp>
        <p:nvSpPr>
          <p:cNvPr id="16" name="Text 14"/>
          <p:cNvSpPr txBox="1"/>
          <p:nvPr/>
        </p:nvSpPr>
        <p:spPr>
          <a:xfrm>
            <a:off x="361188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Vienna with 2,184 enrolled houses: 26.6 → 21.7 MW at the evening peak, 19 %, measured tonight</a:t>
            </a:r>
            <a:endParaRPr lang="en-US" sz="1200" dirty="0"/>
          </a:p>
        </p:txBody>
      </p:sp>
      <p:sp>
        <p:nvSpPr>
          <p:cNvPr id="17" name="stat on a street where no car charged tonight: the gap is the cars and the batteries, nothing else"/>
          <p:cNvSpPr/>
          <p:nvPr/>
        </p:nvSpPr>
        <p:spPr>
          <a:xfrm>
            <a:off x="6217920" y="3840480"/>
            <a:ext cx="2651760" cy="1417320"/>
          </a:xfrm>
          <a:prstGeom prst="roundRect">
            <a:avLst>
              <a:gd name="adj" fmla="val 5161"/>
            </a:avLst>
          </a:prstGeom>
          <a:solidFill>
            <a:schemeClr val="bg2"/>
          </a:solidFill>
          <a:ln w="9525">
            <a:solidFill>
              <a:schemeClr val="bg2"/>
            </a:solidFill>
            <a:prstDash val="solid"/>
          </a:ln>
        </p:spPr>
      </p:sp>
      <p:sp>
        <p:nvSpPr>
          <p:cNvPr id="18" name="Text 16"/>
          <p:cNvSpPr txBox="1"/>
          <p:nvPr/>
        </p:nvSpPr>
        <p:spPr>
          <a:xfrm>
            <a:off x="6446520" y="4005072"/>
            <a:ext cx="219456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 kW</a:t>
            </a:r>
            <a:endParaRPr lang="en-US" sz="3600" dirty="0"/>
          </a:p>
        </p:txBody>
      </p:sp>
      <p:sp>
        <p:nvSpPr>
          <p:cNvPr id="19" name="Text 17"/>
          <p:cNvSpPr txBox="1"/>
          <p:nvPr/>
        </p:nvSpPr>
        <p:spPr>
          <a:xfrm>
            <a:off x="6446520" y="4736592"/>
            <a:ext cx="2194560" cy="457200"/>
          </a:xfrm>
          <a:prstGeom prst="rect">
            <a:avLst/>
          </a:prstGeom>
          <a:noFill/>
          <a:ln/>
        </p:spPr>
        <p:txBody>
          <a:bodyPr wrap="square" lIns="0" tIns="0" rIns="0" bIns="0" rtlCol="0" anchor="t"/>
          <a:lstStyle/>
          <a:p>
            <a:pPr indent="0" marL="0">
              <a:buNone/>
            </a:pPr>
            <a:r>
              <a:rPr lang="en-US" sz="1200" dirty="0">
                <a:solidFill>
                  <a:schemeClr val="tx2"/>
                </a:solidFill>
              </a:rPr>
              <a:t>on a street where no car charged tonight: the gap is the cars and the batteries, nothing else</a:t>
            </a:r>
            <a:endParaRPr lang="en-US" sz="1200" dirty="0"/>
          </a:p>
        </p:txBody>
      </p:sp>
      <p:sp>
        <p:nvSpPr>
          <p:cNvPr id="20" name="stat real house in the fleet tonight. The fleet is the part we are asking you to build"/>
          <p:cNvSpPr/>
          <p:nvPr/>
        </p:nvSpPr>
        <p:spPr>
          <a:xfrm>
            <a:off x="9052560" y="3840480"/>
            <a:ext cx="2606040" cy="1417320"/>
          </a:xfrm>
          <a:prstGeom prst="roundRect">
            <a:avLst>
              <a:gd name="adj" fmla="val 5161"/>
            </a:avLst>
          </a:prstGeom>
          <a:solidFill>
            <a:schemeClr val="bg2"/>
          </a:solidFill>
          <a:ln w="9525">
            <a:solidFill>
              <a:schemeClr val="bg2"/>
            </a:solidFill>
            <a:prstDash val="solid"/>
          </a:ln>
        </p:spPr>
      </p:sp>
      <p:sp>
        <p:nvSpPr>
          <p:cNvPr id="21" name="Text 19"/>
          <p:cNvSpPr txBox="1"/>
          <p:nvPr/>
        </p:nvSpPr>
        <p:spPr>
          <a:xfrm>
            <a:off x="9281160" y="4005072"/>
            <a:ext cx="2148840" cy="731520"/>
          </a:xfrm>
          <a:prstGeom prst="rect">
            <a:avLst/>
          </a:prstGeom>
          <a:noFill/>
          <a:ln/>
        </p:spPr>
        <p:txBody>
          <a:bodyPr wrap="square" lIns="0" tIns="0" rIns="0" bIns="0" rtlCol="0" anchor="t"/>
          <a:lstStyle/>
          <a:p>
            <a:pPr indent="0" marL="0">
              <a:buNone/>
            </a:pPr>
            <a:r>
              <a:rPr lang="en-US" sz="3600" b="1" dirty="0">
                <a:solidFill>
                  <a:schemeClr val="tx2"/>
                </a:solidFill>
                <a:latin typeface="Arial" pitchFamily="34" charset="0"/>
                <a:ea typeface="Arial" pitchFamily="34" charset="-122"/>
                <a:cs typeface="Arial" pitchFamily="34" charset="-120"/>
              </a:rPr>
              <a:t>1</a:t>
            </a:r>
            <a:endParaRPr lang="en-US" sz="3600" dirty="0"/>
          </a:p>
        </p:txBody>
      </p:sp>
      <p:sp>
        <p:nvSpPr>
          <p:cNvPr id="22" name="Text 20"/>
          <p:cNvSpPr txBox="1"/>
          <p:nvPr/>
        </p:nvSpPr>
        <p:spPr>
          <a:xfrm>
            <a:off x="9281160" y="4736592"/>
            <a:ext cx="2148840" cy="457200"/>
          </a:xfrm>
          <a:prstGeom prst="rect">
            <a:avLst/>
          </a:prstGeom>
          <a:noFill/>
          <a:ln/>
        </p:spPr>
        <p:txBody>
          <a:bodyPr wrap="square" lIns="0" tIns="0" rIns="0" bIns="0" rtlCol="0" anchor="t"/>
          <a:lstStyle/>
          <a:p>
            <a:pPr indent="0" marL="0">
              <a:buNone/>
            </a:pPr>
            <a:r>
              <a:rPr lang="en-US" sz="1200" dirty="0">
                <a:solidFill>
                  <a:schemeClr val="tx2"/>
                </a:solidFill>
              </a:rPr>
              <a:t>real house in the fleet tonight. The fleet is the part we are asking you to build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Live, three windows: this deck, the Gridzilla board, VRM</a:t>
            </a:r>
            <a:endParaRPr lang="en-US" sz="3200" dirty="0"/>
          </a:p>
        </p:txBody>
      </p:sp>
      <p:pic>
        <p:nvPicPr>
          <p:cNvPr id="3" name="Presentation view of the live board" descr="/private/tmp/claude-501/-Users-mathew-Library-Mobile-Documents-com-apple-CloudDocs-Workspaces--ai-projects-hackaton/6847b38a-4405-4bc8-878f-68767b84da8f/scratchpad/deck/board.png">    </p:cNvPr>
          <p:cNvPicPr>
            <a:picLocks noChangeAspect="1"/>
          </p:cNvPicPr>
          <p:nvPr/>
        </p:nvPicPr>
        <p:blipFill>
          <a:blip r:embed="rId1"/>
          <a:stretch>
            <a:fillRect/>
          </a:stretch>
        </p:blipFill>
        <p:spPr>
          <a:xfrm>
            <a:off x="548640" y="1371600"/>
            <a:ext cx="7589520" cy="4389120"/>
          </a:xfrm>
          <a:prstGeom prst="rect">
            <a:avLst/>
          </a:prstGeom>
        </p:spPr>
      </p:pic>
      <p:sp>
        <p:nvSpPr>
          <p:cNvPr id="4" name="demo script"/>
          <p:cNvSpPr/>
          <p:nvPr/>
        </p:nvSpPr>
        <p:spPr>
          <a:xfrm>
            <a:off x="8412480" y="1371600"/>
            <a:ext cx="3200400" cy="4389120"/>
          </a:xfrm>
          <a:prstGeom prst="roundRect">
            <a:avLst>
              <a:gd name="adj" fmla="val 2286"/>
            </a:avLst>
          </a:prstGeom>
          <a:solidFill>
            <a:schemeClr val="bg2"/>
          </a:solidFill>
          <a:ln w="9525">
            <a:solidFill>
              <a:schemeClr val="bg2"/>
            </a:solidFill>
            <a:prstDash val="solid"/>
          </a:ln>
        </p:spPr>
      </p:sp>
      <p:sp>
        <p:nvSpPr>
          <p:cNvPr id="5" name="Text 2"/>
          <p:cNvSpPr txBox="1"/>
          <p:nvPr/>
        </p:nvSpPr>
        <p:spPr>
          <a:xfrm>
            <a:off x="8641080" y="1508760"/>
            <a:ext cx="2743200" cy="365760"/>
          </a:xfrm>
          <a:prstGeom prst="rect">
            <a:avLst/>
          </a:prstGeom>
          <a:noFill/>
          <a:ln/>
        </p:spPr>
        <p:txBody>
          <a:bodyPr wrap="square" lIns="0" tIns="0" rIns="0" bIns="0" rtlCol="0" anchor="t"/>
          <a:lstStyle/>
          <a:p>
            <a:pPr indent="0" marL="0">
              <a:buNone/>
            </a:pPr>
            <a:r>
              <a:rPr lang="en-US" sz="1500" b="1" dirty="0">
                <a:solidFill>
                  <a:schemeClr val="accent1"/>
                </a:solidFill>
              </a:rPr>
              <a:t>Four minutes, alt-tab</a:t>
            </a:r>
            <a:endParaRPr lang="en-US" sz="1500" dirty="0"/>
          </a:p>
        </p:txBody>
      </p:sp>
      <p:sp>
        <p:nvSpPr>
          <p:cNvPr id="6" name="Text 3"/>
          <p:cNvSpPr txBox="1"/>
          <p:nvPr/>
        </p:nvSpPr>
        <p:spPr>
          <a:xfrm>
            <a:off x="8641080" y="1965960"/>
            <a:ext cx="2788920" cy="36576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Board: city view, 72 transformers, 272 households live, one of them real</a:t>
            </a:r>
            <a:endParaRPr lang="en-US" sz="1250" dirty="0"/>
          </a:p>
          <a:p>
            <a:pPr marL="342900" indent="-342900">
              <a:spcAft>
                <a:spcPts val="600"/>
              </a:spcAft>
              <a:buSzPct val="100000"/>
              <a:buChar char="•"/>
            </a:pPr>
            <a:r>
              <a:rPr lang="en-US" sz="1250" dirty="0">
                <a:solidFill>
                  <a:schemeClr val="tx1"/>
                </a:solidFill>
              </a:rPr>
              <a:t>Board: one DeepSeek review, sense, decide, guard, signed signal, countdown</a:t>
            </a:r>
            <a:endParaRPr lang="en-US" sz="1250" dirty="0"/>
          </a:p>
          <a:p>
            <a:pPr marL="342900" indent="-342900">
              <a:spcAft>
                <a:spcPts val="600"/>
              </a:spcAft>
              <a:buSzPct val="100000"/>
              <a:buChar char="•"/>
            </a:pPr>
            <a:r>
              <a:rPr lang="en-US" sz="1250" dirty="0">
                <a:solidFill>
                  <a:schemeClr val="tx1"/>
                </a:solidFill>
              </a:rPr>
              <a:t>Board: the curve, with vs without, on the transformer it chose</a:t>
            </a:r>
            <a:endParaRPr lang="en-US" sz="1250" dirty="0"/>
          </a:p>
          <a:p>
            <a:pPr marL="342900" indent="-342900">
              <a:spcAft>
                <a:spcPts val="600"/>
              </a:spcAft>
              <a:buSzPct val="100000"/>
              <a:buChar char="•"/>
            </a:pPr>
            <a:r>
              <a:rPr lang="en-US" sz="1250" dirty="0">
                <a:solidFill>
                  <a:schemeClr val="tx1"/>
                </a:solidFill>
              </a:rPr>
              <a:t>Board, Flattening tab: the 24 h diet plan for Vienna, then one street; cars moved into the valley, batteries eat the peak</a:t>
            </a:r>
            <a:endParaRPr lang="en-US" sz="1250" dirty="0"/>
          </a:p>
          <a:p>
            <a:pPr marL="342900" indent="-342900">
              <a:spcAft>
                <a:spcPts val="600"/>
              </a:spcAft>
              <a:buSzPct val="100000"/>
              <a:buChar char="•"/>
            </a:pPr>
            <a:r>
              <a:rPr lang="en-US" sz="1250" dirty="0">
                <a:solidFill>
                  <a:schemeClr val="tx1"/>
                </a:solidFill>
              </a:rPr>
              <a:t>Board, pin Blatnica: send SUPPORT from the Manual tab; tiles move within seconds</a:t>
            </a:r>
            <a:endParaRPr lang="en-US" sz="1250" dirty="0"/>
          </a:p>
          <a:p>
            <a:pPr marL="342900" indent="-342900">
              <a:spcAft>
                <a:spcPts val="600"/>
              </a:spcAft>
              <a:buSzPct val="100000"/>
              <a:buChar char="•"/>
            </a:pPr>
            <a:r>
              <a:rPr lang="en-US" sz="1250" dirty="0">
                <a:solidFill>
                  <a:schemeClr val="tx1"/>
                </a:solidFill>
              </a:rPr>
              <a:t>VRM: the same plant from Victron's side, grid setpoint and battery power reacting</a:t>
            </a:r>
            <a:endParaRPr lang="en-US" sz="1250" dirty="0"/>
          </a:p>
          <a:p>
            <a:pPr marL="342900" indent="-342900">
              <a:spcAft>
                <a:spcPts val="600"/>
              </a:spcAft>
              <a:buSzPct val="100000"/>
              <a:buChar char="•"/>
            </a:pPr>
            <a:r>
              <a:rPr lang="en-US" sz="1250" dirty="0">
                <a:solidFill>
                  <a:schemeClr val="tx1"/>
                </a:solidFill>
              </a:rPr>
              <a:t>Board: pause the heartbeat, every house reverts to owner mode</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Everything on that screen runs on real infrastructure today</a:t>
            </a:r>
            <a:endParaRPr lang="en-US" sz="3200" dirty="0"/>
          </a:p>
        </p:txBody>
      </p:sp>
      <p:sp>
        <p:nvSpPr>
          <p:cNvPr id="3" name="stat households on the board, 8,070 houses represented"/>
          <p:cNvSpPr/>
          <p:nvPr/>
        </p:nvSpPr>
        <p:spPr>
          <a:xfrm>
            <a:off x="548640" y="1463040"/>
            <a:ext cx="2697480" cy="1417320"/>
          </a:xfrm>
          <a:prstGeom prst="roundRect">
            <a:avLst>
              <a:gd name="adj" fmla="val 5161"/>
            </a:avLst>
          </a:prstGeom>
          <a:solidFill>
            <a:schemeClr val="bg2"/>
          </a:solidFill>
          <a:ln w="9525">
            <a:solidFill>
              <a:schemeClr val="bg2"/>
            </a:solidFill>
            <a:prstDash val="solid"/>
          </a:ln>
        </p:spPr>
      </p:sp>
      <p:sp>
        <p:nvSpPr>
          <p:cNvPr id="4" name="Text 2"/>
          <p:cNvSpPr txBox="1"/>
          <p:nvPr/>
        </p:nvSpPr>
        <p:spPr>
          <a:xfrm>
            <a:off x="777240" y="1627632"/>
            <a:ext cx="22402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272</a:t>
            </a:r>
            <a:endParaRPr lang="en-US" sz="3600" dirty="0"/>
          </a:p>
        </p:txBody>
      </p:sp>
      <p:sp>
        <p:nvSpPr>
          <p:cNvPr id="5" name="Text 3"/>
          <p:cNvSpPr txBox="1"/>
          <p:nvPr/>
        </p:nvSpPr>
        <p:spPr>
          <a:xfrm>
            <a:off x="77724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households on the board, 8,070 houses represented</a:t>
            </a:r>
            <a:endParaRPr lang="en-US" sz="1200" dirty="0"/>
          </a:p>
        </p:txBody>
      </p:sp>
      <p:sp>
        <p:nvSpPr>
          <p:cNvPr id="6" name="stat street transformers, 24 feeders, 8 substations with Wiener Netze names"/>
          <p:cNvSpPr/>
          <p:nvPr/>
        </p:nvSpPr>
        <p:spPr>
          <a:xfrm>
            <a:off x="3383280" y="1463040"/>
            <a:ext cx="2697480" cy="1417320"/>
          </a:xfrm>
          <a:prstGeom prst="roundRect">
            <a:avLst>
              <a:gd name="adj" fmla="val 5161"/>
            </a:avLst>
          </a:prstGeom>
          <a:solidFill>
            <a:schemeClr val="bg2"/>
          </a:solidFill>
          <a:ln w="9525">
            <a:solidFill>
              <a:schemeClr val="bg2"/>
            </a:solidFill>
            <a:prstDash val="solid"/>
          </a:ln>
        </p:spPr>
      </p:sp>
      <p:sp>
        <p:nvSpPr>
          <p:cNvPr id="7" name="Text 5"/>
          <p:cNvSpPr txBox="1"/>
          <p:nvPr/>
        </p:nvSpPr>
        <p:spPr>
          <a:xfrm>
            <a:off x="3611880" y="1627632"/>
            <a:ext cx="22402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72</a:t>
            </a:r>
            <a:endParaRPr lang="en-US" sz="3600" dirty="0"/>
          </a:p>
        </p:txBody>
      </p:sp>
      <p:sp>
        <p:nvSpPr>
          <p:cNvPr id="8" name="Text 6"/>
          <p:cNvSpPr txBox="1"/>
          <p:nvPr/>
        </p:nvSpPr>
        <p:spPr>
          <a:xfrm>
            <a:off x="361188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street transformers, 24 feeders, 8 substations with Wiener Netze names</a:t>
            </a:r>
            <a:endParaRPr lang="en-US" sz="1200" dirty="0"/>
          </a:p>
        </p:txBody>
      </p:sp>
      <p:sp>
        <p:nvSpPr>
          <p:cNvPr id="9" name="stat real devices: a Victron plant and a Viessmann heat pump, 60 km from here"/>
          <p:cNvSpPr/>
          <p:nvPr/>
        </p:nvSpPr>
        <p:spPr>
          <a:xfrm>
            <a:off x="6217920" y="1463040"/>
            <a:ext cx="2697480" cy="1417320"/>
          </a:xfrm>
          <a:prstGeom prst="roundRect">
            <a:avLst>
              <a:gd name="adj" fmla="val 5161"/>
            </a:avLst>
          </a:prstGeom>
          <a:solidFill>
            <a:schemeClr val="bg2"/>
          </a:solidFill>
          <a:ln w="9525">
            <a:solidFill>
              <a:schemeClr val="bg2"/>
            </a:solidFill>
            <a:prstDash val="solid"/>
          </a:ln>
        </p:spPr>
      </p:sp>
      <p:sp>
        <p:nvSpPr>
          <p:cNvPr id="10" name="Text 8"/>
          <p:cNvSpPr txBox="1"/>
          <p:nvPr/>
        </p:nvSpPr>
        <p:spPr>
          <a:xfrm>
            <a:off x="6446520" y="1627632"/>
            <a:ext cx="224028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2</a:t>
            </a:r>
            <a:endParaRPr lang="en-US" sz="3600" dirty="0"/>
          </a:p>
        </p:txBody>
      </p:sp>
      <p:sp>
        <p:nvSpPr>
          <p:cNvPr id="11" name="Text 9"/>
          <p:cNvSpPr txBox="1"/>
          <p:nvPr/>
        </p:nvSpPr>
        <p:spPr>
          <a:xfrm>
            <a:off x="6446520" y="2359152"/>
            <a:ext cx="2240280" cy="457200"/>
          </a:xfrm>
          <a:prstGeom prst="rect">
            <a:avLst/>
          </a:prstGeom>
          <a:noFill/>
          <a:ln/>
        </p:spPr>
        <p:txBody>
          <a:bodyPr wrap="square" lIns="0" tIns="0" rIns="0" bIns="0" rtlCol="0" anchor="t"/>
          <a:lstStyle/>
          <a:p>
            <a:pPr indent="0" marL="0">
              <a:buNone/>
            </a:pPr>
            <a:r>
              <a:rPr lang="en-US" sz="1200" dirty="0">
                <a:solidFill>
                  <a:schemeClr val="tx2"/>
                </a:solidFill>
              </a:rPr>
              <a:t>real devices: a Victron plant and a Viessmann heat pump, 60 km from here</a:t>
            </a:r>
            <a:endParaRPr lang="en-US" sz="1200" dirty="0"/>
          </a:p>
        </p:txBody>
      </p:sp>
      <p:sp>
        <p:nvSpPr>
          <p:cNvPr id="12" name="stat DeepSeek decision latency on the DGX Spark"/>
          <p:cNvSpPr/>
          <p:nvPr/>
        </p:nvSpPr>
        <p:spPr>
          <a:xfrm>
            <a:off x="9052560" y="1463040"/>
            <a:ext cx="2587752" cy="1417320"/>
          </a:xfrm>
          <a:prstGeom prst="roundRect">
            <a:avLst>
              <a:gd name="adj" fmla="val 5161"/>
            </a:avLst>
          </a:prstGeom>
          <a:solidFill>
            <a:schemeClr val="bg2"/>
          </a:solidFill>
          <a:ln w="9525">
            <a:solidFill>
              <a:schemeClr val="bg2"/>
            </a:solidFill>
            <a:prstDash val="solid"/>
          </a:ln>
        </p:spPr>
      </p:sp>
      <p:sp>
        <p:nvSpPr>
          <p:cNvPr id="13" name="Text 11"/>
          <p:cNvSpPr txBox="1"/>
          <p:nvPr/>
        </p:nvSpPr>
        <p:spPr>
          <a:xfrm>
            <a:off x="9281160" y="1627632"/>
            <a:ext cx="2130552"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~3 s</a:t>
            </a:r>
            <a:endParaRPr lang="en-US" sz="3600" dirty="0"/>
          </a:p>
        </p:txBody>
      </p:sp>
      <p:sp>
        <p:nvSpPr>
          <p:cNvPr id="14" name="Text 12"/>
          <p:cNvSpPr txBox="1"/>
          <p:nvPr/>
        </p:nvSpPr>
        <p:spPr>
          <a:xfrm>
            <a:off x="9281160" y="2359152"/>
            <a:ext cx="2130552" cy="457200"/>
          </a:xfrm>
          <a:prstGeom prst="rect">
            <a:avLst/>
          </a:prstGeom>
          <a:noFill/>
          <a:ln/>
        </p:spPr>
        <p:txBody>
          <a:bodyPr wrap="square" lIns="0" tIns="0" rIns="0" bIns="0" rtlCol="0" anchor="t"/>
          <a:lstStyle/>
          <a:p>
            <a:pPr indent="0" marL="0">
              <a:buNone/>
            </a:pPr>
            <a:r>
              <a:rPr lang="en-US" sz="1200" dirty="0">
                <a:solidFill>
                  <a:schemeClr val="tx2"/>
                </a:solidFill>
              </a:rPr>
              <a:t>DeepSeek decision latency on the DGX Spark</a:t>
            </a:r>
            <a:endParaRPr lang="en-US" sz="1200" dirty="0"/>
          </a:p>
        </p:txBody>
      </p:sp>
      <p:sp>
        <p:nvSpPr>
          <p:cNvPr id="15" name="dot"/>
          <p:cNvSpPr/>
          <p:nvPr/>
        </p:nvSpPr>
        <p:spPr>
          <a:xfrm>
            <a:off x="548640" y="3200400"/>
            <a:ext cx="384048" cy="384048"/>
          </a:xfrm>
          <a:prstGeom prst="ellipse">
            <a:avLst/>
          </a:prstGeom>
          <a:solidFill>
            <a:schemeClr val="accent1"/>
          </a:solidFill>
          <a:ln w="12700">
            <a:solidFill>
              <a:schemeClr val="accent1"/>
            </a:solidFill>
            <a:prstDash val="solid"/>
          </a:ln>
        </p:spPr>
      </p:sp>
      <p:sp>
        <p:nvSpPr>
          <p:cNvPr id="16" name="Text 14"/>
          <p:cNvSpPr txBox="1"/>
          <p:nvPr/>
        </p:nvSpPr>
        <p:spPr>
          <a:xfrm>
            <a:off x="1097280" y="3154680"/>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Real plant</a:t>
            </a:r>
            <a:endParaRPr lang="en-US" sz="1400" dirty="0"/>
          </a:p>
        </p:txBody>
      </p:sp>
      <p:sp>
        <p:nvSpPr>
          <p:cNvPr id="17" name="Text 15"/>
          <p:cNvSpPr txBox="1"/>
          <p:nvPr/>
        </p:nvSpPr>
        <p:spPr>
          <a:xfrm>
            <a:off x="1097280" y="3474720"/>
            <a:ext cx="4937760" cy="640080"/>
          </a:xfrm>
          <a:prstGeom prst="rect">
            <a:avLst/>
          </a:prstGeom>
          <a:noFill/>
          <a:ln/>
        </p:spPr>
        <p:txBody>
          <a:bodyPr wrap="square" lIns="0" tIns="0" rIns="0" bIns="0" rtlCol="0" anchor="t"/>
          <a:lstStyle/>
          <a:p>
            <a:pPr indent="0" marL="0">
              <a:buNone/>
            </a:pPr>
            <a:r>
              <a:rPr lang="en-US" sz="1150" dirty="0">
                <a:solidFill>
                  <a:schemeClr val="tx2"/>
                </a:solidFill>
              </a:rPr>
              <a:t>Cerbo GX on Venus OS Large, a 53-node Node-RED agent we deploy over the admin API; EV Charging Station throttled first; ESS limits written and restored</a:t>
            </a:r>
            <a:endParaRPr lang="en-US" sz="1150" dirty="0"/>
          </a:p>
        </p:txBody>
      </p:sp>
      <p:sp>
        <p:nvSpPr>
          <p:cNvPr id="18" name="dot"/>
          <p:cNvSpPr/>
          <p:nvPr/>
        </p:nvSpPr>
        <p:spPr>
          <a:xfrm>
            <a:off x="6217920" y="320040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6766560" y="3154680"/>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Heat pump</a:t>
            </a:r>
            <a:endParaRPr lang="en-US" sz="1400" dirty="0"/>
          </a:p>
        </p:txBody>
      </p:sp>
      <p:sp>
        <p:nvSpPr>
          <p:cNvPr id="20" name="Text 18"/>
          <p:cNvSpPr txBox="1"/>
          <p:nvPr/>
        </p:nvSpPr>
        <p:spPr>
          <a:xfrm>
            <a:off x="6766560" y="3474720"/>
            <a:ext cx="4937760" cy="640080"/>
          </a:xfrm>
          <a:prstGeom prst="rect">
            <a:avLst/>
          </a:prstGeom>
          <a:noFill/>
          <a:ln/>
        </p:spPr>
        <p:txBody>
          <a:bodyPr wrap="square" lIns="0" tIns="0" rIns="0" bIns="0" rtlCol="0" anchor="t"/>
          <a:lstStyle/>
          <a:p>
            <a:pPr indent="0" marL="0">
              <a:buNone/>
            </a:pPr>
            <a:r>
              <a:rPr lang="en-US" sz="1150" dirty="0">
                <a:solidFill>
                  <a:schemeClr val="tx2"/>
                </a:solidFill>
              </a:rPr>
              <a:t>Vitocal CU401B through the ViCare REST API with a refresh token; hot-water setpoint and one-time charge, verified on the unit</a:t>
            </a:r>
            <a:endParaRPr lang="en-US" sz="1150" dirty="0"/>
          </a:p>
        </p:txBody>
      </p:sp>
      <p:sp>
        <p:nvSpPr>
          <p:cNvPr id="21" name="dot"/>
          <p:cNvSpPr/>
          <p:nvPr/>
        </p:nvSpPr>
        <p:spPr>
          <a:xfrm>
            <a:off x="548640" y="4187952"/>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1097280" y="4142232"/>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Transport</a:t>
            </a:r>
            <a:endParaRPr lang="en-US" sz="1400" dirty="0"/>
          </a:p>
        </p:txBody>
      </p:sp>
      <p:sp>
        <p:nvSpPr>
          <p:cNvPr id="23" name="Text 21"/>
          <p:cNvSpPr txBox="1"/>
          <p:nvPr/>
        </p:nvSpPr>
        <p:spPr>
          <a:xfrm>
            <a:off x="1097280" y="4462272"/>
            <a:ext cx="4937760" cy="640080"/>
          </a:xfrm>
          <a:prstGeom prst="rect">
            <a:avLst/>
          </a:prstGeom>
          <a:noFill/>
          <a:ln/>
        </p:spPr>
        <p:txBody>
          <a:bodyPr wrap="square" lIns="0" tIns="0" rIns="0" bIns="0" rtlCol="0" anchor="t"/>
          <a:lstStyle/>
          <a:p>
            <a:pPr indent="0" marL="0">
              <a:buNone/>
            </a:pPr>
            <a:r>
              <a:rPr lang="en-US" sz="1150" dirty="0">
                <a:solidFill>
                  <a:schemeClr val="tx2"/>
                </a:solidFill>
              </a:rPr>
              <a:t>Mosquitto on our own server, Let's Encrypt, TLS only, credentials and topic access lists; devices open outbound connections only</a:t>
            </a:r>
            <a:endParaRPr lang="en-US" sz="1150" dirty="0"/>
          </a:p>
        </p:txBody>
      </p:sp>
      <p:sp>
        <p:nvSpPr>
          <p:cNvPr id="24" name="dot"/>
          <p:cNvSpPr/>
          <p:nvPr/>
        </p:nvSpPr>
        <p:spPr>
          <a:xfrm>
            <a:off x="6217920" y="4187952"/>
            <a:ext cx="384048" cy="384048"/>
          </a:xfrm>
          <a:prstGeom prst="ellipse">
            <a:avLst/>
          </a:prstGeom>
          <a:solidFill>
            <a:schemeClr val="accent1"/>
          </a:solidFill>
          <a:ln w="12700">
            <a:solidFill>
              <a:schemeClr val="accent1"/>
            </a:solidFill>
            <a:prstDash val="solid"/>
          </a:ln>
        </p:spPr>
      </p:sp>
      <p:sp>
        <p:nvSpPr>
          <p:cNvPr id="25" name="Text 23"/>
          <p:cNvSpPr txBox="1"/>
          <p:nvPr/>
        </p:nvSpPr>
        <p:spPr>
          <a:xfrm>
            <a:off x="6766560" y="4142232"/>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Platform</a:t>
            </a:r>
            <a:endParaRPr lang="en-US" sz="1400" dirty="0"/>
          </a:p>
        </p:txBody>
      </p:sp>
      <p:sp>
        <p:nvSpPr>
          <p:cNvPr id="26" name="Text 24"/>
          <p:cNvSpPr txBox="1"/>
          <p:nvPr/>
        </p:nvSpPr>
        <p:spPr>
          <a:xfrm>
            <a:off x="6766560" y="4462272"/>
            <a:ext cx="4937760" cy="640080"/>
          </a:xfrm>
          <a:prstGeom prst="rect">
            <a:avLst/>
          </a:prstGeom>
          <a:noFill/>
          <a:ln/>
        </p:spPr>
        <p:txBody>
          <a:bodyPr wrap="square" lIns="0" tIns="0" rIns="0" bIns="0" rtlCol="0" anchor="t"/>
          <a:lstStyle/>
          <a:p>
            <a:pPr indent="0" marL="0">
              <a:buNone/>
            </a:pPr>
            <a:r>
              <a:rPr lang="en-US" sz="1150" dirty="0">
                <a:solidFill>
                  <a:schemeClr val="tx2"/>
                </a:solidFill>
              </a:rPr>
              <a:t>FastAPI on a Ubuntu box behind Apache and Let's Encrypt; registry tree, guard, signing, history, autopilot; public board at gridzilla.victronlab.sk</a:t>
            </a:r>
            <a:endParaRPr lang="en-US" sz="1150" dirty="0"/>
          </a:p>
        </p:txBody>
      </p:sp>
      <p:sp>
        <p:nvSpPr>
          <p:cNvPr id="27" name="dot"/>
          <p:cNvSpPr/>
          <p:nvPr/>
        </p:nvSpPr>
        <p:spPr>
          <a:xfrm>
            <a:off x="548640" y="5175504"/>
            <a:ext cx="384048" cy="384048"/>
          </a:xfrm>
          <a:prstGeom prst="ellipse">
            <a:avLst/>
          </a:prstGeom>
          <a:solidFill>
            <a:schemeClr val="accent1"/>
          </a:solidFill>
          <a:ln w="12700">
            <a:solidFill>
              <a:schemeClr val="accent1"/>
            </a:solidFill>
            <a:prstDash val="solid"/>
          </a:ln>
        </p:spPr>
      </p:sp>
      <p:sp>
        <p:nvSpPr>
          <p:cNvPr id="28" name="Text 26"/>
          <p:cNvSpPr txBox="1"/>
          <p:nvPr/>
        </p:nvSpPr>
        <p:spPr>
          <a:xfrm>
            <a:off x="1097280" y="5129784"/>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Simulation</a:t>
            </a:r>
            <a:endParaRPr lang="en-US" sz="1400" dirty="0"/>
          </a:p>
        </p:txBody>
      </p:sp>
      <p:sp>
        <p:nvSpPr>
          <p:cNvPr id="29" name="Text 27"/>
          <p:cNvSpPr txBox="1"/>
          <p:nvPr/>
        </p:nvSpPr>
        <p:spPr>
          <a:xfrm>
            <a:off x="1097280" y="5449824"/>
            <a:ext cx="4937760" cy="640080"/>
          </a:xfrm>
          <a:prstGeom prst="rect">
            <a:avLst/>
          </a:prstGeom>
          <a:noFill/>
          <a:ln/>
        </p:spPr>
        <p:txBody>
          <a:bodyPr wrap="square" lIns="0" tIns="0" rIns="0" bIns="0" rtlCol="0" anchor="t"/>
          <a:lstStyle/>
          <a:p>
            <a:pPr indent="0" marL="0">
              <a:buNone/>
            </a:pPr>
            <a:r>
              <a:rPr lang="en-US" sz="1150" dirty="0">
                <a:solidFill>
                  <a:schemeClr val="tx2"/>
                </a:solidFill>
              </a:rPr>
              <a:t>262 households with battery, PV, EV commutes, heat pumps and boilers with real tank physics; each agent speaks the same protocol as the Cerbo</a:t>
            </a:r>
            <a:endParaRPr lang="en-US" sz="1150" dirty="0"/>
          </a:p>
        </p:txBody>
      </p:sp>
      <p:sp>
        <p:nvSpPr>
          <p:cNvPr id="30" name="dot"/>
          <p:cNvSpPr/>
          <p:nvPr/>
        </p:nvSpPr>
        <p:spPr>
          <a:xfrm>
            <a:off x="6217920" y="5175504"/>
            <a:ext cx="384048" cy="384048"/>
          </a:xfrm>
          <a:prstGeom prst="ellipse">
            <a:avLst/>
          </a:prstGeom>
          <a:solidFill>
            <a:schemeClr val="accent1"/>
          </a:solidFill>
          <a:ln w="12700">
            <a:solidFill>
              <a:schemeClr val="accent1"/>
            </a:solidFill>
            <a:prstDash val="solid"/>
          </a:ln>
        </p:spPr>
      </p:sp>
      <p:sp>
        <p:nvSpPr>
          <p:cNvPr id="31" name="Text 29"/>
          <p:cNvSpPr txBox="1"/>
          <p:nvPr/>
        </p:nvSpPr>
        <p:spPr>
          <a:xfrm>
            <a:off x="6766560" y="5129784"/>
            <a:ext cx="493776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Protocol</a:t>
            </a:r>
            <a:endParaRPr lang="en-US" sz="1400" dirty="0"/>
          </a:p>
        </p:txBody>
      </p:sp>
      <p:sp>
        <p:nvSpPr>
          <p:cNvPr id="32" name="Text 30"/>
          <p:cNvSpPr txBox="1"/>
          <p:nvPr/>
        </p:nvSpPr>
        <p:spPr>
          <a:xfrm>
            <a:off x="6766560" y="5449824"/>
            <a:ext cx="4937760" cy="640080"/>
          </a:xfrm>
          <a:prstGeom prst="rect">
            <a:avLst/>
          </a:prstGeom>
          <a:noFill/>
          <a:ln/>
        </p:spPr>
        <p:txBody>
          <a:bodyPr wrap="square" lIns="0" tIns="0" rIns="0" bIns="0" rtlCol="0" anchor="t"/>
          <a:lstStyle/>
          <a:p>
            <a:pPr indent="0" marL="0">
              <a:buNone/>
            </a:pPr>
            <a:r>
              <a:rPr lang="en-US" sz="1150" dirty="0">
                <a:solidFill>
                  <a:schemeClr val="tx2"/>
                </a:solidFill>
              </a:rPr>
              <a:t>Frozen as PROTOCOL.md with JSON Schemas for envelope, signal and ack; any vendor can implement the eight functions from it</a:t>
            </a:r>
            <a:endParaRPr lang="en-US" sz="11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Any vendor, four lines each. Any household, paid on the meter</a:t>
            </a:r>
            <a:endParaRPr lang="en-US" sz="3200" dirty="0"/>
          </a:p>
        </p:txBody>
      </p:sp>
      <p:sp>
        <p:nvSpPr>
          <p:cNvPr id="3" name="vendors"/>
          <p:cNvSpPr/>
          <p:nvPr/>
        </p:nvSpPr>
        <p:spPr>
          <a:xfrm>
            <a:off x="548640" y="1463040"/>
            <a:ext cx="5486400" cy="4663440"/>
          </a:xfrm>
          <a:prstGeom prst="roundRect">
            <a:avLst>
              <a:gd name="adj" fmla="val 1569"/>
            </a:avLst>
          </a:prstGeom>
          <a:solidFill>
            <a:schemeClr val="bg2"/>
          </a:solidFill>
          <a:ln w="9525">
            <a:solidFill>
              <a:schemeClr val="bg2"/>
            </a:solidFill>
            <a:prstDash val="solid"/>
          </a:ln>
        </p:spPr>
      </p:sp>
      <p:sp>
        <p:nvSpPr>
          <p:cNvPr id="4" name="Text 2"/>
          <p:cNvSpPr txBox="1"/>
          <p:nvPr/>
        </p:nvSpPr>
        <p:spPr>
          <a:xfrm>
            <a:off x="777240" y="1600200"/>
            <a:ext cx="5029200" cy="365760"/>
          </a:xfrm>
          <a:prstGeom prst="rect">
            <a:avLst/>
          </a:prstGeom>
          <a:noFill/>
          <a:ln/>
        </p:spPr>
        <p:txBody>
          <a:bodyPr wrap="square" lIns="0" tIns="0" rIns="0" bIns="0" rtlCol="0" anchor="t"/>
          <a:lstStyle/>
          <a:p>
            <a:pPr indent="0" marL="0">
              <a:buNone/>
            </a:pPr>
            <a:r>
              <a:rPr lang="en-US" sz="1500" b="1" dirty="0">
                <a:solidFill>
                  <a:schemeClr val="accent1"/>
                </a:solidFill>
              </a:rPr>
              <a:t>Three paths to the same agent</a:t>
            </a:r>
            <a:endParaRPr lang="en-US" sz="1500" dirty="0"/>
          </a:p>
        </p:txBody>
      </p:sp>
      <p:sp>
        <p:nvSpPr>
          <p:cNvPr id="5" name="Text 3"/>
          <p:cNvSpPr txBox="1"/>
          <p:nvPr/>
        </p:nvSpPr>
        <p:spPr>
          <a:xfrm>
            <a:off x="777240" y="2057400"/>
            <a:ext cx="502920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Vendor cloud: GoodWe SEMS, Huawei FusionSolar, SolarEdge, Tesla Fleet, SMA, Fronius. Export limit, discharge to cover load, forced discharge schedule, grid charge schedule</a:t>
            </a:r>
            <a:endParaRPr lang="en-US" sz="1300" dirty="0"/>
          </a:p>
          <a:p>
            <a:pPr marL="342900" indent="-342900">
              <a:spcAft>
                <a:spcPts val="600"/>
              </a:spcAft>
              <a:buSzPct val="100000"/>
              <a:buChar char="•"/>
            </a:pPr>
            <a:r>
              <a:rPr lang="en-US" sz="1300" dirty="0">
                <a:solidFill>
                  <a:schemeClr val="tx1"/>
                </a:solidFill>
              </a:rPr>
              <a:t>Local controller: Home Assistant, EVCC, OpenEMS, SunSpec Modbus. What the demo runs on Node-RED today</a:t>
            </a:r>
            <a:endParaRPr lang="en-US" sz="1300" dirty="0"/>
          </a:p>
          <a:p>
            <a:pPr marL="342900" indent="-342900">
              <a:spcAft>
                <a:spcPts val="600"/>
              </a:spcAft>
              <a:buSzPct val="100000"/>
              <a:buChar char="•"/>
            </a:pPr>
            <a:r>
              <a:rPr lang="en-US" sz="1300" dirty="0">
                <a:solidFill>
                  <a:schemeClr val="tx1"/>
                </a:solidFill>
              </a:rPr>
              <a:t>Standards gateway: EEBus LPC and LPP are literally our import and export caps; OpenADR 3, IEC 61850, OCPP 2.0.1 for chargers</a:t>
            </a:r>
            <a:endParaRPr lang="en-US" sz="1300" dirty="0"/>
          </a:p>
          <a:p>
            <a:pPr marL="342900" indent="-342900">
              <a:spcAft>
                <a:spcPts val="600"/>
              </a:spcAft>
              <a:buSzPct val="100000"/>
              <a:buChar char="•"/>
            </a:pPr>
            <a:r>
              <a:rPr lang="en-US" sz="1300" dirty="0">
                <a:solidFill>
                  <a:schemeClr val="tx1"/>
                </a:solidFill>
              </a:rPr>
              <a:t>GoodWe is one apply function away: the registers and the hardware are on the team</a:t>
            </a:r>
            <a:endParaRPr lang="en-US" sz="1300" dirty="0"/>
          </a:p>
        </p:txBody>
      </p:sp>
      <p:sp>
        <p:nvSpPr>
          <p:cNvPr id="6" name="incentives"/>
          <p:cNvSpPr/>
          <p:nvPr/>
        </p:nvSpPr>
        <p:spPr>
          <a:xfrm>
            <a:off x="6217920" y="1463040"/>
            <a:ext cx="5422392" cy="4663440"/>
          </a:xfrm>
          <a:prstGeom prst="roundRect">
            <a:avLst>
              <a:gd name="adj" fmla="val 1569"/>
            </a:avLst>
          </a:prstGeom>
          <a:solidFill>
            <a:schemeClr val="bg2"/>
          </a:solidFill>
          <a:ln w="9525">
            <a:solidFill>
              <a:schemeClr val="bg2"/>
            </a:solidFill>
            <a:prstDash val="solid"/>
          </a:ln>
        </p:spPr>
      </p:sp>
      <p:sp>
        <p:nvSpPr>
          <p:cNvPr id="7" name="Text 5"/>
          <p:cNvSpPr txBox="1"/>
          <p:nvPr/>
        </p:nvSpPr>
        <p:spPr>
          <a:xfrm>
            <a:off x="6446520" y="1600200"/>
            <a:ext cx="5029200" cy="365760"/>
          </a:xfrm>
          <a:prstGeom prst="rect">
            <a:avLst/>
          </a:prstGeom>
          <a:noFill/>
          <a:ln/>
        </p:spPr>
        <p:txBody>
          <a:bodyPr wrap="square" lIns="0" tIns="0" rIns="0" bIns="0" rtlCol="0" anchor="t"/>
          <a:lstStyle/>
          <a:p>
            <a:pPr indent="0" marL="0">
              <a:buNone/>
            </a:pPr>
            <a:r>
              <a:rPr lang="en-US" sz="1500" b="1" dirty="0">
                <a:solidFill>
                  <a:schemeClr val="accent3"/>
                </a:solidFill>
              </a:rPr>
              <a:t>Why a DSO pays and a household joins</a:t>
            </a:r>
            <a:endParaRPr lang="en-US" sz="1500" dirty="0"/>
          </a:p>
        </p:txBody>
      </p:sp>
      <p:sp>
        <p:nvSpPr>
          <p:cNvPr id="8" name="Text 6"/>
          <p:cNvSpPr txBox="1"/>
          <p:nvPr/>
        </p:nvSpPr>
        <p:spPr>
          <a:xfrm>
            <a:off x="6446520" y="2057400"/>
            <a:ext cx="4983480" cy="3931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Limits are verifiable, reductions are not: the DSO's own smart meter answers yes or no per 15-minute interval. No baseline to inflate</a:t>
            </a:r>
            <a:endParaRPr lang="en-US" sz="1300" dirty="0"/>
          </a:p>
          <a:p>
            <a:pPr marL="342900" indent="-342900">
              <a:spcAft>
                <a:spcPts val="600"/>
              </a:spcAft>
              <a:buSzPct val="100000"/>
              <a:buChar char="•"/>
            </a:pPr>
            <a:r>
              <a:rPr lang="en-US" sz="1300" dirty="0">
                <a:solidFill>
                  <a:schemeClr val="tx1"/>
                </a:solidFill>
              </a:rPr>
              <a:t>No ack, no pay; compliance gates the perks; the DSO's existing disconnect is the backstop in a crisis</a:t>
            </a:r>
            <a:endParaRPr lang="en-US" sz="1300" dirty="0"/>
          </a:p>
          <a:p>
            <a:pPr marL="342900" indent="-342900">
              <a:spcAft>
                <a:spcPts val="600"/>
              </a:spcAft>
              <a:buSzPct val="100000"/>
              <a:buChar char="•"/>
            </a:pPr>
            <a:r>
              <a:rPr lang="en-US" sz="1300" dirty="0">
                <a:solidFill>
                  <a:schemeClr val="tx1"/>
                </a:solidFill>
              </a:rPr>
              <a:t>The hook: a dynamic export limit beats today's static cap on all but a few afternoons, and gets a refused connection approved</a:t>
            </a:r>
            <a:endParaRPr lang="en-US" sz="1300" dirty="0"/>
          </a:p>
          <a:p>
            <a:pPr marL="342900" indent="-342900">
              <a:spcAft>
                <a:spcPts val="600"/>
              </a:spcAft>
              <a:buSzPct val="100000"/>
              <a:buChar char="•"/>
            </a:pPr>
            <a:r>
              <a:rPr lang="en-US" sz="1300" dirty="0">
                <a:solidFill>
                  <a:schemeClr val="tx1"/>
                </a:solidFill>
              </a:rPr>
              <a:t>Plus an availability fee, per-kWh payment for forced feed-in, a full battery before an outage, and a shorter shedding queue</a:t>
            </a:r>
            <a:endParaRPr lang="en-US" sz="1300" dirty="0"/>
          </a:p>
          <a:p>
            <a:pPr marL="342900" indent="-342900">
              <a:spcAft>
                <a:spcPts val="600"/>
              </a:spcAft>
              <a:buSzPct val="100000"/>
              <a:buChar char="•"/>
            </a:pPr>
            <a:r>
              <a:rPr lang="en-US" sz="1300" dirty="0">
                <a:solidFill>
                  <a:schemeClr val="tx1"/>
                </a:solidFill>
              </a:rPr>
              <a:t>Noon export is worthless when everyone exports; the same kilowatt-hours leave at six, paid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Production at a DSO: the effort, the cost, the saving</a:t>
            </a:r>
            <a:endParaRPr lang="en-US" sz="3200" dirty="0"/>
          </a:p>
        </p:txBody>
      </p:sp>
      <p:sp>
        <p:nvSpPr>
          <p:cNvPr id="3" name="effort"/>
          <p:cNvSpPr/>
          <p:nvPr/>
        </p:nvSpPr>
        <p:spPr>
          <a:xfrm>
            <a:off x="548640" y="1371600"/>
            <a:ext cx="3611880" cy="4480560"/>
          </a:xfrm>
          <a:prstGeom prst="roundRect">
            <a:avLst>
              <a:gd name="adj" fmla="val 2025"/>
            </a:avLst>
          </a:prstGeom>
          <a:solidFill>
            <a:schemeClr val="bg2"/>
          </a:solidFill>
          <a:ln w="9525">
            <a:solidFill>
              <a:schemeClr val="bg2"/>
            </a:solidFill>
            <a:prstDash val="solid"/>
          </a:ln>
        </p:spPr>
      </p:sp>
      <p:sp>
        <p:nvSpPr>
          <p:cNvPr id="4" name="dot"/>
          <p:cNvSpPr/>
          <p:nvPr/>
        </p:nvSpPr>
        <p:spPr>
          <a:xfrm>
            <a:off x="731520" y="150876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1234440" y="1463040"/>
            <a:ext cx="2743200" cy="411480"/>
          </a:xfrm>
          <a:prstGeom prst="rect">
            <a:avLst/>
          </a:prstGeom>
          <a:noFill/>
          <a:ln/>
        </p:spPr>
        <p:txBody>
          <a:bodyPr wrap="square" lIns="0" tIns="0" rIns="0" bIns="0" rtlCol="0" anchor="ctr"/>
          <a:lstStyle/>
          <a:p>
            <a:pPr indent="0" marL="0">
              <a:buNone/>
            </a:pPr>
            <a:r>
              <a:rPr lang="en-US" sz="1600" b="1" dirty="0">
                <a:solidFill>
                  <a:schemeClr val="accent2"/>
                </a:solidFill>
                <a:latin typeface="Arial" pitchFamily="34" charset="0"/>
                <a:ea typeface="Arial" pitchFamily="34" charset="-122"/>
                <a:cs typeface="Arial" pitchFamily="34" charset="-120"/>
              </a:rPr>
              <a:t>EFFORT</a:t>
            </a:r>
            <a:endParaRPr lang="en-US" sz="1600" dirty="0"/>
          </a:p>
        </p:txBody>
      </p:sp>
      <p:sp>
        <p:nvSpPr>
          <p:cNvPr id="6" name="Text 4"/>
          <p:cNvSpPr txBox="1"/>
          <p:nvPr/>
        </p:nvSpPr>
        <p:spPr>
          <a:xfrm>
            <a:off x="77724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Protocol and agents are the small part; they exist</a:t>
            </a:r>
            <a:endParaRPr lang="en-US" sz="1450" dirty="0"/>
          </a:p>
          <a:p>
            <a:pPr marL="342900" indent="-342900">
              <a:spcAft>
                <a:spcPts val="600"/>
              </a:spcAft>
              <a:buSzPct val="100000"/>
              <a:buChar char="•"/>
            </a:pPr>
            <a:r>
              <a:rPr lang="en-US" sz="1450" dirty="0">
                <a:solidFill>
                  <a:schemeClr val="tx1"/>
                </a:solidFill>
              </a:rPr>
              <a:t>The DSO must add: enrolment bound to the meter point and operator login, a PKI with key rotation, settlement on meter data, the real network model feeding the tree and ratings, 24/7 operations, NIS2 and energy-law compliance</a:t>
            </a:r>
            <a:endParaRPr lang="en-US" sz="1450" dirty="0"/>
          </a:p>
          <a:p>
            <a:pPr marL="342900" indent="-342900">
              <a:spcAft>
                <a:spcPts val="600"/>
              </a:spcAft>
              <a:buSzPct val="100000"/>
              <a:buChar char="•"/>
            </a:pPr>
            <a:r>
              <a:rPr lang="en-US" sz="1450" dirty="0">
                <a:solidFill>
                  <a:schemeClr val="tx1"/>
                </a:solidFill>
              </a:rPr>
              <a:t>10-house pilot on one transformer: 3 months</a:t>
            </a:r>
            <a:endParaRPr lang="en-US" sz="1450" dirty="0"/>
          </a:p>
          <a:p>
            <a:pPr marL="342900" indent="-342900">
              <a:spcAft>
                <a:spcPts val="600"/>
              </a:spcAft>
              <a:buSzPct val="100000"/>
              <a:buChar char="•"/>
            </a:pPr>
            <a:r>
              <a:rPr lang="en-US" sz="1450" dirty="0">
                <a:solidFill>
                  <a:schemeClr val="tx1"/>
                </a:solidFill>
              </a:rPr>
              <a:t>A district of a few thousand homes: 12-18 months, 6-8 people, roughly 1.5-3 M€ including the security audit</a:t>
            </a:r>
            <a:endParaRPr lang="en-US" sz="1450" dirty="0"/>
          </a:p>
        </p:txBody>
      </p:sp>
      <p:sp>
        <p:nvSpPr>
          <p:cNvPr id="7" name="cost"/>
          <p:cNvSpPr/>
          <p:nvPr/>
        </p:nvSpPr>
        <p:spPr>
          <a:xfrm>
            <a:off x="4297680" y="1371600"/>
            <a:ext cx="3611880" cy="4480560"/>
          </a:xfrm>
          <a:prstGeom prst="roundRect">
            <a:avLst>
              <a:gd name="adj" fmla="val 2025"/>
            </a:avLst>
          </a:prstGeom>
          <a:solidFill>
            <a:schemeClr val="bg2"/>
          </a:solidFill>
          <a:ln w="9525">
            <a:solidFill>
              <a:schemeClr val="bg2"/>
            </a:solidFill>
            <a:prstDash val="solid"/>
          </a:ln>
        </p:spPr>
      </p:sp>
      <p:sp>
        <p:nvSpPr>
          <p:cNvPr id="8" name="dot"/>
          <p:cNvSpPr/>
          <p:nvPr/>
        </p:nvSpPr>
        <p:spPr>
          <a:xfrm>
            <a:off x="4480560" y="1508760"/>
            <a:ext cx="384048" cy="384048"/>
          </a:xfrm>
          <a:prstGeom prst="ellipse">
            <a:avLst/>
          </a:prstGeom>
          <a:solidFill>
            <a:schemeClr val="accent1"/>
          </a:solidFill>
          <a:ln w="12700">
            <a:solidFill>
              <a:schemeClr val="accent1"/>
            </a:solidFill>
            <a:prstDash val="solid"/>
          </a:ln>
        </p:spPr>
      </p:sp>
      <p:sp>
        <p:nvSpPr>
          <p:cNvPr id="9" name="Text 7"/>
          <p:cNvSpPr txBox="1"/>
          <p:nvPr/>
        </p:nvSpPr>
        <p:spPr>
          <a:xfrm>
            <a:off x="4983480" y="1463040"/>
            <a:ext cx="2743200" cy="411480"/>
          </a:xfrm>
          <a:prstGeom prst="rect">
            <a:avLst/>
          </a:prstGeom>
          <a:noFill/>
          <a:ln/>
        </p:spPr>
        <p:txBody>
          <a:bodyPr wrap="square" lIns="0" tIns="0" rIns="0" bIns="0" rtlCol="0" anchor="ctr"/>
          <a:lstStyle/>
          <a:p>
            <a:pPr indent="0" marL="0">
              <a:buNone/>
            </a:pPr>
            <a:r>
              <a:rPr lang="en-US" sz="1600" b="1" dirty="0">
                <a:solidFill>
                  <a:schemeClr val="accent1"/>
                </a:solidFill>
                <a:latin typeface="Arial" pitchFamily="34" charset="0"/>
                <a:ea typeface="Arial" pitchFamily="34" charset="-122"/>
                <a:cs typeface="Arial" pitchFamily="34" charset="-120"/>
              </a:rPr>
              <a:t>COST TO RUN</a:t>
            </a:r>
            <a:endParaRPr lang="en-US" sz="1600" dirty="0"/>
          </a:p>
        </p:txBody>
      </p:sp>
      <p:sp>
        <p:nvSpPr>
          <p:cNvPr id="10" name="Text 8"/>
          <p:cNvSpPr txBox="1"/>
          <p:nvPr/>
        </p:nvSpPr>
        <p:spPr>
          <a:xfrm>
            <a:off x="452628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The platform is cheap: two servers and a broker</a:t>
            </a:r>
            <a:endParaRPr lang="en-US" sz="1450" dirty="0"/>
          </a:p>
          <a:p>
            <a:pPr marL="342900" indent="-342900">
              <a:spcAft>
                <a:spcPts val="600"/>
              </a:spcAft>
              <a:buSzPct val="100000"/>
              <a:buChar char="•"/>
            </a:pPr>
            <a:r>
              <a:rPr lang="en-US" sz="1450" dirty="0">
                <a:solidFill>
                  <a:schemeClr val="tx1"/>
                </a:solidFill>
              </a:rPr>
              <a:t>The real cost is the incentive: a flat 100-200 € per enrolled house per year, plus energy at crisis prices during STRETCH and SUPPORT</a:t>
            </a:r>
            <a:endParaRPr lang="en-US" sz="1450" dirty="0"/>
          </a:p>
          <a:p>
            <a:pPr marL="342900" indent="-342900">
              <a:spcAft>
                <a:spcPts val="600"/>
              </a:spcAft>
              <a:buSzPct val="100000"/>
              <a:buChar char="•"/>
            </a:pPr>
            <a:r>
              <a:rPr lang="en-US" sz="1450" dirty="0">
                <a:solidFill>
                  <a:schemeClr val="tx1"/>
                </a:solidFill>
              </a:rPr>
              <a:t>Paid only to houses whose meter proves they followed the signal. No enforcement, no payment, no saving</a:t>
            </a:r>
            <a:endParaRPr lang="en-US" sz="1450" dirty="0"/>
          </a:p>
        </p:txBody>
      </p:sp>
      <p:sp>
        <p:nvSpPr>
          <p:cNvPr id="11" name="saving"/>
          <p:cNvSpPr/>
          <p:nvPr/>
        </p:nvSpPr>
        <p:spPr>
          <a:xfrm>
            <a:off x="8046720" y="1371600"/>
            <a:ext cx="3611880" cy="4480560"/>
          </a:xfrm>
          <a:prstGeom prst="roundRect">
            <a:avLst>
              <a:gd name="adj" fmla="val 2025"/>
            </a:avLst>
          </a:prstGeom>
          <a:solidFill>
            <a:schemeClr val="bg2"/>
          </a:solidFill>
          <a:ln w="9525">
            <a:solidFill>
              <a:schemeClr val="bg2"/>
            </a:solidFill>
            <a:prstDash val="solid"/>
          </a:ln>
        </p:spPr>
      </p:sp>
      <p:sp>
        <p:nvSpPr>
          <p:cNvPr id="12" name="dot"/>
          <p:cNvSpPr/>
          <p:nvPr/>
        </p:nvSpPr>
        <p:spPr>
          <a:xfrm>
            <a:off x="8229600" y="1508760"/>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8732520" y="1463040"/>
            <a:ext cx="2743200" cy="411480"/>
          </a:xfrm>
          <a:prstGeom prst="rect">
            <a:avLst/>
          </a:prstGeom>
          <a:noFill/>
          <a:ln/>
        </p:spPr>
        <p:txBody>
          <a:bodyPr wrap="square" lIns="0" tIns="0" rIns="0" bIns="0" rtlCol="0" anchor="ctr"/>
          <a:lstStyle/>
          <a:p>
            <a:pPr indent="0" marL="0">
              <a:buNone/>
            </a:pPr>
            <a:r>
              <a:rPr lang="en-US" sz="1600" b="1" dirty="0">
                <a:solidFill>
                  <a:schemeClr val="accent3"/>
                </a:solidFill>
                <a:latin typeface="Arial" pitchFamily="34" charset="0"/>
                <a:ea typeface="Arial" pitchFamily="34" charset="-122"/>
                <a:cs typeface="Arial" pitchFamily="34" charset="-120"/>
              </a:rPr>
              <a:t>SAVING</a:t>
            </a:r>
            <a:endParaRPr lang="en-US" sz="1600" dirty="0"/>
          </a:p>
        </p:txBody>
      </p:sp>
      <p:sp>
        <p:nvSpPr>
          <p:cNvPr id="14" name="Text 12"/>
          <p:cNvSpPr txBox="1"/>
          <p:nvPr/>
        </p:nvSpPr>
        <p:spPr>
          <a:xfrm>
            <a:off x="8275320" y="196596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Street transformer upgrade 50-150 k€, feeder reinforcement hundreds of k€, a substation tens of M€</a:t>
            </a:r>
            <a:endParaRPr lang="en-US" sz="1450" dirty="0"/>
          </a:p>
          <a:p>
            <a:pPr marL="342900" indent="-342900">
              <a:spcAft>
                <a:spcPts val="600"/>
              </a:spcAft>
              <a:buSzPct val="100000"/>
              <a:buChar char="•"/>
            </a:pPr>
            <a:r>
              <a:rPr lang="en-US" sz="1450" dirty="0">
                <a:solidFill>
                  <a:schemeClr val="tx1"/>
                </a:solidFill>
              </a:rPr>
              <a:t>Every street held at ~70 % at the evening peak defers the reinforcement the EV and heat-pump wave otherwise forces this decade</a:t>
            </a:r>
            <a:endParaRPr lang="en-US" sz="1450" dirty="0"/>
          </a:p>
          <a:p>
            <a:pPr marL="342900" indent="-342900">
              <a:spcAft>
                <a:spcPts val="600"/>
              </a:spcAft>
              <a:buSzPct val="100000"/>
              <a:buChar char="•"/>
            </a:pPr>
            <a:r>
              <a:rPr lang="en-US" sz="1450" dirty="0">
                <a:solidFill>
                  <a:schemeClr val="tx1"/>
                </a:solidFill>
              </a:rPr>
              <a:t>Vienna scale: hundreds of M€ of capex deferred against a few M€ a year of incentives</a:t>
            </a:r>
            <a:endParaRPr lang="en-US" sz="1450" dirty="0"/>
          </a:p>
          <a:p>
            <a:pPr marL="342900" indent="-342900">
              <a:spcAft>
                <a:spcPts val="600"/>
              </a:spcAft>
              <a:buSzPct val="100000"/>
              <a:buChar char="•"/>
            </a:pPr>
            <a:r>
              <a:rPr lang="en-US" sz="1450" dirty="0">
                <a:solidFill>
                  <a:schemeClr val="tx1"/>
                </a:solidFill>
              </a:rPr>
              <a:t>Plus a tool for the outage: PREPARE before it, RECOVER after it, and with grid-forming inverters STRETCH keeps a dark street alive from its own batteries</a:t>
            </a:r>
            <a:endParaRPr lang="en-US" sz="14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dot"/>
          <p:cNvSpPr/>
          <p:nvPr/>
        </p:nvSpPr>
        <p:spPr>
          <a:xfrm>
            <a:off x="548640" y="1417320"/>
            <a:ext cx="384048" cy="384048"/>
          </a:xfrm>
          <a:prstGeom prst="ellipse">
            <a:avLst/>
          </a:prstGeom>
          <a:solidFill>
            <a:schemeClr val="accent1"/>
          </a:solidFill>
          <a:ln w="12700">
            <a:solidFill>
              <a:schemeClr val="accent1"/>
            </a:solidFill>
            <a:prstDash val="solid"/>
          </a:ln>
        </p:spPr>
      </p:sp>
      <p:sp>
        <p:nvSpPr>
          <p:cNvPr id="3" name="Text 1"/>
          <p:cNvSpPr txBox="1"/>
          <p:nvPr/>
        </p:nvSpPr>
        <p:spPr>
          <a:xfrm>
            <a:off x="1097280" y="1371600"/>
            <a:ext cx="5486400"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NEXT</a:t>
            </a:r>
            <a:endParaRPr lang="en-US" sz="2000" dirty="0"/>
          </a:p>
        </p:txBody>
      </p:sp>
      <p:sp>
        <p:nvSpPr>
          <p:cNvPr id="4"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5400" b="1" dirty="0">
                <a:solidFill>
                  <a:schemeClr val="tx1"/>
                </a:solidFill>
              </a:rPr>
              <a:t>A pilot street, a second vendor, a DSO that wants the signal</a:t>
            </a:r>
            <a:endParaRPr lang="en-US" sz="5400" dirty="0"/>
          </a:p>
        </p:txBody>
      </p:sp>
      <p:sp>
        <p:nvSpPr>
          <p:cNvPr id="5" name="Text 0"/>
          <p:cNvSpPr/>
          <p:nvPr>
            <p:ph idx="101" type="body" hasCustomPrompt="1"/>
          </p:nvPr>
        </p:nvSpPr>
        <p:spPr>
          <a:xfrm>
            <a:off x="548640" y="3703320"/>
            <a:ext cx="11091672" cy="1097280"/>
          </a:xfrm>
          <a:prstGeom prst="rect">
            <a:avLst/>
          </a:prstGeom>
          <a:noFill/>
          <a:ln/>
        </p:spPr>
        <p:txBody>
          <a:bodyPr wrap="square" lIns="0" tIns="0" rIns="0" bIns="0" rtlCol="0" anchor="t"/>
          <a:lstStyle/>
          <a:p>
            <a:pPr algn="l" indent="0" marL="0">
              <a:buNone/>
            </a:pPr>
            <a:r>
              <a:rPr lang="en-US" sz="2200" dirty="0">
                <a:solidFill>
                  <a:schemeClr val="tx2"/>
                </a:solidFill>
              </a:rPr>
              <a:t>Enrolment bound to the meter point and operator login, two weeks. GoodWe agent on our own plant, one week.</a:t>
            </a:r>
            <a:endParaRPr lang="en-US" sz="2200" dirty="0"/>
          </a:p>
          <a:p>
            <a:pPr algn="l" indent="0" marL="0">
              <a:buNone/>
            </a:pPr>
            <a:r>
              <a:rPr lang="en-US" sz="2200" dirty="0">
                <a:solidFill>
                  <a:schemeClr val="tx2"/>
                </a:solidFill>
              </a:rPr>
              <a:t>A ten-house pilot with a Slovak or Austrian DSO on one real transformer, this winter.</a:t>
            </a:r>
            <a:endParaRPr lang="en-US" sz="2200" dirty="0"/>
          </a:p>
          <a:p>
            <a:pPr algn="l" indent="0" marL="0">
              <a:buNone/>
            </a:pPr>
            <a:r>
              <a:rPr lang="en-US" sz="2200" dirty="0">
                <a:solidFill>
                  <a:schemeClr val="tx2"/>
                </a:solidFill>
              </a:rPr>
              <a:t>The vision: streets that island on grid-forming inverters when the 22 kV line is gone, rationed by the same signal.</a:t>
            </a:r>
            <a:endParaRPr lang="en-US" sz="2200" dirty="0"/>
          </a:p>
        </p:txBody>
      </p:sp>
      <p:sp>
        <p:nvSpPr>
          <p:cNvPr id="6" name="Text 4"/>
          <p:cNvSpPr txBox="1"/>
          <p:nvPr/>
        </p:nvSpPr>
        <p:spPr>
          <a:xfrm>
            <a:off x="548640" y="6035040"/>
            <a:ext cx="11091672" cy="365760"/>
          </a:xfrm>
          <a:prstGeom prst="rect">
            <a:avLst/>
          </a:prstGeom>
          <a:noFill/>
          <a:ln/>
        </p:spPr>
        <p:txBody>
          <a:bodyPr wrap="square" lIns="0" tIns="0" rIns="0" bIns="0" rtlCol="0" anchor="t"/>
          <a:lstStyle/>
          <a:p>
            <a:pPr indent="0" marL="0">
              <a:buNone/>
            </a:pPr>
            <a:r>
              <a:rPr lang="en-US" sz="1200" dirty="0">
                <a:solidFill>
                  <a:schemeClr val="tx2"/>
                </a:solidFill>
              </a:rPr>
              <a:t>github.com/mathewstars/Gridzilla  ·  gridzilla.victronlab.sk  ·  protocol, platform, agents and this deck are in the repo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What the flattening looks like: speising-22, 400 kVA, from an earlier run</a:t>
            </a:r>
            <a:endParaRPr lang="en-US" sz="3200" dirty="0"/>
          </a:p>
        </p:txBody>
      </p:sp>
      <p:pic>
        <p:nvPicPr>
          <p:cNvPr id="3" name="Transformer load with and without Gridzilla" descr="/private/tmp/claude-501/-Users-mathew-Library-Mobile-Documents-com-apple-CloudDocs-Workspaces--ai-projects-hackaton/6847b38a-4405-4bc8-878f-68767b84da8f/scratchpad/deck/chart.png">    </p:cNvPr>
          <p:cNvPicPr>
            <a:picLocks noChangeAspect="1"/>
          </p:cNvPicPr>
          <p:nvPr/>
        </p:nvPicPr>
        <p:blipFill>
          <a:blip r:embed="rId1"/>
          <a:stretch>
            <a:fillRect/>
          </a:stretch>
        </p:blipFill>
        <p:spPr>
          <a:xfrm>
            <a:off x="548640" y="1417320"/>
            <a:ext cx="7863840" cy="4754880"/>
          </a:xfrm>
          <a:prstGeom prst="rect">
            <a:avLst/>
          </a:prstGeom>
        </p:spPr>
      </p:pic>
      <p:sp>
        <p:nvSpPr>
          <p:cNvPr id="4" name="stat largest cut below the counterfactual on this transformer"/>
          <p:cNvSpPr/>
          <p:nvPr/>
        </p:nvSpPr>
        <p:spPr>
          <a:xfrm>
            <a:off x="8686800" y="1417320"/>
            <a:ext cx="2926080" cy="1417320"/>
          </a:xfrm>
          <a:prstGeom prst="roundRect">
            <a:avLst>
              <a:gd name="adj" fmla="val 5161"/>
            </a:avLst>
          </a:prstGeom>
          <a:solidFill>
            <a:schemeClr val="bg2"/>
          </a:solidFill>
          <a:ln w="9525">
            <a:solidFill>
              <a:schemeClr val="bg2"/>
            </a:solidFill>
            <a:prstDash val="solid"/>
          </a:ln>
        </p:spPr>
      </p:sp>
      <p:sp>
        <p:nvSpPr>
          <p:cNvPr id="5" name="Text 2"/>
          <p:cNvSpPr txBox="1"/>
          <p:nvPr/>
        </p:nvSpPr>
        <p:spPr>
          <a:xfrm>
            <a:off x="8915400" y="1581912"/>
            <a:ext cx="2468880" cy="73152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−199 kW</a:t>
            </a:r>
            <a:endParaRPr lang="en-US" sz="3600" dirty="0"/>
          </a:p>
        </p:txBody>
      </p:sp>
      <p:sp>
        <p:nvSpPr>
          <p:cNvPr id="6" name="Text 3"/>
          <p:cNvSpPr txBox="1"/>
          <p:nvPr/>
        </p:nvSpPr>
        <p:spPr>
          <a:xfrm>
            <a:off x="8915400" y="2313432"/>
            <a:ext cx="2468880" cy="457200"/>
          </a:xfrm>
          <a:prstGeom prst="rect">
            <a:avLst/>
          </a:prstGeom>
          <a:noFill/>
          <a:ln/>
        </p:spPr>
        <p:txBody>
          <a:bodyPr wrap="square" lIns="0" tIns="0" rIns="0" bIns="0" rtlCol="0" anchor="t"/>
          <a:lstStyle/>
          <a:p>
            <a:pPr indent="0" marL="0">
              <a:buNone/>
            </a:pPr>
            <a:r>
              <a:rPr lang="en-US" sz="1200" dirty="0">
                <a:solidFill>
                  <a:schemeClr val="tx2"/>
                </a:solidFill>
              </a:rPr>
              <a:t>largest cut below the counterfactual on this transformer</a:t>
            </a:r>
            <a:endParaRPr lang="en-US" sz="1200" dirty="0"/>
          </a:p>
        </p:txBody>
      </p:sp>
      <p:sp>
        <p:nvSpPr>
          <p:cNvPr id="7" name="stat import cap per house DeepSeek chose; EVs throttled first, batteries second"/>
          <p:cNvSpPr/>
          <p:nvPr/>
        </p:nvSpPr>
        <p:spPr>
          <a:xfrm>
            <a:off x="8686800" y="3017520"/>
            <a:ext cx="2926080" cy="1417320"/>
          </a:xfrm>
          <a:prstGeom prst="roundRect">
            <a:avLst>
              <a:gd name="adj" fmla="val 5161"/>
            </a:avLst>
          </a:prstGeom>
          <a:solidFill>
            <a:schemeClr val="bg2"/>
          </a:solidFill>
          <a:ln w="9525">
            <a:solidFill>
              <a:schemeClr val="bg2"/>
            </a:solidFill>
            <a:prstDash val="solid"/>
          </a:ln>
        </p:spPr>
      </p:sp>
      <p:sp>
        <p:nvSpPr>
          <p:cNvPr id="8" name="Text 5"/>
          <p:cNvSpPr txBox="1"/>
          <p:nvPr/>
        </p:nvSpPr>
        <p:spPr>
          <a:xfrm>
            <a:off x="8915400" y="3182112"/>
            <a:ext cx="2468880" cy="73152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2 kW</a:t>
            </a:r>
            <a:endParaRPr lang="en-US" sz="3600" dirty="0"/>
          </a:p>
        </p:txBody>
      </p:sp>
      <p:sp>
        <p:nvSpPr>
          <p:cNvPr id="9" name="Text 6"/>
          <p:cNvSpPr txBox="1"/>
          <p:nvPr/>
        </p:nvSpPr>
        <p:spPr>
          <a:xfrm>
            <a:off x="8915400" y="3913632"/>
            <a:ext cx="2468880" cy="457200"/>
          </a:xfrm>
          <a:prstGeom prst="rect">
            <a:avLst/>
          </a:prstGeom>
          <a:noFill/>
          <a:ln/>
        </p:spPr>
        <p:txBody>
          <a:bodyPr wrap="square" lIns="0" tIns="0" rIns="0" bIns="0" rtlCol="0" anchor="t"/>
          <a:lstStyle/>
          <a:p>
            <a:pPr indent="0" marL="0">
              <a:buNone/>
            </a:pPr>
            <a:r>
              <a:rPr lang="en-US" sz="1200" dirty="0">
                <a:solidFill>
                  <a:schemeClr val="tx2"/>
                </a:solidFill>
              </a:rPr>
              <a:t>import cap per house DeepSeek chose; EVs throttled first, batteries second</a:t>
            </a:r>
            <a:endParaRPr lang="en-US" sz="1200" dirty="0"/>
          </a:p>
        </p:txBody>
      </p:sp>
      <p:sp>
        <p:nvSpPr>
          <p:cNvPr id="10" name="stat owner floors crossed; partial acks where a battery hit its reserve"/>
          <p:cNvSpPr/>
          <p:nvPr/>
        </p:nvSpPr>
        <p:spPr>
          <a:xfrm>
            <a:off x="8686800" y="4617720"/>
            <a:ext cx="2926080" cy="1417320"/>
          </a:xfrm>
          <a:prstGeom prst="roundRect">
            <a:avLst>
              <a:gd name="adj" fmla="val 5161"/>
            </a:avLst>
          </a:prstGeom>
          <a:solidFill>
            <a:schemeClr val="bg2"/>
          </a:solidFill>
          <a:ln w="9525">
            <a:solidFill>
              <a:schemeClr val="bg2"/>
            </a:solidFill>
            <a:prstDash val="solid"/>
          </a:ln>
        </p:spPr>
      </p:sp>
      <p:sp>
        <p:nvSpPr>
          <p:cNvPr id="11" name="Text 8"/>
          <p:cNvSpPr txBox="1"/>
          <p:nvPr/>
        </p:nvSpPr>
        <p:spPr>
          <a:xfrm>
            <a:off x="8915400" y="4782312"/>
            <a:ext cx="2468880" cy="73152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a:t>
            </a:r>
            <a:endParaRPr lang="en-US" sz="3600" dirty="0"/>
          </a:p>
        </p:txBody>
      </p:sp>
      <p:sp>
        <p:nvSpPr>
          <p:cNvPr id="12" name="Text 9"/>
          <p:cNvSpPr txBox="1"/>
          <p:nvPr/>
        </p:nvSpPr>
        <p:spPr>
          <a:xfrm>
            <a:off x="8915400" y="5513832"/>
            <a:ext cx="2468880" cy="457200"/>
          </a:xfrm>
          <a:prstGeom prst="rect">
            <a:avLst/>
          </a:prstGeom>
          <a:noFill/>
          <a:ln/>
        </p:spPr>
        <p:txBody>
          <a:bodyPr wrap="square" lIns="0" tIns="0" rIns="0" bIns="0" rtlCol="0" anchor="t"/>
          <a:lstStyle/>
          <a:p>
            <a:pPr indent="0" marL="0">
              <a:buNone/>
            </a:pPr>
            <a:r>
              <a:rPr lang="en-US" sz="1200" dirty="0">
                <a:solidFill>
                  <a:schemeClr val="tx2"/>
                </a:solidFill>
              </a:rPr>
              <a:t>owner floors crossed; partial acks where a battery hit its reserve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rPr>
              <a:t>Security of the control plane: the DSO can ask, it can never command</a:t>
            </a:r>
            <a:endParaRPr lang="en-US" sz="3200" dirty="0"/>
          </a:p>
        </p:txBody>
      </p:sp>
      <p:sp>
        <p:nvSpPr>
          <p:cNvPr id="3" name="sec Authenticity"/>
          <p:cNvSpPr/>
          <p:nvPr/>
        </p:nvSpPr>
        <p:spPr>
          <a:xfrm>
            <a:off x="548640" y="1463040"/>
            <a:ext cx="5440680" cy="1005840"/>
          </a:xfrm>
          <a:prstGeom prst="roundRect">
            <a:avLst>
              <a:gd name="adj" fmla="val 7273"/>
            </a:avLst>
          </a:prstGeom>
          <a:solidFill>
            <a:schemeClr val="bg2"/>
          </a:solidFill>
          <a:ln w="9525">
            <a:solidFill>
              <a:schemeClr val="bg2"/>
            </a:solidFill>
            <a:prstDash val="solid"/>
          </a:ln>
        </p:spPr>
      </p:sp>
      <p:sp>
        <p:nvSpPr>
          <p:cNvPr id="4" name="dot"/>
          <p:cNvSpPr/>
          <p:nvPr/>
        </p:nvSpPr>
        <p:spPr>
          <a:xfrm>
            <a:off x="731520" y="1645920"/>
            <a:ext cx="384048" cy="384048"/>
          </a:xfrm>
          <a:prstGeom prst="ellipse">
            <a:avLst/>
          </a:prstGeom>
          <a:solidFill>
            <a:schemeClr val="accent3"/>
          </a:solidFill>
          <a:ln w="12700">
            <a:solidFill>
              <a:schemeClr val="accent3"/>
            </a:solidFill>
            <a:prstDash val="solid"/>
          </a:ln>
        </p:spPr>
      </p:sp>
      <p:sp>
        <p:nvSpPr>
          <p:cNvPr id="5" name="Text 3"/>
          <p:cNvSpPr txBox="1"/>
          <p:nvPr/>
        </p:nvSpPr>
        <p:spPr>
          <a:xfrm>
            <a:off x="1234440" y="1572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Authenticity</a:t>
            </a:r>
            <a:endParaRPr lang="en-US" sz="1400" dirty="0"/>
          </a:p>
        </p:txBody>
      </p:sp>
      <p:sp>
        <p:nvSpPr>
          <p:cNvPr id="6" name="Text 4"/>
          <p:cNvSpPr txBox="1"/>
          <p:nvPr/>
        </p:nvSpPr>
        <p:spPr>
          <a:xfrm>
            <a:off x="1234440" y="1892808"/>
            <a:ext cx="4617720" cy="548640"/>
          </a:xfrm>
          <a:prstGeom prst="rect">
            <a:avLst/>
          </a:prstGeom>
          <a:noFill/>
          <a:ln/>
        </p:spPr>
        <p:txBody>
          <a:bodyPr wrap="square" lIns="0" tIns="0" rIns="0" bIns="0" rtlCol="0" anchor="t"/>
          <a:lstStyle/>
          <a:p>
            <a:pPr indent="0" marL="0">
              <a:buNone/>
            </a:pPr>
            <a:r>
              <a:rPr lang="en-US" sz="1150" dirty="0">
                <a:solidFill>
                  <a:schemeClr val="tx2"/>
                </a:solidFill>
              </a:rPr>
              <a:t>every signal, heartbeat and ack carries an Ed25519 signature; the device pins the platform key and signs with its own</a:t>
            </a:r>
            <a:endParaRPr lang="en-US" sz="1150" dirty="0"/>
          </a:p>
        </p:txBody>
      </p:sp>
      <p:sp>
        <p:nvSpPr>
          <p:cNvPr id="7" name="sec Replay"/>
          <p:cNvSpPr/>
          <p:nvPr/>
        </p:nvSpPr>
        <p:spPr>
          <a:xfrm>
            <a:off x="6217920" y="1463040"/>
            <a:ext cx="5440680" cy="1005840"/>
          </a:xfrm>
          <a:prstGeom prst="roundRect">
            <a:avLst>
              <a:gd name="adj" fmla="val 7273"/>
            </a:avLst>
          </a:prstGeom>
          <a:solidFill>
            <a:schemeClr val="bg2"/>
          </a:solidFill>
          <a:ln w="9525">
            <a:solidFill>
              <a:schemeClr val="bg2"/>
            </a:solidFill>
            <a:prstDash val="solid"/>
          </a:ln>
        </p:spPr>
      </p:sp>
      <p:sp>
        <p:nvSpPr>
          <p:cNvPr id="8" name="dot"/>
          <p:cNvSpPr/>
          <p:nvPr/>
        </p:nvSpPr>
        <p:spPr>
          <a:xfrm>
            <a:off x="6400800" y="1645920"/>
            <a:ext cx="384048" cy="384048"/>
          </a:xfrm>
          <a:prstGeom prst="ellipse">
            <a:avLst/>
          </a:prstGeom>
          <a:solidFill>
            <a:schemeClr val="accent3"/>
          </a:solidFill>
          <a:ln w="12700">
            <a:solidFill>
              <a:schemeClr val="accent3"/>
            </a:solidFill>
            <a:prstDash val="solid"/>
          </a:ln>
        </p:spPr>
      </p:sp>
      <p:sp>
        <p:nvSpPr>
          <p:cNvPr id="9" name="Text 7"/>
          <p:cNvSpPr txBox="1"/>
          <p:nvPr/>
        </p:nvSpPr>
        <p:spPr>
          <a:xfrm>
            <a:off x="6903720" y="1572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Replay</a:t>
            </a:r>
            <a:endParaRPr lang="en-US" sz="1400" dirty="0"/>
          </a:p>
        </p:txBody>
      </p:sp>
      <p:sp>
        <p:nvSpPr>
          <p:cNvPr id="10" name="Text 8"/>
          <p:cNvSpPr txBox="1"/>
          <p:nvPr/>
        </p:nvSpPr>
        <p:spPr>
          <a:xfrm>
            <a:off x="6903720" y="1892808"/>
            <a:ext cx="4617720" cy="548640"/>
          </a:xfrm>
          <a:prstGeom prst="rect">
            <a:avLst/>
          </a:prstGeom>
          <a:noFill/>
          <a:ln/>
        </p:spPr>
        <p:txBody>
          <a:bodyPr wrap="square" lIns="0" tIns="0" rIns="0" bIns="0" rtlCol="0" anchor="t"/>
          <a:lstStyle/>
          <a:p>
            <a:pPr indent="0" marL="0">
              <a:buNone/>
            </a:pPr>
            <a:r>
              <a:rPr lang="en-US" sz="1150" dirty="0">
                <a:solidFill>
                  <a:schemeClr val="tx2"/>
                </a:solidFill>
              </a:rPr>
              <a:t>monotonic sequence numbers persisted on the device, 120 s freshness, heartbeats with sequence and timestamp</a:t>
            </a:r>
            <a:endParaRPr lang="en-US" sz="1150" dirty="0"/>
          </a:p>
        </p:txBody>
      </p:sp>
      <p:sp>
        <p:nvSpPr>
          <p:cNvPr id="11" name="sec Bounded"/>
          <p:cNvSpPr/>
          <p:nvPr/>
        </p:nvSpPr>
        <p:spPr>
          <a:xfrm>
            <a:off x="548640" y="2606040"/>
            <a:ext cx="5440680" cy="1005840"/>
          </a:xfrm>
          <a:prstGeom prst="roundRect">
            <a:avLst>
              <a:gd name="adj" fmla="val 7273"/>
            </a:avLst>
          </a:prstGeom>
          <a:solidFill>
            <a:schemeClr val="bg2"/>
          </a:solidFill>
          <a:ln w="9525">
            <a:solidFill>
              <a:schemeClr val="bg2"/>
            </a:solidFill>
            <a:prstDash val="solid"/>
          </a:ln>
        </p:spPr>
      </p:sp>
      <p:sp>
        <p:nvSpPr>
          <p:cNvPr id="12" name="dot"/>
          <p:cNvSpPr/>
          <p:nvPr/>
        </p:nvSpPr>
        <p:spPr>
          <a:xfrm>
            <a:off x="731520" y="2788920"/>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1234440" y="2715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Bounded</a:t>
            </a:r>
            <a:endParaRPr lang="en-US" sz="1400" dirty="0"/>
          </a:p>
        </p:txBody>
      </p:sp>
      <p:sp>
        <p:nvSpPr>
          <p:cNvPr id="14" name="Text 12"/>
          <p:cNvSpPr txBox="1"/>
          <p:nvPr/>
        </p:nvSpPr>
        <p:spPr>
          <a:xfrm>
            <a:off x="1234440" y="3035808"/>
            <a:ext cx="4617720" cy="548640"/>
          </a:xfrm>
          <a:prstGeom prst="rect">
            <a:avLst/>
          </a:prstGeom>
          <a:noFill/>
          <a:ln/>
        </p:spPr>
        <p:txBody>
          <a:bodyPr wrap="square" lIns="0" tIns="0" rIns="0" bIns="0" rtlCol="0" anchor="t"/>
          <a:lstStyle/>
          <a:p>
            <a:pPr indent="0" marL="0">
              <a:buNone/>
            </a:pPr>
            <a:r>
              <a:rPr lang="en-US" sz="1150" dirty="0">
                <a:solidFill>
                  <a:schemeClr val="tx2"/>
                </a:solidFill>
              </a:rPr>
              <a:t>limits, never setpoints; four-hour window enforced on the device itself; depth and rate capped by the guard</a:t>
            </a:r>
            <a:endParaRPr lang="en-US" sz="1150" dirty="0"/>
          </a:p>
        </p:txBody>
      </p:sp>
      <p:sp>
        <p:nvSpPr>
          <p:cNvPr id="15" name="sec Owner veto"/>
          <p:cNvSpPr/>
          <p:nvPr/>
        </p:nvSpPr>
        <p:spPr>
          <a:xfrm>
            <a:off x="6217920" y="2606040"/>
            <a:ext cx="5440680" cy="1005840"/>
          </a:xfrm>
          <a:prstGeom prst="roundRect">
            <a:avLst>
              <a:gd name="adj" fmla="val 7273"/>
            </a:avLst>
          </a:prstGeom>
          <a:solidFill>
            <a:schemeClr val="bg2"/>
          </a:solidFill>
          <a:ln w="9525">
            <a:solidFill>
              <a:schemeClr val="bg2"/>
            </a:solidFill>
            <a:prstDash val="solid"/>
          </a:ln>
        </p:spPr>
      </p:sp>
      <p:sp>
        <p:nvSpPr>
          <p:cNvPr id="16" name="dot"/>
          <p:cNvSpPr/>
          <p:nvPr/>
        </p:nvSpPr>
        <p:spPr>
          <a:xfrm>
            <a:off x="6400800" y="2788920"/>
            <a:ext cx="384048" cy="384048"/>
          </a:xfrm>
          <a:prstGeom prst="ellipse">
            <a:avLst/>
          </a:prstGeom>
          <a:solidFill>
            <a:schemeClr val="accent3"/>
          </a:solidFill>
          <a:ln w="12700">
            <a:solidFill>
              <a:schemeClr val="accent3"/>
            </a:solidFill>
            <a:prstDash val="solid"/>
          </a:ln>
        </p:spPr>
      </p:sp>
      <p:sp>
        <p:nvSpPr>
          <p:cNvPr id="17" name="Text 15"/>
          <p:cNvSpPr txBox="1"/>
          <p:nvPr/>
        </p:nvSpPr>
        <p:spPr>
          <a:xfrm>
            <a:off x="6903720" y="2715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Owner veto</a:t>
            </a:r>
            <a:endParaRPr lang="en-US" sz="1400" dirty="0"/>
          </a:p>
        </p:txBody>
      </p:sp>
      <p:sp>
        <p:nvSpPr>
          <p:cNvPr id="18" name="Text 16"/>
          <p:cNvSpPr txBox="1"/>
          <p:nvPr/>
        </p:nvSpPr>
        <p:spPr>
          <a:xfrm>
            <a:off x="6903720" y="3035808"/>
            <a:ext cx="4617720" cy="548640"/>
          </a:xfrm>
          <a:prstGeom prst="rect">
            <a:avLst/>
          </a:prstGeom>
          <a:noFill/>
          <a:ln/>
        </p:spPr>
        <p:txBody>
          <a:bodyPr wrap="square" lIns="0" tIns="0" rIns="0" bIns="0" rtlCol="0" anchor="t"/>
          <a:lstStyle/>
          <a:p>
            <a:pPr indent="0" marL="0">
              <a:buNone/>
            </a:pPr>
            <a:r>
              <a:rPr lang="en-US" sz="1150" dirty="0">
                <a:solidFill>
                  <a:schemeClr val="tx2"/>
                </a:solidFill>
              </a:rPr>
              <a:t>minimum SoC, max current, opt-out merged on the device; a compromised DSO key moves nothing past them</a:t>
            </a:r>
            <a:endParaRPr lang="en-US" sz="1150" dirty="0"/>
          </a:p>
        </p:txBody>
      </p:sp>
      <p:sp>
        <p:nvSpPr>
          <p:cNvPr id="19" name="sec Fail-safe"/>
          <p:cNvSpPr/>
          <p:nvPr/>
        </p:nvSpPr>
        <p:spPr>
          <a:xfrm>
            <a:off x="548640" y="3749040"/>
            <a:ext cx="5440680" cy="1005840"/>
          </a:xfrm>
          <a:prstGeom prst="roundRect">
            <a:avLst>
              <a:gd name="adj" fmla="val 7273"/>
            </a:avLst>
          </a:prstGeom>
          <a:solidFill>
            <a:schemeClr val="bg2"/>
          </a:solidFill>
          <a:ln w="9525">
            <a:solidFill>
              <a:schemeClr val="bg2"/>
            </a:solidFill>
            <a:prstDash val="solid"/>
          </a:ln>
        </p:spPr>
      </p:sp>
      <p:sp>
        <p:nvSpPr>
          <p:cNvPr id="20" name="dot"/>
          <p:cNvSpPr/>
          <p:nvPr/>
        </p:nvSpPr>
        <p:spPr>
          <a:xfrm>
            <a:off x="731520" y="3931920"/>
            <a:ext cx="384048" cy="384048"/>
          </a:xfrm>
          <a:prstGeom prst="ellipse">
            <a:avLst/>
          </a:prstGeom>
          <a:solidFill>
            <a:schemeClr val="accent3"/>
          </a:solidFill>
          <a:ln w="12700">
            <a:solidFill>
              <a:schemeClr val="accent3"/>
            </a:solidFill>
            <a:prstDash val="solid"/>
          </a:ln>
        </p:spPr>
      </p:sp>
      <p:sp>
        <p:nvSpPr>
          <p:cNvPr id="21" name="Text 19"/>
          <p:cNvSpPr txBox="1"/>
          <p:nvPr/>
        </p:nvSpPr>
        <p:spPr>
          <a:xfrm>
            <a:off x="1234440" y="3858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Fail-safe</a:t>
            </a:r>
            <a:endParaRPr lang="en-US" sz="1400" dirty="0"/>
          </a:p>
        </p:txBody>
      </p:sp>
      <p:sp>
        <p:nvSpPr>
          <p:cNvPr id="22" name="Text 20"/>
          <p:cNvSpPr txBox="1"/>
          <p:nvPr/>
        </p:nvSpPr>
        <p:spPr>
          <a:xfrm>
            <a:off x="1234440" y="4178808"/>
            <a:ext cx="4617720" cy="548640"/>
          </a:xfrm>
          <a:prstGeom prst="rect">
            <a:avLst/>
          </a:prstGeom>
          <a:noFill/>
          <a:ln/>
        </p:spPr>
        <p:txBody>
          <a:bodyPr wrap="square" lIns="0" tIns="0" rIns="0" bIns="0" rtlCol="0" anchor="t"/>
          <a:lstStyle/>
          <a:p>
            <a:pPr indent="0" marL="0">
              <a:buNone/>
            </a:pPr>
            <a:r>
              <a:rPr lang="en-US" sz="1150" dirty="0">
                <a:solidFill>
                  <a:schemeClr val="tx2"/>
                </a:solidFill>
              </a:rPr>
              <a:t>window end, heartbeat loss or RELEASE restore the owner's settings; a dead platform leaves every house in owner mode</a:t>
            </a:r>
            <a:endParaRPr lang="en-US" sz="1150" dirty="0"/>
          </a:p>
        </p:txBody>
      </p:sp>
      <p:sp>
        <p:nvSpPr>
          <p:cNvPr id="23" name="sec Transport"/>
          <p:cNvSpPr/>
          <p:nvPr/>
        </p:nvSpPr>
        <p:spPr>
          <a:xfrm>
            <a:off x="6217920" y="3749040"/>
            <a:ext cx="5440680" cy="1005840"/>
          </a:xfrm>
          <a:prstGeom prst="roundRect">
            <a:avLst>
              <a:gd name="adj" fmla="val 7273"/>
            </a:avLst>
          </a:prstGeom>
          <a:solidFill>
            <a:schemeClr val="bg2"/>
          </a:solidFill>
          <a:ln w="9525">
            <a:solidFill>
              <a:schemeClr val="bg2"/>
            </a:solidFill>
            <a:prstDash val="solid"/>
          </a:ln>
        </p:spPr>
      </p:sp>
      <p:sp>
        <p:nvSpPr>
          <p:cNvPr id="24" name="dot"/>
          <p:cNvSpPr/>
          <p:nvPr/>
        </p:nvSpPr>
        <p:spPr>
          <a:xfrm>
            <a:off x="6400800" y="3931920"/>
            <a:ext cx="384048" cy="384048"/>
          </a:xfrm>
          <a:prstGeom prst="ellipse">
            <a:avLst/>
          </a:prstGeom>
          <a:solidFill>
            <a:schemeClr val="accent3"/>
          </a:solidFill>
          <a:ln w="12700">
            <a:solidFill>
              <a:schemeClr val="accent3"/>
            </a:solidFill>
            <a:prstDash val="solid"/>
          </a:ln>
        </p:spPr>
      </p:sp>
      <p:sp>
        <p:nvSpPr>
          <p:cNvPr id="25" name="Text 23"/>
          <p:cNvSpPr txBox="1"/>
          <p:nvPr/>
        </p:nvSpPr>
        <p:spPr>
          <a:xfrm>
            <a:off x="6903720" y="3858768"/>
            <a:ext cx="4572000" cy="3200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Transport</a:t>
            </a:r>
            <a:endParaRPr lang="en-US" sz="1400" dirty="0"/>
          </a:p>
        </p:txBody>
      </p:sp>
      <p:sp>
        <p:nvSpPr>
          <p:cNvPr id="26" name="Text 24"/>
          <p:cNvSpPr txBox="1"/>
          <p:nvPr/>
        </p:nvSpPr>
        <p:spPr>
          <a:xfrm>
            <a:off x="6903720" y="4178808"/>
            <a:ext cx="4617720" cy="548640"/>
          </a:xfrm>
          <a:prstGeom prst="rect">
            <a:avLst/>
          </a:prstGeom>
          <a:noFill/>
          <a:ln/>
        </p:spPr>
        <p:txBody>
          <a:bodyPr wrap="square" lIns="0" tIns="0" rIns="0" bIns="0" rtlCol="0" anchor="t"/>
          <a:lstStyle/>
          <a:p>
            <a:pPr indent="0" marL="0">
              <a:buNone/>
            </a:pPr>
            <a:r>
              <a:rPr lang="en-US" sz="1150" dirty="0">
                <a:solidFill>
                  <a:schemeClr val="tx2"/>
                </a:solidFill>
              </a:rPr>
              <a:t>TLS with a real certificate, per-role credentials, topic ACLs; a device cannot publish a signal even if it tried</a:t>
            </a:r>
            <a:endParaRPr lang="en-US" sz="1150" dirty="0"/>
          </a:p>
        </p:txBody>
      </p:sp>
      <p:sp>
        <p:nvSpPr>
          <p:cNvPr id="27" name="open items"/>
          <p:cNvSpPr/>
          <p:nvPr/>
        </p:nvSpPr>
        <p:spPr>
          <a:xfrm>
            <a:off x="548640" y="5029200"/>
            <a:ext cx="11091672" cy="1143000"/>
          </a:xfrm>
          <a:prstGeom prst="roundRect">
            <a:avLst>
              <a:gd name="adj" fmla="val 6400"/>
            </a:avLst>
          </a:prstGeom>
          <a:solidFill>
            <a:srgbClr val="1D2127"/>
          </a:solidFill>
          <a:ln w="9525">
            <a:solidFill>
              <a:srgbClr val="C98500"/>
            </a:solidFill>
            <a:prstDash val="solid"/>
          </a:ln>
        </p:spPr>
      </p:sp>
      <p:sp>
        <p:nvSpPr>
          <p:cNvPr id="28" name="Text 26"/>
          <p:cNvSpPr txBox="1"/>
          <p:nvPr/>
        </p:nvSpPr>
        <p:spPr>
          <a:xfrm>
            <a:off x="777240" y="5120640"/>
            <a:ext cx="3657600" cy="320040"/>
          </a:xfrm>
          <a:prstGeom prst="rect">
            <a:avLst/>
          </a:prstGeom>
          <a:noFill/>
          <a:ln/>
        </p:spPr>
        <p:txBody>
          <a:bodyPr wrap="square" lIns="0" tIns="0" rIns="0" bIns="0" rtlCol="0" anchor="t"/>
          <a:lstStyle/>
          <a:p>
            <a:pPr indent="0" marL="0">
              <a:buNone/>
            </a:pPr>
            <a:r>
              <a:rPr lang="en-US" sz="1300" b="1" dirty="0">
                <a:solidFill>
                  <a:schemeClr val="accent6"/>
                </a:solidFill>
              </a:rPr>
              <a:t>Named before you ask</a:t>
            </a:r>
            <a:endParaRPr lang="en-US" sz="1300" dirty="0"/>
          </a:p>
        </p:txBody>
      </p:sp>
      <p:sp>
        <p:nvSpPr>
          <p:cNvPr id="29" name="Text 27"/>
          <p:cNvSpPr txBox="1"/>
          <p:nvPr/>
        </p:nvSpPr>
        <p:spPr>
          <a:xfrm>
            <a:off x="777240" y="5440680"/>
            <a:ext cx="10634472" cy="685800"/>
          </a:xfrm>
          <a:prstGeom prst="rect">
            <a:avLst/>
          </a:prstGeom>
          <a:noFill/>
          <a:ln/>
        </p:spPr>
        <p:txBody>
          <a:bodyPr wrap="square" lIns="0" tIns="0" rIns="0" bIns="0" rtlCol="0" anchor="t"/>
          <a:lstStyle/>
          <a:p>
            <a:pPr indent="0" marL="0">
              <a:buNone/>
            </a:pPr>
            <a:r>
              <a:rPr lang="en-US" sz="1200" dirty="0">
                <a:solidFill>
                  <a:schemeClr val="tx2"/>
                </a:solidFill>
              </a:rPr>
              <a:t>Enrolment is open, any device id can register a key; production binds it to the meter point with a one-time code. The operator board has no login for the demo; production is SSO plus a two-person rule for feeder-level signals. Neither changes the protocol.</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A9B3"/>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Gridzilla">
  <a:themeElements>
    <a:clrScheme name="Gridzilla">
      <a:dk1>
        <a:srgbClr val="E8E6E0"/>
      </a:dk1>
      <a:lt1>
        <a:srgbClr val="15181C"/>
      </a:lt1>
      <a:dk2>
        <a:srgbClr val="A2A9B3"/>
      </a:dk2>
      <a:lt2>
        <a:srgbClr val="1D2127"/>
      </a:lt2>
      <a:accent1>
        <a:srgbClr val="E8893A"/>
      </a:accent1>
      <a:accent2>
        <a:srgbClr val="3987E5"/>
      </a:accent2>
      <a:accent3>
        <a:srgbClr val="5FC48A"/>
      </a:accent3>
      <a:accent4>
        <a:srgbClr val="E66767"/>
      </a:accent4>
      <a:accent5>
        <a:srgbClr val="D55181"/>
      </a:accent5>
      <a:accent6>
        <a:srgbClr val="C98500"/>
      </a:accent6>
      <a:hlink>
        <a:srgbClr val="3987E5"/>
      </a:hlink>
      <a:folHlink>
        <a:srgbClr val="A2A9B3"/>
      </a:folHlink>
    </a:clrScheme>
    <a:fontScheme name="Gridzill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Gridzilla</dc:title>
  <dc:subject>PptxGenJS Presentation</dc:subject>
  <dc:creator>Mathew, Peter, Matthew</dc:creator>
  <cp:lastModifiedBy>Mathew, Peter, Matthew</cp:lastModifiedBy>
  <cp:revision>1</cp:revision>
  <dcterms:created xsi:type="dcterms:W3CDTF">2026-10-24T13:13:44Z</dcterms:created>
  <dcterms:modified xsi:type="dcterms:W3CDTF">2026-10-24T13:13:44Z</dcterms:modified>
</cp:coreProperties>
</file>