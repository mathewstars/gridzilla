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d20f2d-f05e-39e2-848e-b61544146615}">
          <p14:sldIdLst>
            <p14:sldId id="256"/>
          </p14:sldIdLst>
        </p14:section>
        <p14:section name="Why" id="{3bbb6860-8df7-7e3b-b0ca-1c449af9f5cc}">
          <p14:sldIdLst>
            <p14:sldId id="257"/>
          </p14:sldIdLst>
        </p14:section>
        <p14:section name="What" id="{383e153e-0b86-e80a-eef8-bf630bed1419}">
          <p14:sldIdLst>
            <p14:sldId id="258"/>
          </p14:sldIdLst>
        </p14:section>
        <p14:section name="Demo" id="{9603302e-d8af-df24-be18-e1b1cc3789da}">
          <p14:sldIdLst>
            <p14:sldId id="260"/>
          </p14:sldIdLst>
        </p14:section>
        <p14:section name="Close" id="{69efce7b-08c8-d1a1-ccfe-190799c257b0}">
          <p14:sldIdLst>
            <p14:sldId id="262"/>
          </p14:sldIdLst>
        </p14:section>
        <p14:section name="Appendix" id="{193d09b3-6ef8-6149-4d93-49a4d9c3c61a}">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let it land. After the hard cut, one line, deadpan: Now you probably wonder what the monster really is. Then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Three numbers, then the three failure modes. The point: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1:00-1:45. Walk the chain left to right. Stress: limits not setpoints, owner wins, device enforces time bounds itself, settlement on the 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Monster talk: Gridzilla eats peaks, but it is on a diet: it eats exactly the slice above L and not a watt more. A car plugged in at 18:00 trickles through dinner and gulps at 02:00. A battery swallows the peak and burps it back into the house. At noon it drinks the PV surplus. Nobody notices; the transformer sleeps at 70 instead of 110 percent. Then the algorithm in one breath: forecast what nobody controls, count the flexible energy, water-fill, send the ceilings. DeepSeek sits on top for what the plan cannot see: a cold snap, an outage, backflow.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2:30-4:00. Alt-tab: deck, Gridzilla board, VRM. Pin Blatnica before the SUPPORT step so the curve stays on our transformer. VRM is the independent witness: Victron's own portal showing the setpoint change. If the venue network dies, show the recorded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Say it before the jury asks: the signal path and the algorithm are real, the fleet is simulated, and the counterfactual is honest: same cars, same batteries, realistic charging coincidence. The street numbers sit inside published pilots; the city number is that times 2,184 enrolled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ask is a transformer to pilot on. Stop talking,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DSO's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A signed, bounded grid signal for home batteries, cars and heat pumps,</a:t>
            </a:r>
            <a:endParaRPr lang="en-US" sz="2200" dirty="0"/>
          </a:p>
          <a:p>
            <a:pPr algn="l" indent="0" marL="0">
              <a:buNone/>
            </a:pPr>
            <a:r>
              <a:rPr lang="en-US" sz="2200" dirty="0">
                <a:solidFill>
                  <a:schemeClr val="tx2"/>
                </a:solidFill>
              </a:rPr>
              <a:t>with DeepSeek running the grid and a real plant in Blatnica following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fleet is in people's basements. The grid cannot use one of them</a:t>
            </a:r>
            <a:endParaRPr lang="en-US" sz="3200" dirty="0"/>
          </a:p>
        </p:txBody>
      </p:sp>
      <p:sp>
        <p:nvSpPr>
          <p:cNvPr id="3" name="stat DSO-level signals to home storage in Slovakia. The only flexibility pilot served the TSO, not the street transformer"/>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DSO-level signals to home storage in Slovakia. The only flexibility pilot served the TSO, not the street transformer</a:t>
            </a:r>
            <a:endParaRPr lang="en-US" sz="1200" dirty="0"/>
          </a:p>
        </p:txBody>
      </p:sp>
      <p:sp>
        <p:nvSpPr>
          <p:cNvPr id="6" name="stat The best case, Germany's §14a: a dimmer for new device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The best case, Germany's §14a: a dimmer for new devices, charging only, used in under 1 % of hours</a:t>
            </a:r>
            <a:endParaRPr lang="en-US" sz="1200" dirty="0"/>
          </a:p>
        </p:txBody>
      </p:sp>
      <p:sp>
        <p:nvSpPr>
          <p:cNvPr id="9" name="stat Home batteries installed in Ukraine in 2025 alone. People charge by hand before the published outage queu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Home batteries installed in Ukraine in 2025 alone. People charge by hand before the published outage queue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Evening peaks: heat pumps and EV chargers push street transformers past rating; the DSO's only tools are curtailment or copper</a:t>
            </a:r>
            <a:endParaRPr lang="en-US" sz="1500" dirty="0"/>
          </a:p>
          <a:p>
            <a:pPr marL="342900" indent="-342900">
              <a:spcAft>
                <a:spcPts val="600"/>
              </a:spcAft>
              <a:buSzPct val="100000"/>
              <a:buChar char="•"/>
            </a:pPr>
            <a:r>
              <a:rPr lang="en-US" sz="1500" dirty="0">
                <a:solidFill>
                  <a:schemeClr val="tx1"/>
                </a:solidFill>
              </a:rPr>
              <a:t>PV noon: everyone exports at once, the feeder voltage rises, new connections get refused or capped for the whole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through</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bounded signal from the DSO to every house, on whatever path the vendor likes</a:t>
            </a:r>
            <a:endParaRPr lang="en-US" sz="3200" dirty="0"/>
          </a:p>
        </p:txBody>
      </p:sp>
      <p:sp>
        <p:nvSpPr>
          <p:cNvPr id="3" name="chain DSO"/>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DSO</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transformer or feeder heading past rating</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policy guard, Ed25519 signature, one topic per grid segment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BROKER"/>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BROKER</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MQTT over TLS, delivery only, no authority</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3"/>
          </a:solidFill>
          <a:ln w="12700">
            <a:solidFill>
              <a:schemeClr val="accent3"/>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verifies, merges with the owner's limits, applies, acks</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EV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5"/>
          </a:solidFill>
          <a:ln w="12700">
            <a:solidFill>
              <a:schemeClr val="accent5"/>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EV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at the meter, never a setpoint</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signal names a limit at the grid connection point: import ceiling, export ceiling, export floor, target SoC. It never names a device or a register</a:t>
            </a:r>
            <a:endParaRPr lang="en-US" sz="1500" dirty="0"/>
          </a:p>
          <a:p>
            <a:pPr marL="342900" indent="-342900">
              <a:spcAft>
                <a:spcPts val="600"/>
              </a:spcAft>
              <a:buSzPct val="100000"/>
              <a:buChar char="•"/>
            </a:pPr>
            <a:r>
              <a:rPr lang="en-US" sz="1500" dirty="0">
                <a:solidFill>
                  <a:schemeClr val="tx1"/>
                </a:solidFill>
              </a:rPr>
              <a:t>The owner's limits always win: minimum SoC, max current, opt-out. The house may answer partial or refused</a:t>
            </a:r>
            <a:endParaRPr lang="en-US" sz="1500" dirty="0"/>
          </a:p>
          <a:p>
            <a:pPr marL="342900" indent="-342900">
              <a:spcAft>
                <a:spcPts val="600"/>
              </a:spcAft>
              <a:buSzPct val="100000"/>
              <a:buChar char="•"/>
            </a:pPr>
            <a:r>
              <a:rPr lang="en-US" sz="1500" dirty="0">
                <a:solidFill>
                  <a:schemeClr val="tx1"/>
                </a:solidFill>
              </a:rPr>
              <a:t>Four-hour maximum, enforced on the platform and again on the device; revert on window end or 120 s without heartbeat</a:t>
            </a:r>
            <a:endParaRPr lang="en-US" sz="1500" dirty="0"/>
          </a:p>
          <a:p>
            <a:pPr marL="342900" indent="-342900">
              <a:spcAft>
                <a:spcPts val="600"/>
              </a:spcAft>
              <a:buSzPct val="100000"/>
              <a:buChar char="•"/>
            </a:pPr>
            <a:r>
              <a:rPr lang="en-US" sz="1500" dirty="0">
                <a:solidFill>
                  <a:schemeClr val="tx1"/>
                </a:solidFill>
              </a:rPr>
              <a:t>Pay on the meter: limits are a yes or no per 15-minute interval on the DSO's own smart meter, so there is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is on a diet: water-filling flattens every street</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the planner's forecast for tonight, of transformer rating: 23.7 MW becomes 13.4 MW. Measured result on the next slide"/>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the planner's forecast for tonight, of transformer rating: 23.7 MW becomes 13.4 MW. Measured result on the next slide</a:t>
            </a:r>
            <a:endParaRPr lang="en-US" sz="1200" dirty="0"/>
          </a:p>
        </p:txBody>
      </p:sp>
      <p:sp>
        <p:nvSpPr>
          <p:cNvPr id="7" name="stat of car charging moved from dinner into the night valley; every car full by 07:00"/>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into the night valley; every car full by 07:00</a:t>
            </a:r>
            <a:endParaRPr lang="en-US" sz="1200" dirty="0"/>
          </a:p>
        </p:txBody>
      </p:sp>
      <p:sp>
        <p:nvSpPr>
          <p:cNvPr id="10" name="stat the lowest level where the cars fit below it and the peak above it fits in the batteries. Two ceilings per 15 min, per house, signed, renewed every 2 h"/>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L</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the lowest level where the cars fit below it and the peak above it fits in the batteries. Two ceilings per 15 min, per house, signed, renewed every 2 h</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Ninety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transformers, 272 households live, one of them real; the with/without curve</a:t>
            </a:r>
            <a:endParaRPr lang="en-US" sz="1250" dirty="0"/>
          </a:p>
          <a:p>
            <a:pPr marL="342900" indent="-342900">
              <a:spcAft>
                <a:spcPts val="600"/>
              </a:spcAft>
              <a:buSzPct val="100000"/>
              <a:buChar char="•"/>
            </a:pPr>
            <a:r>
              <a:rPr lang="en-US" sz="1250" dirty="0">
                <a:solidFill>
                  <a:schemeClr val="tx1"/>
                </a:solidFill>
              </a:rPr>
              <a:t>Board: the last DeepSeek decision: sense, decide, guard, signed signal</a:t>
            </a:r>
            <a:endParaRPr lang="en-US" sz="1250" dirty="0"/>
          </a:p>
          <a:p>
            <a:pPr marL="342900" indent="-342900">
              <a:spcAft>
                <a:spcPts val="600"/>
              </a:spcAft>
              <a:buSzPct val="100000"/>
              <a:buChar char="•"/>
            </a:pPr>
            <a:r>
              <a:rPr lang="en-US" sz="1250" dirty="0">
                <a:solidFill>
                  <a:schemeClr val="tx1"/>
                </a:solidFill>
              </a:rPr>
              <a:t>Board, Flattening tab: tonight's diet plan, Vienna then one street</a:t>
            </a:r>
            <a:endParaRPr lang="en-US" sz="1250" dirty="0"/>
          </a:p>
          <a:p>
            <a:pPr marL="342900" indent="-342900">
              <a:spcAft>
                <a:spcPts val="600"/>
              </a:spcAft>
              <a:buSzPct val="100000"/>
              <a:buChar char="•"/>
            </a:pPr>
            <a:r>
              <a:rPr lang="en-US" sz="1250" dirty="0">
                <a:solidFill>
                  <a:schemeClr val="tx1"/>
                </a:solidFill>
              </a:rPr>
              <a:t>Board, pin Blatnica: the real plant live, last ack verified</a:t>
            </a:r>
            <a:endParaRPr lang="en-US" sz="1250" dirty="0"/>
          </a:p>
          <a:p>
            <a:pPr marL="342900" indent="-342900">
              <a:spcAft>
                <a:spcPts val="600"/>
              </a:spcAft>
              <a:buSzPct val="100000"/>
              <a:buChar char="•"/>
            </a:pPr>
            <a:r>
              <a:rPr lang="en-US" sz="1250" dirty="0">
                <a:solidFill>
                  <a:schemeClr val="tx1"/>
                </a:solidFill>
              </a:rPr>
              <a:t>Board: pause the heartbeat, every house reverts</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modelled,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control path: signed signal in, a Victron plant and a Viessmann heat pump move, verified acks come back</a:t>
            </a:r>
            <a:endParaRPr lang="en-US" sz="1250" dirty="0"/>
          </a:p>
          <a:p>
            <a:pPr marL="342900" indent="-342900">
              <a:spcAft>
                <a:spcPts val="600"/>
              </a:spcAft>
              <a:buSzPct val="100000"/>
              <a:buChar char="•"/>
            </a:pPr>
            <a:r>
              <a:rPr lang="en-US" sz="1250" dirty="0">
                <a:solidFill>
                  <a:schemeClr val="tx1"/>
                </a:solidFill>
              </a:rPr>
              <a:t>The flattening algorithm and the guard, running on the fleet every two grid hours</a:t>
            </a:r>
            <a:endParaRPr lang="en-US" sz="1250" dirty="0"/>
          </a:p>
          <a:p>
            <a:pPr marL="342900" indent="-342900">
              <a:spcAft>
                <a:spcPts val="600"/>
              </a:spcAft>
              <a:buSzPct val="100000"/>
              <a:buChar char="•"/>
            </a:pPr>
            <a:r>
              <a:rPr lang="en-US" sz="1250" dirty="0">
                <a:solidFill>
                  <a:schemeClr val="tx1"/>
                </a:solidFill>
              </a:rPr>
              <a:t>Measured on streets with cars: 18-31 % off the evening peak, inside what published smart-charging and home-battery pilots report (3-6 kW per EV house, 1-2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MODELLED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program houses with 10-25 kWh batteries, 1,190 with an 11 kW charger needing 6-26 kWh a night</a:t>
            </a:r>
            <a:endParaRPr lang="en-US" sz="1250" dirty="0"/>
          </a:p>
          <a:p>
            <a:pPr marL="342900" indent="-342900">
              <a:spcAft>
                <a:spcPts val="600"/>
              </a:spcAft>
              <a:buSzPct val="100000"/>
              <a:buChar char="•"/>
            </a:pPr>
            <a:r>
              <a:rPr lang="en-US" sz="1250" dirty="0">
                <a:solidFill>
                  <a:schemeClr val="tx1"/>
                </a:solidFill>
              </a:rPr>
              <a:t>The "without" curve is the same houses with no signal: a car charges on 55 % of nights, arrivals spread over three hours, full power until full. No inflated coincidence</a:t>
            </a:r>
            <a:endParaRPr lang="en-US" sz="1250" dirty="0"/>
          </a:p>
          <a:p>
            <a:pPr marL="342900" indent="-342900">
              <a:spcAft>
                <a:spcPts val="600"/>
              </a:spcAft>
              <a:buSzPct val="100000"/>
              <a:buChar char="•"/>
            </a:pPr>
            <a:r>
              <a:rPr lang="en-US" sz="1250" dirty="0">
                <a:solidFill>
                  <a:schemeClr val="tx1"/>
                </a:solidFill>
              </a:rPr>
              <a:t>Program houses carry ~30 % of a street's evening load here: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vendor, a DSO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Enrolment bound to the meter point and operator login, two weeks. GoodWe agent on our own plant, one week.</a:t>
            </a:r>
            <a:endParaRPr lang="en-US" sz="2200" dirty="0"/>
          </a:p>
          <a:p>
            <a:pPr algn="l" indent="0" marL="0">
              <a:buNone/>
            </a:pPr>
            <a:r>
              <a:rPr lang="en-US" sz="2200" dirty="0">
                <a:solidFill>
                  <a:schemeClr val="tx2"/>
                </a:solidFill>
              </a:rPr>
              <a:t>A ten-house pilot with a Slovak or Austrian DSO on one real transformer, this winter.</a:t>
            </a:r>
            <a:endParaRPr lang="en-US" sz="2200" dirty="0"/>
          </a:p>
          <a:p>
            <a:pPr algn="l" indent="0" marL="0">
              <a:buNone/>
            </a:pPr>
            <a:r>
              <a:rPr lang="en-US" sz="2200" dirty="0">
                <a:solidFill>
                  <a:schemeClr val="tx2"/>
                </a:solidFill>
              </a:rPr>
              <a:t>The vision: streets that island on grid-forming inverters when the 22 kV line is gone, rationed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2026-10-24T13:26:24Z</dcterms:created>
  <dcterms:modified xsi:type="dcterms:W3CDTF">2026-10-24T13:26:24Z</dcterms:modified>
</cp:coreProperties>
</file>