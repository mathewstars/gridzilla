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b8c6cd9d-3085-8c94-5ae5-63ead723e2cd}">
          <p14:sldIdLst>
            <p14:sldId id="256"/>
          </p14:sldIdLst>
        </p14:section>
        <p14:section name="Why" id="{bf61c389-3c5b-4c4f-a7ad-3a9f1a51a451}">
          <p14:sldIdLst>
            <p14:sldId id="257"/>
          </p14:sldIdLst>
        </p14:section>
        <p14:section name="What" id="{728217c1-208f-fd65-9a80-2fcdb7f29d87}">
          <p14:sldIdLst>
            <p14:sldId id="258"/>
          </p14:sldIdLst>
        </p14:section>
        <p14:section name="Demo" id="{b2fbbe2c-d6e3-5287-13f6-06d694910981}">
          <p14:sldIdLst>
            <p14:sldId id="260"/>
          </p14:sldIdLst>
        </p14:section>
        <p14:section name="Close" id="{a8d08dc9-afa3-e5c7-c625-6d797eefc15e}">
          <p14:sldIdLst>
            <p14:sldId id="262"/>
          </p14:sldIdLst>
        </p14:section>
        <p14:section name="Appendix" id="{ae5e7d69-1916-e1bf-d378-317ae423ddf9}">
          <p14:sldIdLst>
            <p14:sldId id="263"/>
            <p14:sldId id="264"/>
            <p14:sldId id="265"/>
            <p14:sldId id="266"/>
            <p14:sldId id="267"/>
            <p14:sldId id="268"/>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0:00-0:30. The trailer covers the whole slide: click it the moment the slide is up, it plays full screen with the jingle, 32 seconds, say nothing. When it fades to black, one line, deadpan: Now you probably wonder what the monster really is.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0:30-0:55. It is a grid signal that home batteries, cars and heat pumps follow. Europe's largest battery is in people's basements, and the grid can use none of it. Slovakia has no signal at all. Germany has a dimmer switch on one device. Ukraine had three gigawatt hours of home storage sitting idle through the blackouts. The storage exists. The signal does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0:55-1:35. One message does the whole job. This street, next three hours, take at most three kilowatts per house. Every house under it reads the same line: the Victron, the GoodWe, the Viessmann, the car charger. Each one sorts it out by itself: battery first, car second, hot water third. Same message at noon: give at most two, and the sun goes into the batteries instead of the feeder. Same message after an outage: be full by seven, and the street refills without a second blackout. The operator only ever sends a limit, never a command, which is why an operator can sign up for it tomorrow. An AI writes the message every fifteen minutes, thirty lines of rules check it, the platform signs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1:35-2:15. Gridzilla eats peaks. Every street, every evening. At six the cars come home and the transformer would go to a hundred and ten percent. With Gridzilla it stays at seventy. The cars still charge, just not at dinner: plugged in at six, trickle through the evening, full by seven in the morning. The batteries eat the dinner spike, the noon sun charges them. Nobody at home notices. The operator never buys the bigger transformer. Planned every two hours from the real weather, by thirty lines of code, not by the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2:15-3:30. Alt-tab to the board, talk while clicking. VIENNA: seventy-two transformers, two hundred seventy-two households, one of them real; blue with, grey without, orange eaten. Tiles: what the AI saw, what it chose, the rule check, the signed message. Flattening tab, VIENNA then one street: tonight's plan. Pin Blatnica: the real plant live, last reply verified. Autopilot, pause heartbeat: the operator goes dark, every house goes back to normal. Resume. If behind, skip Blatnica, keep the heartbeat.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3:30-3:55. Real: the whole path, a Victron plant and a Viessmann heat pump reacting to a signed message, the planning on the fleet. Simulated: the fleet, two thousand houses, same cars with and without, realistic charging. Measured tonight: one street thirty-one percent off its peak, Vienna with two thousand houses five megawatts off, a street where no car charged,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3:55-4:20. We need one street transformer to pilot on, this winter. Sign-up is two weeks, a second maker one week, we own the plant. After that: streets that keep their lights on from their own batteries when the line is gone. Gridzilla. It eats peaks for breakfast.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for questions. Do not read all six. Point at SUPPORT and ABSORB, the everyday ones, PREPARE and RECOVER, the crisis ones, and name STRETCH as the vision: a street that keeps its lights on from its own basements needs grid-forming inverters, which are arriving. The protocol already has the signal for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for questions. The vendor only owns step five. Everything else is identical on the Victron, on the ViCare cloud agent and on the 270 simulated houses.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for questions. AI proposes, guard disposes. Say it twice. Then: why the guard is not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for questions. The point of this slide is credibility: nothing is a mock-up. Name the two real devices and the public broker.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for questions. Left: vendor independence is proven by the simulators, which run no Victron code. Right: the economics in two sentences, pay on the meter and the dynamic connection.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for questions. Our numbers, not a quote. The point is the shape: small platform, incentive is the real opex, capex deferral is the saving, and enforcement on the meter is what makes the saving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for questions. Grey is what the same houses would have drawn, blue is what they drew, red is the transformer. The gap is the product. Real numbers from the running system, 8 houses per simulated household.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for questions: the security slide. Six controls, then the two gaps yourself. A juror who finds a gap you named is on your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15181C"/>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103120"/>
            <a:ext cx="11091672" cy="1463040"/>
          </a:xfrm>
          <a:prstGeom prst="rect">
            <a:avLst/>
          </a:prstGeom>
          <a:noFill/>
          <a:ln/>
        </p:spPr>
        <p:txBody>
          <a:bodyPr wrap="square" rtlCol="0"/>
          <a:lstStyle>
            <a:lvl1pPr algn="l" indent="0" marL="0">
              <a:buNone/>
              <a:defRPr lang="en-US" sz="5400" b="1" dirty="0">
                <a:solidFill>
                  <a:schemeClr val="tx1"/>
                </a:solidFill>
              </a:defRPr>
            </a:lvl1pPr>
          </a:lstStyle>
          <a:p>
            <a:pPr algn="l" indent="0" marL="0">
              <a:buNone/>
            </a:pPr>
            <a:endParaRPr lang="en-US" sz="5400" dirty="0"/>
          </a:p>
        </p:txBody>
      </p:sp>
      <p:sp>
        <p:nvSpPr>
          <p:cNvPr id="3" name="Text 0"/>
          <p:cNvSpPr/>
          <p:nvPr>
            <p:ph idx="101" type="body" hasCustomPrompt="1"/>
          </p:nvPr>
        </p:nvSpPr>
        <p:spPr>
          <a:xfrm>
            <a:off x="548640" y="3703320"/>
            <a:ext cx="11091672" cy="1097280"/>
          </a:xfrm>
          <a:prstGeom prst="rect">
            <a:avLst/>
          </a:prstGeom>
          <a:noFill/>
          <a:ln/>
        </p:spPr>
        <p:txBody>
          <a:bodyPr wrap="square" rtlCol="0"/>
          <a:lstStyle>
            <a:lvl1pPr algn="l" indent="0" marL="0">
              <a:buNone/>
              <a:defRPr lang="en-US" sz="2200" dirty="0">
                <a:solidFill>
                  <a:schemeClr val="tx2"/>
                </a:solidFill>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15181C"/>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chemeClr val="tx2"/>
                </a:solidFill>
              </a:rPr>
              <a:t>Gridzilla · Energy Bridge Critical Infrastructure Hackathon · Vienna 2026</a:t>
            </a:r>
            <a:endParaRPr lang="en-US" sz="10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video" Target="../media/media-1-1.mp4"/><Relationship Id="rId2" Type="http://schemas.microsoft.com/office/2007/relationships/media" Target="../media/media-1-1.mp4"/><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dot"/>
          <p:cNvSpPr/>
          <p:nvPr/>
        </p:nvSpPr>
        <p:spPr>
          <a:xfrm>
            <a:off x="548640" y="1417320"/>
            <a:ext cx="384048" cy="384048"/>
          </a:xfrm>
          <a:prstGeom prst="ellipse">
            <a:avLst/>
          </a:prstGeom>
          <a:solidFill>
            <a:schemeClr val="accent1"/>
          </a:solidFill>
          <a:ln w="12700">
            <a:solidFill>
              <a:schemeClr val="accent1"/>
            </a:solidFill>
            <a:prstDash val="solid"/>
          </a:ln>
        </p:spPr>
      </p:sp>
      <p:sp>
        <p:nvSpPr>
          <p:cNvPr id="3" name="Text 1"/>
          <p:cNvSpPr txBox="1"/>
          <p:nvPr/>
        </p:nvSpPr>
        <p:spPr>
          <a:xfrm>
            <a:off x="1097280" y="1371600"/>
            <a:ext cx="5486400" cy="457200"/>
          </a:xfrm>
          <a:prstGeom prst="rect">
            <a:avLst/>
          </a:prstGeom>
          <a:noFill/>
          <a:ln/>
        </p:spPr>
        <p:txBody>
          <a:bodyPr wrap="square" lIns="0" tIns="0" rIns="0" bIns="0" rtlCol="0" anchor="ctr"/>
          <a:lstStyle/>
          <a:p>
            <a:pPr indent="0" marL="0">
              <a:buNone/>
            </a:pPr>
            <a:r>
              <a:rPr lang="en-US" sz="2000" b="1" dirty="0">
                <a:solidFill>
                  <a:schemeClr val="accent1"/>
                </a:solidFill>
                <a:latin typeface="Arial" pitchFamily="34" charset="0"/>
                <a:ea typeface="Arial" pitchFamily="34" charset="-122"/>
                <a:cs typeface="Arial" pitchFamily="34" charset="-120"/>
              </a:rPr>
              <a:t>GRIDZILLA</a:t>
            </a:r>
            <a:endParaRPr lang="en-US" sz="2000" dirty="0"/>
          </a:p>
        </p:txBody>
      </p:sp>
      <p:sp>
        <p:nvSpPr>
          <p:cNvPr id="4" name="Text 0"/>
          <p:cNvSpPr/>
          <p:nvPr>
            <p:ph idx="100" type="title" hasCustomPrompt="1"/>
          </p:nvPr>
        </p:nvSpPr>
        <p:spPr>
          <a:xfrm>
            <a:off x="548640" y="2103120"/>
            <a:ext cx="11091672" cy="1463040"/>
          </a:xfrm>
          <a:prstGeom prst="rect">
            <a:avLst/>
          </a:prstGeom>
          <a:noFill/>
          <a:ln/>
        </p:spPr>
        <p:txBody>
          <a:bodyPr wrap="square" lIns="0" tIns="0" rIns="0" bIns="0" rtlCol="0" anchor="b"/>
          <a:lstStyle/>
          <a:p>
            <a:pPr algn="l" indent="0" marL="0">
              <a:buNone/>
            </a:pPr>
            <a:r>
              <a:rPr lang="en-US" sz="5400" b="1" dirty="0">
                <a:solidFill>
                  <a:schemeClr val="tx1"/>
                </a:solidFill>
              </a:rPr>
              <a:t>The grid operator's monster. Every house keeps it on a leash.</a:t>
            </a:r>
            <a:endParaRPr lang="en-US" sz="5400" dirty="0"/>
          </a:p>
        </p:txBody>
      </p:sp>
      <p:sp>
        <p:nvSpPr>
          <p:cNvPr id="5" name="Text 0"/>
          <p:cNvSpPr/>
          <p:nvPr>
            <p:ph idx="101" type="body" hasCustomPrompt="1"/>
          </p:nvPr>
        </p:nvSpPr>
        <p:spPr>
          <a:xfrm>
            <a:off x="548640" y="3703320"/>
            <a:ext cx="11091672" cy="1097280"/>
          </a:xfrm>
          <a:prstGeom prst="rect">
            <a:avLst/>
          </a:prstGeom>
          <a:noFill/>
          <a:ln/>
        </p:spPr>
        <p:txBody>
          <a:bodyPr wrap="square" lIns="0" tIns="0" rIns="0" bIns="0" rtlCol="0" anchor="t"/>
          <a:lstStyle/>
          <a:p>
            <a:pPr algn="l" indent="0" marL="0">
              <a:buNone/>
            </a:pPr>
            <a:r>
              <a:rPr lang="en-US" sz="2200" dirty="0">
                <a:solidFill>
                  <a:schemeClr val="tx2"/>
                </a:solidFill>
              </a:rPr>
              <a:t>One simple message from the grid operator to home batteries, cars and heat pumps: how much the house may take or give, and for how long.</a:t>
            </a:r>
            <a:endParaRPr lang="en-US" sz="2200" dirty="0"/>
          </a:p>
          <a:p>
            <a:pPr algn="l" indent="0" marL="0">
              <a:buNone/>
            </a:pPr>
            <a:r>
              <a:rPr lang="en-US" sz="2200" dirty="0">
                <a:solidFill>
                  <a:schemeClr val="tx2"/>
                </a:solidFill>
              </a:rPr>
              <a:t>An AI runs the grid, a real plant in Blatnica follows it live.</a:t>
            </a:r>
            <a:endParaRPr lang="en-US" sz="2200" dirty="0"/>
          </a:p>
        </p:txBody>
      </p:sp>
      <p:sp>
        <p:nvSpPr>
          <p:cNvPr id="6" name="Text 4"/>
          <p:cNvSpPr txBox="1"/>
          <p:nvPr/>
        </p:nvSpPr>
        <p:spPr>
          <a:xfrm>
            <a:off x="548640" y="6035040"/>
            <a:ext cx="11091672" cy="365760"/>
          </a:xfrm>
          <a:prstGeom prst="rect">
            <a:avLst/>
          </a:prstGeom>
          <a:noFill/>
          <a:ln/>
        </p:spPr>
        <p:txBody>
          <a:bodyPr wrap="square" lIns="0" tIns="0" rIns="0" bIns="0" rtlCol="0" anchor="t"/>
          <a:lstStyle/>
          <a:p>
            <a:pPr indent="0" marL="0">
              <a:buNone/>
            </a:pPr>
            <a:r>
              <a:rPr lang="en-US" sz="1200" dirty="0">
                <a:solidFill>
                  <a:schemeClr val="tx2"/>
                </a:solidFill>
              </a:rPr>
              <a:t>Mathew Stafurik · Peter Mikeška · Matthew  ·  Grid-Serving Storage track  ·  github.com/mathewstars/Gridzilla  ·  gridzilla.victronlab.sk</a:t>
            </a:r>
            <a:endParaRPr lang="en-US" sz="1200" dirty="0"/>
          </a:p>
        </p:txBody>
      </p:sp>
      <p:pic>
        <p:nvPicPr>
          <p:cNvPr id="3" name="Gridzilla trailer">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88952"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Europe's largest battery is in people's basements. The grid cannot use any of it</a:t>
            </a:r>
            <a:endParaRPr lang="en-US" sz="3200" dirty="0"/>
          </a:p>
        </p:txBody>
      </p:sp>
      <p:sp>
        <p:nvSpPr>
          <p:cNvPr id="3" name="stat signals from a grid operator to home batteries in Slovakia today. The one pilot helped the national grid, not the street"/>
          <p:cNvSpPr/>
          <p:nvPr/>
        </p:nvSpPr>
        <p:spPr>
          <a:xfrm>
            <a:off x="548640" y="1554480"/>
            <a:ext cx="3566160" cy="1417320"/>
          </a:xfrm>
          <a:prstGeom prst="roundRect">
            <a:avLst>
              <a:gd name="adj" fmla="val 5161"/>
            </a:avLst>
          </a:prstGeom>
          <a:solidFill>
            <a:schemeClr val="bg2"/>
          </a:solidFill>
          <a:ln w="9525">
            <a:solidFill>
              <a:schemeClr val="bg2"/>
            </a:solidFill>
            <a:prstDash val="solid"/>
          </a:ln>
        </p:spPr>
      </p:sp>
      <p:sp>
        <p:nvSpPr>
          <p:cNvPr id="4" name="Text 2"/>
          <p:cNvSpPr txBox="1"/>
          <p:nvPr/>
        </p:nvSpPr>
        <p:spPr>
          <a:xfrm>
            <a:off x="777240" y="1719072"/>
            <a:ext cx="3108960" cy="731520"/>
          </a:xfrm>
          <a:prstGeom prst="rect">
            <a:avLst/>
          </a:prstGeom>
          <a:noFill/>
          <a:ln/>
        </p:spPr>
        <p:txBody>
          <a:bodyPr wrap="square" lIns="0" tIns="0" rIns="0" bIns="0" rtlCol="0" anchor="t"/>
          <a:lstStyle/>
          <a:p>
            <a:pPr indent="0" marL="0">
              <a:buNone/>
            </a:pPr>
            <a:r>
              <a:rPr lang="en-US" sz="3600" b="1" dirty="0">
                <a:solidFill>
                  <a:schemeClr val="accent4"/>
                </a:solidFill>
                <a:latin typeface="Arial" pitchFamily="34" charset="0"/>
                <a:ea typeface="Arial" pitchFamily="34" charset="-122"/>
                <a:cs typeface="Arial" pitchFamily="34" charset="-120"/>
              </a:rPr>
              <a:t>0</a:t>
            </a:r>
            <a:endParaRPr lang="en-US" sz="3600" dirty="0"/>
          </a:p>
        </p:txBody>
      </p:sp>
      <p:sp>
        <p:nvSpPr>
          <p:cNvPr id="5" name="Text 3"/>
          <p:cNvSpPr txBox="1"/>
          <p:nvPr/>
        </p:nvSpPr>
        <p:spPr>
          <a:xfrm>
            <a:off x="777240" y="2450592"/>
            <a:ext cx="3108960" cy="457200"/>
          </a:xfrm>
          <a:prstGeom prst="rect">
            <a:avLst/>
          </a:prstGeom>
          <a:noFill/>
          <a:ln/>
        </p:spPr>
        <p:txBody>
          <a:bodyPr wrap="square" lIns="0" tIns="0" rIns="0" bIns="0" rtlCol="0" anchor="t"/>
          <a:lstStyle/>
          <a:p>
            <a:pPr indent="0" marL="0">
              <a:buNone/>
            </a:pPr>
            <a:r>
              <a:rPr lang="en-US" sz="1200" dirty="0">
                <a:solidFill>
                  <a:schemeClr val="tx2"/>
                </a:solidFill>
              </a:rPr>
              <a:t>signals from a grid operator to home batteries in Slovakia today. The one pilot helped the national grid, not the street</a:t>
            </a:r>
            <a:endParaRPr lang="en-US" sz="1200" dirty="0"/>
          </a:p>
        </p:txBody>
      </p:sp>
      <p:sp>
        <p:nvSpPr>
          <p:cNvPr id="6" name="stat Germany's best case: the operator may dim a new charger down to this. Charging only, used in under 1 % of hours"/>
          <p:cNvSpPr/>
          <p:nvPr/>
        </p:nvSpPr>
        <p:spPr>
          <a:xfrm>
            <a:off x="4297680" y="1554480"/>
            <a:ext cx="3566160" cy="1417320"/>
          </a:xfrm>
          <a:prstGeom prst="roundRect">
            <a:avLst>
              <a:gd name="adj" fmla="val 5161"/>
            </a:avLst>
          </a:prstGeom>
          <a:solidFill>
            <a:schemeClr val="bg2"/>
          </a:solidFill>
          <a:ln w="9525">
            <a:solidFill>
              <a:schemeClr val="bg2"/>
            </a:solidFill>
            <a:prstDash val="solid"/>
          </a:ln>
        </p:spPr>
      </p:sp>
      <p:sp>
        <p:nvSpPr>
          <p:cNvPr id="7" name="Text 5"/>
          <p:cNvSpPr txBox="1"/>
          <p:nvPr/>
        </p:nvSpPr>
        <p:spPr>
          <a:xfrm>
            <a:off x="4526280" y="1719072"/>
            <a:ext cx="3108960" cy="731520"/>
          </a:xfrm>
          <a:prstGeom prst="rect">
            <a:avLst/>
          </a:prstGeom>
          <a:noFill/>
          <a:ln/>
        </p:spPr>
        <p:txBody>
          <a:bodyPr wrap="square" lIns="0" tIns="0" rIns="0" bIns="0" rtlCol="0" anchor="t"/>
          <a:lstStyle/>
          <a:p>
            <a:pPr indent="0" marL="0">
              <a:buNone/>
            </a:pPr>
            <a:r>
              <a:rPr lang="en-US" sz="3600" b="1" dirty="0">
                <a:solidFill>
                  <a:schemeClr val="accent6"/>
                </a:solidFill>
                <a:latin typeface="Arial" pitchFamily="34" charset="0"/>
                <a:ea typeface="Arial" pitchFamily="34" charset="-122"/>
                <a:cs typeface="Arial" pitchFamily="34" charset="-120"/>
              </a:rPr>
              <a:t>4.2 kW</a:t>
            </a:r>
            <a:endParaRPr lang="en-US" sz="3600" dirty="0"/>
          </a:p>
        </p:txBody>
      </p:sp>
      <p:sp>
        <p:nvSpPr>
          <p:cNvPr id="8" name="Text 6"/>
          <p:cNvSpPr txBox="1"/>
          <p:nvPr/>
        </p:nvSpPr>
        <p:spPr>
          <a:xfrm>
            <a:off x="4526280" y="2450592"/>
            <a:ext cx="3108960" cy="457200"/>
          </a:xfrm>
          <a:prstGeom prst="rect">
            <a:avLst/>
          </a:prstGeom>
          <a:noFill/>
          <a:ln/>
        </p:spPr>
        <p:txBody>
          <a:bodyPr wrap="square" lIns="0" tIns="0" rIns="0" bIns="0" rtlCol="0" anchor="t"/>
          <a:lstStyle/>
          <a:p>
            <a:pPr indent="0" marL="0">
              <a:buNone/>
            </a:pPr>
            <a:r>
              <a:rPr lang="en-US" sz="1200" dirty="0">
                <a:solidFill>
                  <a:schemeClr val="tx2"/>
                </a:solidFill>
              </a:rPr>
              <a:t>Germany's best case: the operator may dim a new charger down to this. Charging only, used in under 1 % of hours</a:t>
            </a:r>
            <a:endParaRPr lang="en-US" sz="1200" dirty="0"/>
          </a:p>
        </p:txBody>
      </p:sp>
      <p:sp>
        <p:nvSpPr>
          <p:cNvPr id="9" name="stat of home batteries installed in Ukraine in 2025 alone. People charge them by hand before the published outage schedule"/>
          <p:cNvSpPr/>
          <p:nvPr/>
        </p:nvSpPr>
        <p:spPr>
          <a:xfrm>
            <a:off x="8046720" y="1554480"/>
            <a:ext cx="3566160" cy="1417320"/>
          </a:xfrm>
          <a:prstGeom prst="roundRect">
            <a:avLst>
              <a:gd name="adj" fmla="val 5161"/>
            </a:avLst>
          </a:prstGeom>
          <a:solidFill>
            <a:schemeClr val="bg2"/>
          </a:solidFill>
          <a:ln w="9525">
            <a:solidFill>
              <a:schemeClr val="bg2"/>
            </a:solidFill>
            <a:prstDash val="solid"/>
          </a:ln>
        </p:spPr>
      </p:sp>
      <p:sp>
        <p:nvSpPr>
          <p:cNvPr id="10" name="Text 8"/>
          <p:cNvSpPr txBox="1"/>
          <p:nvPr/>
        </p:nvSpPr>
        <p:spPr>
          <a:xfrm>
            <a:off x="8275320" y="1719072"/>
            <a:ext cx="3108960" cy="731520"/>
          </a:xfrm>
          <a:prstGeom prst="rect">
            <a:avLst/>
          </a:prstGeom>
          <a:noFill/>
          <a:ln/>
        </p:spPr>
        <p:txBody>
          <a:bodyPr wrap="square" lIns="0" tIns="0" rIns="0" bIns="0" rtlCol="0" anchor="t"/>
          <a:lstStyle/>
          <a:p>
            <a:pPr indent="0" marL="0">
              <a:buNone/>
            </a:pPr>
            <a:r>
              <a:rPr lang="en-US" sz="3600" b="1" dirty="0">
                <a:solidFill>
                  <a:schemeClr val="accent2"/>
                </a:solidFill>
                <a:latin typeface="Arial" pitchFamily="34" charset="0"/>
                <a:ea typeface="Arial" pitchFamily="34" charset="-122"/>
                <a:cs typeface="Arial" pitchFamily="34" charset="-120"/>
              </a:rPr>
              <a:t>3 GWh</a:t>
            </a:r>
            <a:endParaRPr lang="en-US" sz="3600" dirty="0"/>
          </a:p>
        </p:txBody>
      </p:sp>
      <p:sp>
        <p:nvSpPr>
          <p:cNvPr id="11" name="Text 9"/>
          <p:cNvSpPr txBox="1"/>
          <p:nvPr/>
        </p:nvSpPr>
        <p:spPr>
          <a:xfrm>
            <a:off x="8275320" y="2450592"/>
            <a:ext cx="3108960" cy="457200"/>
          </a:xfrm>
          <a:prstGeom prst="rect">
            <a:avLst/>
          </a:prstGeom>
          <a:noFill/>
          <a:ln/>
        </p:spPr>
        <p:txBody>
          <a:bodyPr wrap="square" lIns="0" tIns="0" rIns="0" bIns="0" rtlCol="0" anchor="t"/>
          <a:lstStyle/>
          <a:p>
            <a:pPr indent="0" marL="0">
              <a:buNone/>
            </a:pPr>
            <a:r>
              <a:rPr lang="en-US" sz="1200" dirty="0">
                <a:solidFill>
                  <a:schemeClr val="tx2"/>
                </a:solidFill>
              </a:rPr>
              <a:t>of home batteries installed in Ukraine in 2025 alone. People charge them by hand before the published outage schedule</a:t>
            </a:r>
            <a:endParaRPr lang="en-US" sz="1200" dirty="0"/>
          </a:p>
        </p:txBody>
      </p:sp>
      <p:sp>
        <p:nvSpPr>
          <p:cNvPr id="12" name="problem"/>
          <p:cNvSpPr/>
          <p:nvPr/>
        </p:nvSpPr>
        <p:spPr>
          <a:xfrm>
            <a:off x="548640" y="3291840"/>
            <a:ext cx="11091672" cy="2377440"/>
          </a:xfrm>
          <a:prstGeom prst="roundRect">
            <a:avLst>
              <a:gd name="adj" fmla="val 3077"/>
            </a:avLst>
          </a:prstGeom>
          <a:solidFill>
            <a:schemeClr val="bg2"/>
          </a:solidFill>
          <a:ln w="9525">
            <a:solidFill>
              <a:schemeClr val="bg2"/>
            </a:solidFill>
            <a:prstDash val="solid"/>
          </a:ln>
        </p:spPr>
      </p:sp>
      <p:sp>
        <p:nvSpPr>
          <p:cNvPr id="13" name="Text 11"/>
          <p:cNvSpPr txBox="1"/>
          <p:nvPr/>
        </p:nvSpPr>
        <p:spPr>
          <a:xfrm>
            <a:off x="822960" y="3429000"/>
            <a:ext cx="4572000" cy="365760"/>
          </a:xfrm>
          <a:prstGeom prst="rect">
            <a:avLst/>
          </a:prstGeom>
          <a:noFill/>
          <a:ln/>
        </p:spPr>
        <p:txBody>
          <a:bodyPr wrap="square" lIns="0" tIns="0" rIns="0" bIns="0" rtlCol="0" anchor="t"/>
          <a:lstStyle/>
          <a:p>
            <a:pPr indent="0" marL="0">
              <a:buNone/>
            </a:pPr>
            <a:r>
              <a:rPr lang="en-US" sz="1600" b="1" dirty="0">
                <a:solidFill>
                  <a:schemeClr val="accent1"/>
                </a:solidFill>
              </a:rPr>
              <a:t>What breaks</a:t>
            </a:r>
            <a:endParaRPr lang="en-US" sz="1600" dirty="0"/>
          </a:p>
        </p:txBody>
      </p:sp>
      <p:sp>
        <p:nvSpPr>
          <p:cNvPr id="14" name="Text 12"/>
          <p:cNvSpPr txBox="1"/>
          <p:nvPr/>
        </p:nvSpPr>
        <p:spPr>
          <a:xfrm>
            <a:off x="822960" y="3840480"/>
            <a:ext cx="10543032" cy="17373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Dinner time: heat pumps and car chargers push the street transformer past what it can carry; the operator can only switch people off or dig up the street for a bigger one</a:t>
            </a:r>
            <a:endParaRPr lang="en-US" sz="1500" dirty="0"/>
          </a:p>
          <a:p>
            <a:pPr marL="342900" indent="-342900">
              <a:spcAft>
                <a:spcPts val="600"/>
              </a:spcAft>
              <a:buSzPct val="100000"/>
              <a:buChar char="•"/>
            </a:pPr>
            <a:r>
              <a:rPr lang="en-US" sz="1500" dirty="0">
                <a:solidFill>
                  <a:schemeClr val="tx1"/>
                </a:solidFill>
              </a:rPr>
              <a:t>Sunny noon: everyone exports at once, the voltage rises, new solar connections are refused or capped for a year</a:t>
            </a:r>
            <a:endParaRPr lang="en-US" sz="1500" dirty="0"/>
          </a:p>
          <a:p>
            <a:pPr marL="342900" indent="-342900">
              <a:spcAft>
                <a:spcPts val="600"/>
              </a:spcAft>
              <a:buSzPct val="100000"/>
              <a:buChar char="•"/>
            </a:pPr>
            <a:r>
              <a:rPr lang="en-US" sz="1500" dirty="0">
                <a:solidFill>
                  <a:schemeClr val="tx1"/>
                </a:solidFill>
              </a:rPr>
              <a:t>Crisis: when a transformer is hit or the country is short, everyone is cut equally, including the houses that could have ridden it out</a:t>
            </a:r>
            <a:endParaRPr lang="en-US" sz="15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One signed message from the grid operator to every house, on whatever path the maker of the box prefers</a:t>
            </a:r>
            <a:endParaRPr lang="en-US" sz="3200" dirty="0"/>
          </a:p>
        </p:txBody>
      </p:sp>
      <p:sp>
        <p:nvSpPr>
          <p:cNvPr id="3" name="chain GRID OPERATOR"/>
          <p:cNvSpPr/>
          <p:nvPr/>
        </p:nvSpPr>
        <p:spPr>
          <a:xfrm>
            <a:off x="548640" y="1828800"/>
            <a:ext cx="1965960" cy="1920240"/>
          </a:xfrm>
          <a:prstGeom prst="roundRect">
            <a:avLst>
              <a:gd name="adj" fmla="val 3810"/>
            </a:avLst>
          </a:prstGeom>
          <a:solidFill>
            <a:schemeClr val="bg2"/>
          </a:solidFill>
          <a:ln w="9525">
            <a:solidFill>
              <a:schemeClr val="bg2"/>
            </a:solidFill>
            <a:prstDash val="solid"/>
          </a:ln>
        </p:spPr>
      </p:sp>
      <p:sp>
        <p:nvSpPr>
          <p:cNvPr id="4" name="dot"/>
          <p:cNvSpPr/>
          <p:nvPr/>
        </p:nvSpPr>
        <p:spPr>
          <a:xfrm>
            <a:off x="731520" y="2029968"/>
            <a:ext cx="384048" cy="384048"/>
          </a:xfrm>
          <a:prstGeom prst="ellipse">
            <a:avLst/>
          </a:prstGeom>
          <a:solidFill>
            <a:schemeClr val="accent4"/>
          </a:solidFill>
          <a:ln w="12700">
            <a:solidFill>
              <a:schemeClr val="accent4"/>
            </a:solidFill>
            <a:prstDash val="solid"/>
          </a:ln>
        </p:spPr>
      </p:sp>
      <p:sp>
        <p:nvSpPr>
          <p:cNvPr id="5" name="Text 3"/>
          <p:cNvSpPr txBox="1"/>
          <p:nvPr/>
        </p:nvSpPr>
        <p:spPr>
          <a:xfrm>
            <a:off x="731520" y="2514600"/>
            <a:ext cx="1645920" cy="365760"/>
          </a:xfrm>
          <a:prstGeom prst="rect">
            <a:avLst/>
          </a:prstGeom>
          <a:noFill/>
          <a:ln/>
        </p:spPr>
        <p:txBody>
          <a:bodyPr wrap="square" lIns="0" tIns="0" rIns="0" bIns="0" rtlCol="0" anchor="t"/>
          <a:lstStyle/>
          <a:p>
            <a:pPr indent="0" marL="0">
              <a:buNone/>
            </a:pPr>
            <a:r>
              <a:rPr lang="en-US" sz="1300" b="1" dirty="0">
                <a:solidFill>
                  <a:schemeClr val="tx1"/>
                </a:solidFill>
              </a:rPr>
              <a:t>GRID OPERATOR</a:t>
            </a:r>
            <a:endParaRPr lang="en-US" sz="1300" dirty="0"/>
          </a:p>
        </p:txBody>
      </p:sp>
      <p:sp>
        <p:nvSpPr>
          <p:cNvPr id="6" name="Text 4"/>
          <p:cNvSpPr txBox="1"/>
          <p:nvPr/>
        </p:nvSpPr>
        <p:spPr>
          <a:xfrm>
            <a:off x="731520" y="2852928"/>
            <a:ext cx="1645920" cy="822960"/>
          </a:xfrm>
          <a:prstGeom prst="rect">
            <a:avLst/>
          </a:prstGeom>
          <a:noFill/>
          <a:ln/>
        </p:spPr>
        <p:txBody>
          <a:bodyPr wrap="square" lIns="0" tIns="0" rIns="0" bIns="0" rtlCol="0" anchor="t"/>
          <a:lstStyle/>
          <a:p>
            <a:pPr indent="0" marL="0">
              <a:buNone/>
            </a:pPr>
            <a:r>
              <a:rPr lang="en-US" sz="1150" dirty="0">
                <a:solidFill>
                  <a:schemeClr val="tx2"/>
                </a:solidFill>
              </a:rPr>
              <a:t>sees a street or a district heading past its limit</a:t>
            </a:r>
            <a:endParaRPr lang="en-US" sz="1150" dirty="0"/>
          </a:p>
        </p:txBody>
      </p:sp>
      <p:sp>
        <p:nvSpPr>
          <p:cNvPr id="7" name="arrow"/>
          <p:cNvSpPr/>
          <p:nvPr/>
        </p:nvSpPr>
        <p:spPr>
          <a:xfrm>
            <a:off x="2532888" y="2651760"/>
            <a:ext cx="237744" cy="292608"/>
          </a:xfrm>
          <a:prstGeom prst="rightArrow">
            <a:avLst/>
          </a:prstGeom>
          <a:solidFill>
            <a:srgbClr val="A2A9B3"/>
          </a:solidFill>
          <a:ln w="12700">
            <a:solidFill>
              <a:srgbClr val="A2A9B3"/>
            </a:solidFill>
            <a:prstDash val="solid"/>
          </a:ln>
        </p:spPr>
      </p:sp>
      <p:sp>
        <p:nvSpPr>
          <p:cNvPr id="8" name="chain GRIDZILLA"/>
          <p:cNvSpPr/>
          <p:nvPr/>
        </p:nvSpPr>
        <p:spPr>
          <a:xfrm>
            <a:off x="2788920" y="1828800"/>
            <a:ext cx="1965960" cy="1920240"/>
          </a:xfrm>
          <a:prstGeom prst="roundRect">
            <a:avLst>
              <a:gd name="adj" fmla="val 3810"/>
            </a:avLst>
          </a:prstGeom>
          <a:solidFill>
            <a:schemeClr val="bg2"/>
          </a:solidFill>
          <a:ln w="9525">
            <a:solidFill>
              <a:schemeClr val="bg2"/>
            </a:solidFill>
            <a:prstDash val="solid"/>
          </a:ln>
        </p:spPr>
      </p:sp>
      <p:sp>
        <p:nvSpPr>
          <p:cNvPr id="9" name="dot"/>
          <p:cNvSpPr/>
          <p:nvPr/>
        </p:nvSpPr>
        <p:spPr>
          <a:xfrm>
            <a:off x="2971800" y="2029968"/>
            <a:ext cx="384048" cy="384048"/>
          </a:xfrm>
          <a:prstGeom prst="ellipse">
            <a:avLst/>
          </a:prstGeom>
          <a:solidFill>
            <a:schemeClr val="accent1"/>
          </a:solidFill>
          <a:ln w="12700">
            <a:solidFill>
              <a:schemeClr val="accent1"/>
            </a:solidFill>
            <a:prstDash val="solid"/>
          </a:ln>
        </p:spPr>
      </p:sp>
      <p:sp>
        <p:nvSpPr>
          <p:cNvPr id="10" name="Text 8"/>
          <p:cNvSpPr txBox="1"/>
          <p:nvPr/>
        </p:nvSpPr>
        <p:spPr>
          <a:xfrm>
            <a:off x="2971800" y="2514600"/>
            <a:ext cx="1645920" cy="365760"/>
          </a:xfrm>
          <a:prstGeom prst="rect">
            <a:avLst/>
          </a:prstGeom>
          <a:noFill/>
          <a:ln/>
        </p:spPr>
        <p:txBody>
          <a:bodyPr wrap="square" lIns="0" tIns="0" rIns="0" bIns="0" rtlCol="0" anchor="t"/>
          <a:lstStyle/>
          <a:p>
            <a:pPr indent="0" marL="0">
              <a:buNone/>
            </a:pPr>
            <a:r>
              <a:rPr lang="en-US" sz="1300" b="1" dirty="0">
                <a:solidFill>
                  <a:schemeClr val="tx1"/>
                </a:solidFill>
              </a:rPr>
              <a:t>GRIDZILLA</a:t>
            </a:r>
            <a:endParaRPr lang="en-US" sz="1300" dirty="0"/>
          </a:p>
        </p:txBody>
      </p:sp>
      <p:sp>
        <p:nvSpPr>
          <p:cNvPr id="11" name="Text 9"/>
          <p:cNvSpPr txBox="1"/>
          <p:nvPr/>
        </p:nvSpPr>
        <p:spPr>
          <a:xfrm>
            <a:off x="2971800" y="2852928"/>
            <a:ext cx="1645920" cy="822960"/>
          </a:xfrm>
          <a:prstGeom prst="rect">
            <a:avLst/>
          </a:prstGeom>
          <a:noFill/>
          <a:ln/>
        </p:spPr>
        <p:txBody>
          <a:bodyPr wrap="square" lIns="0" tIns="0" rIns="0" bIns="0" rtlCol="0" anchor="t"/>
          <a:lstStyle/>
          <a:p>
            <a:pPr indent="0" marL="0">
              <a:buNone/>
            </a:pPr>
            <a:r>
              <a:rPr lang="en-US" sz="1150" dirty="0">
                <a:solidFill>
                  <a:schemeClr val="tx2"/>
                </a:solidFill>
              </a:rPr>
              <a:t>checks the rules, signs the message, addresses one street or one district</a:t>
            </a:r>
            <a:endParaRPr lang="en-US" sz="1150" dirty="0"/>
          </a:p>
        </p:txBody>
      </p:sp>
      <p:sp>
        <p:nvSpPr>
          <p:cNvPr id="12" name="arrow"/>
          <p:cNvSpPr/>
          <p:nvPr/>
        </p:nvSpPr>
        <p:spPr>
          <a:xfrm>
            <a:off x="4773168" y="2651760"/>
            <a:ext cx="237744" cy="292608"/>
          </a:xfrm>
          <a:prstGeom prst="rightArrow">
            <a:avLst/>
          </a:prstGeom>
          <a:solidFill>
            <a:srgbClr val="A2A9B3"/>
          </a:solidFill>
          <a:ln w="12700">
            <a:solidFill>
              <a:srgbClr val="A2A9B3"/>
            </a:solidFill>
            <a:prstDash val="solid"/>
          </a:ln>
        </p:spPr>
      </p:sp>
      <p:sp>
        <p:nvSpPr>
          <p:cNvPr id="13" name="chain MESSAGE BUS"/>
          <p:cNvSpPr/>
          <p:nvPr/>
        </p:nvSpPr>
        <p:spPr>
          <a:xfrm>
            <a:off x="5029200" y="1828800"/>
            <a:ext cx="1965960" cy="1920240"/>
          </a:xfrm>
          <a:prstGeom prst="roundRect">
            <a:avLst>
              <a:gd name="adj" fmla="val 3810"/>
            </a:avLst>
          </a:prstGeom>
          <a:solidFill>
            <a:schemeClr val="bg2"/>
          </a:solidFill>
          <a:ln w="9525">
            <a:solidFill>
              <a:schemeClr val="bg2"/>
            </a:solidFill>
            <a:prstDash val="solid"/>
          </a:ln>
        </p:spPr>
      </p:sp>
      <p:sp>
        <p:nvSpPr>
          <p:cNvPr id="14" name="dot"/>
          <p:cNvSpPr/>
          <p:nvPr/>
        </p:nvSpPr>
        <p:spPr>
          <a:xfrm>
            <a:off x="5212080" y="2029968"/>
            <a:ext cx="384048" cy="384048"/>
          </a:xfrm>
          <a:prstGeom prst="ellipse">
            <a:avLst/>
          </a:prstGeom>
          <a:solidFill>
            <a:schemeClr val="tx2"/>
          </a:solidFill>
          <a:ln w="12700">
            <a:solidFill>
              <a:schemeClr val="tx2"/>
            </a:solidFill>
            <a:prstDash val="solid"/>
          </a:ln>
        </p:spPr>
      </p:sp>
      <p:sp>
        <p:nvSpPr>
          <p:cNvPr id="15" name="Text 13"/>
          <p:cNvSpPr txBox="1"/>
          <p:nvPr/>
        </p:nvSpPr>
        <p:spPr>
          <a:xfrm>
            <a:off x="5212080" y="2514600"/>
            <a:ext cx="1645920" cy="365760"/>
          </a:xfrm>
          <a:prstGeom prst="rect">
            <a:avLst/>
          </a:prstGeom>
          <a:noFill/>
          <a:ln/>
        </p:spPr>
        <p:txBody>
          <a:bodyPr wrap="square" lIns="0" tIns="0" rIns="0" bIns="0" rtlCol="0" anchor="t"/>
          <a:lstStyle/>
          <a:p>
            <a:pPr indent="0" marL="0">
              <a:buNone/>
            </a:pPr>
            <a:r>
              <a:rPr lang="en-US" sz="1300" b="1" dirty="0">
                <a:solidFill>
                  <a:schemeClr val="tx1"/>
                </a:solidFill>
              </a:rPr>
              <a:t>MESSAGE BUS</a:t>
            </a:r>
            <a:endParaRPr lang="en-US" sz="1300" dirty="0"/>
          </a:p>
        </p:txBody>
      </p:sp>
      <p:sp>
        <p:nvSpPr>
          <p:cNvPr id="16" name="Text 14"/>
          <p:cNvSpPr txBox="1"/>
          <p:nvPr/>
        </p:nvSpPr>
        <p:spPr>
          <a:xfrm>
            <a:off x="5212080" y="2852928"/>
            <a:ext cx="1645920" cy="822960"/>
          </a:xfrm>
          <a:prstGeom prst="rect">
            <a:avLst/>
          </a:prstGeom>
          <a:noFill/>
          <a:ln/>
        </p:spPr>
        <p:txBody>
          <a:bodyPr wrap="square" lIns="0" tIns="0" rIns="0" bIns="0" rtlCol="0" anchor="t"/>
          <a:lstStyle/>
          <a:p>
            <a:pPr indent="0" marL="0">
              <a:buNone/>
            </a:pPr>
            <a:r>
              <a:rPr lang="en-US" sz="1150" dirty="0">
                <a:solidFill>
                  <a:schemeClr val="tx2"/>
                </a:solidFill>
              </a:rPr>
              <a:t>delivers it, has no authority of its own</a:t>
            </a:r>
            <a:endParaRPr lang="en-US" sz="1150" dirty="0"/>
          </a:p>
        </p:txBody>
      </p:sp>
      <p:sp>
        <p:nvSpPr>
          <p:cNvPr id="17" name="arrow"/>
          <p:cNvSpPr/>
          <p:nvPr/>
        </p:nvSpPr>
        <p:spPr>
          <a:xfrm>
            <a:off x="7013448" y="2651760"/>
            <a:ext cx="237744" cy="292608"/>
          </a:xfrm>
          <a:prstGeom prst="rightArrow">
            <a:avLst/>
          </a:prstGeom>
          <a:solidFill>
            <a:srgbClr val="A2A9B3"/>
          </a:solidFill>
          <a:ln w="12700">
            <a:solidFill>
              <a:srgbClr val="A2A9B3"/>
            </a:solidFill>
            <a:prstDash val="solid"/>
          </a:ln>
        </p:spPr>
      </p:sp>
      <p:sp>
        <p:nvSpPr>
          <p:cNvPr id="18" name="chain HOUSE AGENT"/>
          <p:cNvSpPr/>
          <p:nvPr/>
        </p:nvSpPr>
        <p:spPr>
          <a:xfrm>
            <a:off x="7269480" y="1828800"/>
            <a:ext cx="1965960" cy="1920240"/>
          </a:xfrm>
          <a:prstGeom prst="roundRect">
            <a:avLst>
              <a:gd name="adj" fmla="val 3810"/>
            </a:avLst>
          </a:prstGeom>
          <a:solidFill>
            <a:schemeClr val="bg2"/>
          </a:solidFill>
          <a:ln w="9525">
            <a:solidFill>
              <a:schemeClr val="bg2"/>
            </a:solidFill>
            <a:prstDash val="solid"/>
          </a:ln>
        </p:spPr>
      </p:sp>
      <p:sp>
        <p:nvSpPr>
          <p:cNvPr id="19" name="dot"/>
          <p:cNvSpPr/>
          <p:nvPr/>
        </p:nvSpPr>
        <p:spPr>
          <a:xfrm>
            <a:off x="7452360" y="2029968"/>
            <a:ext cx="384048" cy="384048"/>
          </a:xfrm>
          <a:prstGeom prst="ellipse">
            <a:avLst/>
          </a:prstGeom>
          <a:solidFill>
            <a:schemeClr val="accent2"/>
          </a:solidFill>
          <a:ln w="12700">
            <a:solidFill>
              <a:schemeClr val="accent2"/>
            </a:solidFill>
            <a:prstDash val="solid"/>
          </a:ln>
        </p:spPr>
      </p:sp>
      <p:sp>
        <p:nvSpPr>
          <p:cNvPr id="20" name="Text 18"/>
          <p:cNvSpPr txBox="1"/>
          <p:nvPr/>
        </p:nvSpPr>
        <p:spPr>
          <a:xfrm>
            <a:off x="7452360" y="2514600"/>
            <a:ext cx="1645920" cy="365760"/>
          </a:xfrm>
          <a:prstGeom prst="rect">
            <a:avLst/>
          </a:prstGeom>
          <a:noFill/>
          <a:ln/>
        </p:spPr>
        <p:txBody>
          <a:bodyPr wrap="square" lIns="0" tIns="0" rIns="0" bIns="0" rtlCol="0" anchor="t"/>
          <a:lstStyle/>
          <a:p>
            <a:pPr indent="0" marL="0">
              <a:buNone/>
            </a:pPr>
            <a:r>
              <a:rPr lang="en-US" sz="1300" b="1" dirty="0">
                <a:solidFill>
                  <a:schemeClr val="tx1"/>
                </a:solidFill>
              </a:rPr>
              <a:t>HOUSE AGENT</a:t>
            </a:r>
            <a:endParaRPr lang="en-US" sz="1300" dirty="0"/>
          </a:p>
        </p:txBody>
      </p:sp>
      <p:sp>
        <p:nvSpPr>
          <p:cNvPr id="21" name="Text 19"/>
          <p:cNvSpPr txBox="1"/>
          <p:nvPr/>
        </p:nvSpPr>
        <p:spPr>
          <a:xfrm>
            <a:off x="7452360" y="2852928"/>
            <a:ext cx="1645920" cy="822960"/>
          </a:xfrm>
          <a:prstGeom prst="rect">
            <a:avLst/>
          </a:prstGeom>
          <a:noFill/>
          <a:ln/>
        </p:spPr>
        <p:txBody>
          <a:bodyPr wrap="square" lIns="0" tIns="0" rIns="0" bIns="0" rtlCol="0" anchor="t"/>
          <a:lstStyle/>
          <a:p>
            <a:pPr indent="0" marL="0">
              <a:buNone/>
            </a:pPr>
            <a:r>
              <a:rPr lang="en-US" sz="1150" dirty="0">
                <a:solidFill>
                  <a:schemeClr val="tx2"/>
                </a:solidFill>
              </a:rPr>
              <a:t>checks the signature, applies the owner's own limits, acts, reports back</a:t>
            </a:r>
            <a:endParaRPr lang="en-US" sz="1150" dirty="0"/>
          </a:p>
        </p:txBody>
      </p:sp>
      <p:sp>
        <p:nvSpPr>
          <p:cNvPr id="22" name="arrow"/>
          <p:cNvSpPr/>
          <p:nvPr/>
        </p:nvSpPr>
        <p:spPr>
          <a:xfrm>
            <a:off x="9253728" y="2651760"/>
            <a:ext cx="237744" cy="292608"/>
          </a:xfrm>
          <a:prstGeom prst="rightArrow">
            <a:avLst/>
          </a:prstGeom>
          <a:solidFill>
            <a:srgbClr val="A2A9B3"/>
          </a:solidFill>
          <a:ln w="12700">
            <a:solidFill>
              <a:srgbClr val="A2A9B3"/>
            </a:solidFill>
            <a:prstDash val="solid"/>
          </a:ln>
        </p:spPr>
      </p:sp>
      <p:sp>
        <p:nvSpPr>
          <p:cNvPr id="23" name="chain BATTERY · CAR · HEAT"/>
          <p:cNvSpPr/>
          <p:nvPr/>
        </p:nvSpPr>
        <p:spPr>
          <a:xfrm>
            <a:off x="9509760" y="1828800"/>
            <a:ext cx="1965960" cy="1920240"/>
          </a:xfrm>
          <a:prstGeom prst="roundRect">
            <a:avLst>
              <a:gd name="adj" fmla="val 3810"/>
            </a:avLst>
          </a:prstGeom>
          <a:solidFill>
            <a:schemeClr val="bg2"/>
          </a:solidFill>
          <a:ln w="9525">
            <a:solidFill>
              <a:schemeClr val="bg2"/>
            </a:solidFill>
            <a:prstDash val="solid"/>
          </a:ln>
        </p:spPr>
      </p:sp>
      <p:sp>
        <p:nvSpPr>
          <p:cNvPr id="24" name="dot"/>
          <p:cNvSpPr/>
          <p:nvPr/>
        </p:nvSpPr>
        <p:spPr>
          <a:xfrm>
            <a:off x="9692640" y="2029968"/>
            <a:ext cx="384048" cy="384048"/>
          </a:xfrm>
          <a:prstGeom prst="ellipse">
            <a:avLst/>
          </a:prstGeom>
          <a:solidFill>
            <a:schemeClr val="accent3"/>
          </a:solidFill>
          <a:ln w="12700">
            <a:solidFill>
              <a:schemeClr val="accent3"/>
            </a:solidFill>
            <a:prstDash val="solid"/>
          </a:ln>
        </p:spPr>
      </p:sp>
      <p:sp>
        <p:nvSpPr>
          <p:cNvPr id="25" name="Text 23"/>
          <p:cNvSpPr txBox="1"/>
          <p:nvPr/>
        </p:nvSpPr>
        <p:spPr>
          <a:xfrm>
            <a:off x="9692640" y="2514600"/>
            <a:ext cx="1645920" cy="365760"/>
          </a:xfrm>
          <a:prstGeom prst="rect">
            <a:avLst/>
          </a:prstGeom>
          <a:noFill/>
          <a:ln/>
        </p:spPr>
        <p:txBody>
          <a:bodyPr wrap="square" lIns="0" tIns="0" rIns="0" bIns="0" rtlCol="0" anchor="t"/>
          <a:lstStyle/>
          <a:p>
            <a:pPr indent="0" marL="0">
              <a:buNone/>
            </a:pPr>
            <a:r>
              <a:rPr lang="en-US" sz="1300" b="1" dirty="0">
                <a:solidFill>
                  <a:schemeClr val="tx1"/>
                </a:solidFill>
              </a:rPr>
              <a:t>BATTERY · CAR · HEAT</a:t>
            </a:r>
            <a:endParaRPr lang="en-US" sz="1300" dirty="0"/>
          </a:p>
        </p:txBody>
      </p:sp>
      <p:sp>
        <p:nvSpPr>
          <p:cNvPr id="26" name="Text 24"/>
          <p:cNvSpPr txBox="1"/>
          <p:nvPr/>
        </p:nvSpPr>
        <p:spPr>
          <a:xfrm>
            <a:off x="9692640" y="2852928"/>
            <a:ext cx="1645920" cy="822960"/>
          </a:xfrm>
          <a:prstGeom prst="rect">
            <a:avLst/>
          </a:prstGeom>
          <a:noFill/>
          <a:ln/>
        </p:spPr>
        <p:txBody>
          <a:bodyPr wrap="square" lIns="0" tIns="0" rIns="0" bIns="0" rtlCol="0" anchor="t"/>
          <a:lstStyle/>
          <a:p>
            <a:pPr indent="0" marL="0">
              <a:buNone/>
            </a:pPr>
            <a:r>
              <a:rPr lang="en-US" sz="1150" dirty="0">
                <a:solidFill>
                  <a:schemeClr val="tx2"/>
                </a:solidFill>
              </a:rPr>
              <a:t>a limit on the meter, never a command to a device</a:t>
            </a:r>
            <a:endParaRPr lang="en-US" sz="1150" dirty="0"/>
          </a:p>
        </p:txBody>
      </p:sp>
      <p:sp>
        <p:nvSpPr>
          <p:cNvPr id="27" name="Text 25"/>
          <p:cNvSpPr txBox="1"/>
          <p:nvPr/>
        </p:nvSpPr>
        <p:spPr>
          <a:xfrm>
            <a:off x="548640" y="4114800"/>
            <a:ext cx="11091672" cy="210312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The message names a limit for the whole house: take at most, give at most, give at least, be full by. It never names a device or a setting</a:t>
            </a:r>
            <a:endParaRPr lang="en-US" sz="1500" dirty="0"/>
          </a:p>
          <a:p>
            <a:pPr marL="342900" indent="-342900">
              <a:spcAft>
                <a:spcPts val="600"/>
              </a:spcAft>
              <a:buSzPct val="100000"/>
              <a:buChar char="•"/>
            </a:pPr>
            <a:r>
              <a:rPr lang="en-US" sz="1500" dirty="0">
                <a:solidFill>
                  <a:schemeClr val="tx1"/>
                </a:solidFill>
              </a:rPr>
              <a:t>The owner's own limits always win: battery reserve, charger current, opt-out. The house may answer partly, or no</a:t>
            </a:r>
            <a:endParaRPr lang="en-US" sz="1500" dirty="0"/>
          </a:p>
          <a:p>
            <a:pPr marL="342900" indent="-342900">
              <a:spcAft>
                <a:spcPts val="600"/>
              </a:spcAft>
              <a:buSzPct val="100000"/>
              <a:buChar char="•"/>
            </a:pPr>
            <a:r>
              <a:rPr lang="en-US" sz="1500" dirty="0">
                <a:solidFill>
                  <a:schemeClr val="tx1"/>
                </a:solidFill>
              </a:rPr>
              <a:t>Every message expires by itself, on the platform and again in the house. If the operator falls silent, the house is back to normal within two minutes</a:t>
            </a:r>
            <a:endParaRPr lang="en-US" sz="1500" dirty="0"/>
          </a:p>
          <a:p>
            <a:pPr marL="342900" indent="-342900">
              <a:spcAft>
                <a:spcPts val="600"/>
              </a:spcAft>
              <a:buSzPct val="100000"/>
              <a:buChar char="•"/>
            </a:pPr>
            <a:r>
              <a:rPr lang="en-US" sz="1500" dirty="0">
                <a:solidFill>
                  <a:schemeClr val="tx1"/>
                </a:solidFill>
              </a:rPr>
              <a:t>Paid on the meter: did the house stay under the limit in each 15-minute interval, yes or no, on the operator's own smart meter. Nothing to game</a:t>
            </a:r>
            <a:endParaRPr lang="en-US" sz="15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The monster eats peaks. Every street, every evening</a:t>
            </a:r>
            <a:endParaRPr lang="en-US" sz="3200" dirty="0"/>
          </a:p>
        </p:txBody>
      </p:sp>
      <p:pic>
        <p:nvPicPr>
          <p:cNvPr id="3" name="Vienna 24-hour plan: without Gridzilla, with the diet plan, level L" descr="/private/tmp/claude-501/-Users-mathew-Library-Mobile-Documents-com-apple-CloudDocs-Workspaces--ai-projects-hackaton/6847b38a-4405-4bc8-878f-68767b84da8f/scratchpad/deck/flatchart.png">    </p:cNvPr>
          <p:cNvPicPr>
            <a:picLocks noChangeAspect="1"/>
          </p:cNvPicPr>
          <p:nvPr/>
        </p:nvPicPr>
        <p:blipFill>
          <a:blip r:embed="rId1"/>
          <a:stretch>
            <a:fillRect/>
          </a:stretch>
        </p:blipFill>
        <p:spPr>
          <a:xfrm>
            <a:off x="548640" y="1417320"/>
            <a:ext cx="7863840" cy="4754880"/>
          </a:xfrm>
          <a:prstGeom prst="rect">
            <a:avLst/>
          </a:prstGeom>
        </p:spPr>
      </p:pic>
      <p:sp>
        <p:nvSpPr>
          <p:cNvPr id="4" name="stat Vienna's evening peak, share of transformer capacity: 23.7 → 13.4 MW, planned for tonight"/>
          <p:cNvSpPr/>
          <p:nvPr/>
        </p:nvSpPr>
        <p:spPr>
          <a:xfrm>
            <a:off x="8686800" y="1417320"/>
            <a:ext cx="2926080" cy="1417320"/>
          </a:xfrm>
          <a:prstGeom prst="roundRect">
            <a:avLst>
              <a:gd name="adj" fmla="val 5161"/>
            </a:avLst>
          </a:prstGeom>
          <a:solidFill>
            <a:schemeClr val="bg2"/>
          </a:solidFill>
          <a:ln w="9525">
            <a:solidFill>
              <a:schemeClr val="bg2"/>
            </a:solidFill>
            <a:prstDash val="solid"/>
          </a:ln>
        </p:spPr>
      </p:sp>
      <p:sp>
        <p:nvSpPr>
          <p:cNvPr id="5" name="Text 2"/>
          <p:cNvSpPr txBox="1"/>
          <p:nvPr/>
        </p:nvSpPr>
        <p:spPr>
          <a:xfrm>
            <a:off x="8915400" y="1581912"/>
            <a:ext cx="2468880" cy="731520"/>
          </a:xfrm>
          <a:prstGeom prst="rect">
            <a:avLst/>
          </a:prstGeom>
          <a:noFill/>
          <a:ln/>
        </p:spPr>
        <p:txBody>
          <a:bodyPr wrap="square" lIns="0" tIns="0" rIns="0" bIns="0" rtlCol="0" anchor="t"/>
          <a:lstStyle/>
          <a:p>
            <a:pPr indent="0" marL="0">
              <a:buNone/>
            </a:pPr>
            <a:r>
              <a:rPr lang="en-US" sz="3600" b="1" dirty="0">
                <a:solidFill>
                  <a:schemeClr val="accent3"/>
                </a:solidFill>
                <a:latin typeface="Arial" pitchFamily="34" charset="0"/>
                <a:ea typeface="Arial" pitchFamily="34" charset="-122"/>
                <a:cs typeface="Arial" pitchFamily="34" charset="-120"/>
              </a:rPr>
              <a:t>79 → 45 %</a:t>
            </a:r>
            <a:endParaRPr lang="en-US" sz="3600" dirty="0"/>
          </a:p>
        </p:txBody>
      </p:sp>
      <p:sp>
        <p:nvSpPr>
          <p:cNvPr id="6" name="Text 3"/>
          <p:cNvSpPr txBox="1"/>
          <p:nvPr/>
        </p:nvSpPr>
        <p:spPr>
          <a:xfrm>
            <a:off x="8915400" y="2313432"/>
            <a:ext cx="2468880" cy="457200"/>
          </a:xfrm>
          <a:prstGeom prst="rect">
            <a:avLst/>
          </a:prstGeom>
          <a:noFill/>
          <a:ln/>
        </p:spPr>
        <p:txBody>
          <a:bodyPr wrap="square" lIns="0" tIns="0" rIns="0" bIns="0" rtlCol="0" anchor="t"/>
          <a:lstStyle/>
          <a:p>
            <a:pPr indent="0" marL="0">
              <a:buNone/>
            </a:pPr>
            <a:r>
              <a:rPr lang="en-US" sz="1200" dirty="0">
                <a:solidFill>
                  <a:schemeClr val="tx2"/>
                </a:solidFill>
              </a:rPr>
              <a:t>Vienna's evening peak, share of transformer capacity: 23.7 → 13.4 MW, planned for tonight</a:t>
            </a:r>
            <a:endParaRPr lang="en-US" sz="1200" dirty="0"/>
          </a:p>
        </p:txBody>
      </p:sp>
      <p:sp>
        <p:nvSpPr>
          <p:cNvPr id="7" name="stat of car charging moved from dinner time into the night. Every car full by seven"/>
          <p:cNvSpPr/>
          <p:nvPr/>
        </p:nvSpPr>
        <p:spPr>
          <a:xfrm>
            <a:off x="8686800" y="3017520"/>
            <a:ext cx="2926080" cy="1417320"/>
          </a:xfrm>
          <a:prstGeom prst="roundRect">
            <a:avLst>
              <a:gd name="adj" fmla="val 5161"/>
            </a:avLst>
          </a:prstGeom>
          <a:solidFill>
            <a:schemeClr val="bg2"/>
          </a:solidFill>
          <a:ln w="9525">
            <a:solidFill>
              <a:schemeClr val="bg2"/>
            </a:solidFill>
            <a:prstDash val="solid"/>
          </a:ln>
        </p:spPr>
      </p:sp>
      <p:sp>
        <p:nvSpPr>
          <p:cNvPr id="8" name="Text 5"/>
          <p:cNvSpPr txBox="1"/>
          <p:nvPr/>
        </p:nvSpPr>
        <p:spPr>
          <a:xfrm>
            <a:off x="8915400" y="3182112"/>
            <a:ext cx="2468880" cy="731520"/>
          </a:xfrm>
          <a:prstGeom prst="rect">
            <a:avLst/>
          </a:prstGeom>
          <a:noFill/>
          <a:ln/>
        </p:spPr>
        <p:txBody>
          <a:bodyPr wrap="square" lIns="0" tIns="0" rIns="0" bIns="0" rtlCol="0" anchor="t"/>
          <a:lstStyle/>
          <a:p>
            <a:pPr indent="0" marL="0">
              <a:buNone/>
            </a:pPr>
            <a:r>
              <a:rPr lang="en-US" sz="3600" b="1" dirty="0">
                <a:solidFill>
                  <a:schemeClr val="accent1"/>
                </a:solidFill>
                <a:latin typeface="Arial" pitchFamily="34" charset="0"/>
                <a:ea typeface="Arial" pitchFamily="34" charset="-122"/>
                <a:cs typeface="Arial" pitchFamily="34" charset="-120"/>
              </a:rPr>
              <a:t>10.5 MWh</a:t>
            </a:r>
            <a:endParaRPr lang="en-US" sz="3600" dirty="0"/>
          </a:p>
        </p:txBody>
      </p:sp>
      <p:sp>
        <p:nvSpPr>
          <p:cNvPr id="9" name="Text 6"/>
          <p:cNvSpPr txBox="1"/>
          <p:nvPr/>
        </p:nvSpPr>
        <p:spPr>
          <a:xfrm>
            <a:off x="8915400" y="3913632"/>
            <a:ext cx="2468880" cy="457200"/>
          </a:xfrm>
          <a:prstGeom prst="rect">
            <a:avLst/>
          </a:prstGeom>
          <a:noFill/>
          <a:ln/>
        </p:spPr>
        <p:txBody>
          <a:bodyPr wrap="square" lIns="0" tIns="0" rIns="0" bIns="0" rtlCol="0" anchor="t"/>
          <a:lstStyle/>
          <a:p>
            <a:pPr indent="0" marL="0">
              <a:buNone/>
            </a:pPr>
            <a:r>
              <a:rPr lang="en-US" sz="1200" dirty="0">
                <a:solidFill>
                  <a:schemeClr val="tx2"/>
                </a:solidFill>
              </a:rPr>
              <a:t>of car charging moved from dinner time into the night. Every car full by seven</a:t>
            </a:r>
            <a:endParaRPr lang="en-US" sz="1200" dirty="0"/>
          </a:p>
        </p:txBody>
      </p:sp>
      <p:sp>
        <p:nvSpPr>
          <p:cNvPr id="10" name="stat transformer upgrades. Batteries eat the dinner spike, the noon sun charges them, nobody at home notices"/>
          <p:cNvSpPr/>
          <p:nvPr/>
        </p:nvSpPr>
        <p:spPr>
          <a:xfrm>
            <a:off x="8686800" y="4617720"/>
            <a:ext cx="2926080" cy="1417320"/>
          </a:xfrm>
          <a:prstGeom prst="roundRect">
            <a:avLst>
              <a:gd name="adj" fmla="val 5161"/>
            </a:avLst>
          </a:prstGeom>
          <a:solidFill>
            <a:schemeClr val="bg2"/>
          </a:solidFill>
          <a:ln w="9525">
            <a:solidFill>
              <a:schemeClr val="bg2"/>
            </a:solidFill>
            <a:prstDash val="solid"/>
          </a:ln>
        </p:spPr>
      </p:sp>
      <p:sp>
        <p:nvSpPr>
          <p:cNvPr id="11" name="Text 8"/>
          <p:cNvSpPr txBox="1"/>
          <p:nvPr/>
        </p:nvSpPr>
        <p:spPr>
          <a:xfrm>
            <a:off x="8915400" y="4782312"/>
            <a:ext cx="2468880" cy="731520"/>
          </a:xfrm>
          <a:prstGeom prst="rect">
            <a:avLst/>
          </a:prstGeom>
          <a:noFill/>
          <a:ln/>
        </p:spPr>
        <p:txBody>
          <a:bodyPr wrap="square" lIns="0" tIns="0" rIns="0" bIns="0" rtlCol="0" anchor="t"/>
          <a:lstStyle/>
          <a:p>
            <a:pPr indent="0" marL="0">
              <a:buNone/>
            </a:pPr>
            <a:r>
              <a:rPr lang="en-US" sz="3600" b="1" dirty="0">
                <a:solidFill>
                  <a:schemeClr val="accent2"/>
                </a:solidFill>
                <a:latin typeface="Arial" pitchFamily="34" charset="0"/>
                <a:ea typeface="Arial" pitchFamily="34" charset="-122"/>
                <a:cs typeface="Arial" pitchFamily="34" charset="-120"/>
              </a:rPr>
              <a:t>0</a:t>
            </a:r>
            <a:endParaRPr lang="en-US" sz="3600" dirty="0"/>
          </a:p>
        </p:txBody>
      </p:sp>
      <p:sp>
        <p:nvSpPr>
          <p:cNvPr id="12" name="Text 9"/>
          <p:cNvSpPr txBox="1"/>
          <p:nvPr/>
        </p:nvSpPr>
        <p:spPr>
          <a:xfrm>
            <a:off x="8915400" y="5513832"/>
            <a:ext cx="2468880" cy="457200"/>
          </a:xfrm>
          <a:prstGeom prst="rect">
            <a:avLst/>
          </a:prstGeom>
          <a:noFill/>
          <a:ln/>
        </p:spPr>
        <p:txBody>
          <a:bodyPr wrap="square" lIns="0" tIns="0" rIns="0" bIns="0" rtlCol="0" anchor="t"/>
          <a:lstStyle/>
          <a:p>
            <a:pPr indent="0" marL="0">
              <a:buNone/>
            </a:pPr>
            <a:r>
              <a:rPr lang="en-US" sz="1200" dirty="0">
                <a:solidFill>
                  <a:schemeClr val="tx2"/>
                </a:solidFill>
              </a:rPr>
              <a:t>transformer upgrades. Batteries eat the dinner spike, the noon sun charges them, nobody at home notices</a:t>
            </a:r>
            <a:endParaRPr lang="en-US" sz="12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Live: the Gridzilla board, one real plant inside a simulated Vienna</a:t>
            </a:r>
            <a:endParaRPr lang="en-US" sz="3200" dirty="0"/>
          </a:p>
        </p:txBody>
      </p:sp>
      <p:pic>
        <p:nvPicPr>
          <p:cNvPr id="3" name="Presentation view of the live board" descr="/private/tmp/claude-501/-Users-mathew-Library-Mobile-Documents-com-apple-CloudDocs-Workspaces--ai-projects-hackaton/6847b38a-4405-4bc8-878f-68767b84da8f/scratchpad/deck/board.png">    </p:cNvPr>
          <p:cNvPicPr>
            <a:picLocks noChangeAspect="1"/>
          </p:cNvPicPr>
          <p:nvPr/>
        </p:nvPicPr>
        <p:blipFill>
          <a:blip r:embed="rId1"/>
          <a:stretch>
            <a:fillRect/>
          </a:stretch>
        </p:blipFill>
        <p:spPr>
          <a:xfrm>
            <a:off x="548640" y="1371600"/>
            <a:ext cx="7589520" cy="4389120"/>
          </a:xfrm>
          <a:prstGeom prst="rect">
            <a:avLst/>
          </a:prstGeom>
        </p:spPr>
      </p:pic>
      <p:sp>
        <p:nvSpPr>
          <p:cNvPr id="4" name="demo script"/>
          <p:cNvSpPr/>
          <p:nvPr/>
        </p:nvSpPr>
        <p:spPr>
          <a:xfrm>
            <a:off x="8412480" y="1371600"/>
            <a:ext cx="3200400" cy="4389120"/>
          </a:xfrm>
          <a:prstGeom prst="roundRect">
            <a:avLst>
              <a:gd name="adj" fmla="val 2286"/>
            </a:avLst>
          </a:prstGeom>
          <a:solidFill>
            <a:schemeClr val="bg2"/>
          </a:solidFill>
          <a:ln w="9525">
            <a:solidFill>
              <a:schemeClr val="bg2"/>
            </a:solidFill>
            <a:prstDash val="solid"/>
          </a:ln>
        </p:spPr>
      </p:sp>
      <p:sp>
        <p:nvSpPr>
          <p:cNvPr id="5" name="Text 2"/>
          <p:cNvSpPr txBox="1"/>
          <p:nvPr/>
        </p:nvSpPr>
        <p:spPr>
          <a:xfrm>
            <a:off x="8641080" y="1508760"/>
            <a:ext cx="2743200" cy="365760"/>
          </a:xfrm>
          <a:prstGeom prst="rect">
            <a:avLst/>
          </a:prstGeom>
          <a:noFill/>
          <a:ln/>
        </p:spPr>
        <p:txBody>
          <a:bodyPr wrap="square" lIns="0" tIns="0" rIns="0" bIns="0" rtlCol="0" anchor="t"/>
          <a:lstStyle/>
          <a:p>
            <a:pPr indent="0" marL="0">
              <a:buNone/>
            </a:pPr>
            <a:r>
              <a:rPr lang="en-US" sz="1500" b="1" dirty="0">
                <a:solidFill>
                  <a:schemeClr val="accent1"/>
                </a:solidFill>
              </a:rPr>
              <a:t>75 seconds, alt-tab</a:t>
            </a:r>
            <a:endParaRPr lang="en-US" sz="1500" dirty="0"/>
          </a:p>
        </p:txBody>
      </p:sp>
      <p:sp>
        <p:nvSpPr>
          <p:cNvPr id="6" name="Text 3"/>
          <p:cNvSpPr txBox="1"/>
          <p:nvPr/>
        </p:nvSpPr>
        <p:spPr>
          <a:xfrm>
            <a:off x="8641080" y="1965960"/>
            <a:ext cx="2788920" cy="365760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chemeClr val="tx1"/>
                </a:solidFill>
              </a:rPr>
              <a:t>Board: Vienna, 72 street transformers, 272 households live, one of them real; with and without Gridzilla</a:t>
            </a:r>
            <a:endParaRPr lang="en-US" sz="1250" dirty="0"/>
          </a:p>
          <a:p>
            <a:pPr marL="342900" indent="-342900">
              <a:spcAft>
                <a:spcPts val="600"/>
              </a:spcAft>
              <a:buSzPct val="100000"/>
              <a:buChar char="•"/>
            </a:pPr>
            <a:r>
              <a:rPr lang="en-US" sz="1250" dirty="0">
                <a:solidFill>
                  <a:schemeClr val="tx1"/>
                </a:solidFill>
              </a:rPr>
              <a:t>Board: the AI's last decision: what it saw, what it chose, the rule check, the signed message</a:t>
            </a:r>
            <a:endParaRPr lang="en-US" sz="1250" dirty="0"/>
          </a:p>
          <a:p>
            <a:pPr marL="342900" indent="-342900">
              <a:spcAft>
                <a:spcPts val="600"/>
              </a:spcAft>
              <a:buSzPct val="100000"/>
              <a:buChar char="•"/>
            </a:pPr>
            <a:r>
              <a:rPr lang="en-US" sz="1250" dirty="0">
                <a:solidFill>
                  <a:schemeClr val="tx1"/>
                </a:solidFill>
              </a:rPr>
              <a:t>Board, Flattening tab: tonight's plan for Vienna, then for one street</a:t>
            </a:r>
            <a:endParaRPr lang="en-US" sz="1250" dirty="0"/>
          </a:p>
          <a:p>
            <a:pPr marL="342900" indent="-342900">
              <a:spcAft>
                <a:spcPts val="600"/>
              </a:spcAft>
              <a:buSzPct val="100000"/>
              <a:buChar char="•"/>
            </a:pPr>
            <a:r>
              <a:rPr lang="en-US" sz="1250" dirty="0">
                <a:solidFill>
                  <a:schemeClr val="tx1"/>
                </a:solidFill>
              </a:rPr>
              <a:t>Board, pin Blatnica: the real plant live, last reply verified</a:t>
            </a:r>
            <a:endParaRPr lang="en-US" sz="1250" dirty="0"/>
          </a:p>
          <a:p>
            <a:pPr marL="342900" indent="-342900">
              <a:spcAft>
                <a:spcPts val="600"/>
              </a:spcAft>
              <a:buSzPct val="100000"/>
              <a:buChar char="•"/>
            </a:pPr>
            <a:r>
              <a:rPr lang="en-US" sz="1250" dirty="0">
                <a:solidFill>
                  <a:schemeClr val="tx1"/>
                </a:solidFill>
              </a:rPr>
              <a:t>Board: pause the operator's heartbeat, every house goes back to normal</a:t>
            </a:r>
            <a:endParaRPr lang="en-US" sz="125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What is real, what is simulated, and what the numbers mean</a:t>
            </a:r>
            <a:endParaRPr lang="en-US" sz="3200" dirty="0"/>
          </a:p>
        </p:txBody>
      </p:sp>
      <p:sp>
        <p:nvSpPr>
          <p:cNvPr id="3" name="real"/>
          <p:cNvSpPr/>
          <p:nvPr/>
        </p:nvSpPr>
        <p:spPr>
          <a:xfrm>
            <a:off x="548640" y="1371600"/>
            <a:ext cx="5486400" cy="2240280"/>
          </a:xfrm>
          <a:prstGeom prst="roundRect">
            <a:avLst>
              <a:gd name="adj" fmla="val 3265"/>
            </a:avLst>
          </a:prstGeom>
          <a:solidFill>
            <a:schemeClr val="bg2"/>
          </a:solidFill>
          <a:ln w="9525">
            <a:solidFill>
              <a:schemeClr val="bg2"/>
            </a:solidFill>
            <a:prstDash val="solid"/>
          </a:ln>
        </p:spPr>
      </p:sp>
      <p:sp>
        <p:nvSpPr>
          <p:cNvPr id="4" name="dot"/>
          <p:cNvSpPr/>
          <p:nvPr/>
        </p:nvSpPr>
        <p:spPr>
          <a:xfrm>
            <a:off x="731520" y="1508760"/>
            <a:ext cx="384048" cy="384048"/>
          </a:xfrm>
          <a:prstGeom prst="ellipse">
            <a:avLst/>
          </a:prstGeom>
          <a:solidFill>
            <a:schemeClr val="accent3"/>
          </a:solidFill>
          <a:ln w="12700">
            <a:solidFill>
              <a:schemeClr val="accent3"/>
            </a:solidFill>
            <a:prstDash val="solid"/>
          </a:ln>
        </p:spPr>
      </p:sp>
      <p:sp>
        <p:nvSpPr>
          <p:cNvPr id="5" name="Text 3"/>
          <p:cNvSpPr txBox="1"/>
          <p:nvPr/>
        </p:nvSpPr>
        <p:spPr>
          <a:xfrm>
            <a:off x="1234440" y="1463040"/>
            <a:ext cx="3657600" cy="411480"/>
          </a:xfrm>
          <a:prstGeom prst="rect">
            <a:avLst/>
          </a:prstGeom>
          <a:noFill/>
          <a:ln/>
        </p:spPr>
        <p:txBody>
          <a:bodyPr wrap="square" lIns="0" tIns="0" rIns="0" bIns="0" rtlCol="0" anchor="ctr"/>
          <a:lstStyle/>
          <a:p>
            <a:pPr indent="0" marL="0">
              <a:buNone/>
            </a:pPr>
            <a:r>
              <a:rPr lang="en-US" sz="1600" b="1" dirty="0">
                <a:solidFill>
                  <a:schemeClr val="accent3"/>
                </a:solidFill>
                <a:latin typeface="Arial" pitchFamily="34" charset="0"/>
                <a:ea typeface="Arial" pitchFamily="34" charset="-122"/>
                <a:cs typeface="Arial" pitchFamily="34" charset="-120"/>
              </a:rPr>
              <a:t>REAL TODAY</a:t>
            </a:r>
            <a:endParaRPr lang="en-US" sz="1600" dirty="0"/>
          </a:p>
        </p:txBody>
      </p:sp>
      <p:sp>
        <p:nvSpPr>
          <p:cNvPr id="6" name="Text 4"/>
          <p:cNvSpPr txBox="1"/>
          <p:nvPr/>
        </p:nvSpPr>
        <p:spPr>
          <a:xfrm>
            <a:off x="777240" y="1920240"/>
            <a:ext cx="5074920" cy="164592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chemeClr val="tx1"/>
                </a:solidFill>
              </a:rPr>
              <a:t>The whole path: a signed message goes out, a Victron plant and a Viessmann heat pump react, verified replies come back</a:t>
            </a:r>
            <a:endParaRPr lang="en-US" sz="1250" dirty="0"/>
          </a:p>
          <a:p>
            <a:pPr marL="342900" indent="-342900">
              <a:spcAft>
                <a:spcPts val="600"/>
              </a:spcAft>
              <a:buSzPct val="100000"/>
              <a:buChar char="•"/>
            </a:pPr>
            <a:r>
              <a:rPr lang="en-US" sz="1250" dirty="0">
                <a:solidFill>
                  <a:schemeClr val="tx1"/>
                </a:solidFill>
              </a:rPr>
              <a:t>The planning and the rule check, running on the fleet every two hours</a:t>
            </a:r>
            <a:endParaRPr lang="en-US" sz="1250" dirty="0"/>
          </a:p>
          <a:p>
            <a:pPr marL="342900" indent="-342900">
              <a:spcAft>
                <a:spcPts val="600"/>
              </a:spcAft>
              <a:buSzPct val="100000"/>
              <a:buChar char="•"/>
            </a:pPr>
            <a:r>
              <a:rPr lang="en-US" sz="1250" dirty="0">
                <a:solidFill>
                  <a:schemeClr val="tx1"/>
                </a:solidFill>
              </a:rPr>
              <a:t>Measured on streets with cars, heat pumps shedding floor heating too: 16 to 36 % off the evening peak, in line with published smart-charging and home-battery trials (3 to 6 kW per car, 1 to 2 kW per battery at the peak)</a:t>
            </a:r>
            <a:endParaRPr lang="en-US" sz="1250" dirty="0"/>
          </a:p>
        </p:txBody>
      </p:sp>
      <p:sp>
        <p:nvSpPr>
          <p:cNvPr id="7" name="modelled"/>
          <p:cNvSpPr/>
          <p:nvPr/>
        </p:nvSpPr>
        <p:spPr>
          <a:xfrm>
            <a:off x="6263640" y="1371600"/>
            <a:ext cx="5394960" cy="2240280"/>
          </a:xfrm>
          <a:prstGeom prst="roundRect">
            <a:avLst>
              <a:gd name="adj" fmla="val 3265"/>
            </a:avLst>
          </a:prstGeom>
          <a:solidFill>
            <a:schemeClr val="bg2"/>
          </a:solidFill>
          <a:ln w="9525">
            <a:solidFill>
              <a:schemeClr val="bg2"/>
            </a:solidFill>
            <a:prstDash val="solid"/>
          </a:ln>
        </p:spPr>
      </p:sp>
      <p:sp>
        <p:nvSpPr>
          <p:cNvPr id="8" name="dot"/>
          <p:cNvSpPr/>
          <p:nvPr/>
        </p:nvSpPr>
        <p:spPr>
          <a:xfrm>
            <a:off x="6446520" y="1508760"/>
            <a:ext cx="384048" cy="384048"/>
          </a:xfrm>
          <a:prstGeom prst="ellipse">
            <a:avLst/>
          </a:prstGeom>
          <a:solidFill>
            <a:schemeClr val="accent1"/>
          </a:solidFill>
          <a:ln w="12700">
            <a:solidFill>
              <a:schemeClr val="accent1"/>
            </a:solidFill>
            <a:prstDash val="solid"/>
          </a:ln>
        </p:spPr>
      </p:sp>
      <p:sp>
        <p:nvSpPr>
          <p:cNvPr id="9" name="Text 7"/>
          <p:cNvSpPr txBox="1"/>
          <p:nvPr/>
        </p:nvSpPr>
        <p:spPr>
          <a:xfrm>
            <a:off x="6949440" y="1463040"/>
            <a:ext cx="3657600" cy="411480"/>
          </a:xfrm>
          <a:prstGeom prst="rect">
            <a:avLst/>
          </a:prstGeom>
          <a:noFill/>
          <a:ln/>
        </p:spPr>
        <p:txBody>
          <a:bodyPr wrap="square" lIns="0" tIns="0" rIns="0" bIns="0" rtlCol="0" anchor="ctr"/>
          <a:lstStyle/>
          <a:p>
            <a:pPr indent="0" marL="0">
              <a:buNone/>
            </a:pPr>
            <a:r>
              <a:rPr lang="en-US" sz="1600" b="1" dirty="0">
                <a:solidFill>
                  <a:schemeClr val="accent1"/>
                </a:solidFill>
                <a:latin typeface="Arial" pitchFamily="34" charset="0"/>
                <a:ea typeface="Arial" pitchFamily="34" charset="-122"/>
                <a:cs typeface="Arial" pitchFamily="34" charset="-120"/>
              </a:rPr>
              <a:t>SIMULATED</a:t>
            </a:r>
            <a:endParaRPr lang="en-US" sz="1600" dirty="0"/>
          </a:p>
        </p:txBody>
      </p:sp>
      <p:sp>
        <p:nvSpPr>
          <p:cNvPr id="10" name="Text 8"/>
          <p:cNvSpPr txBox="1"/>
          <p:nvPr/>
        </p:nvSpPr>
        <p:spPr>
          <a:xfrm>
            <a:off x="6492240" y="1920240"/>
            <a:ext cx="4983480" cy="164592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chemeClr val="tx1"/>
                </a:solidFill>
              </a:rPr>
              <a:t>The fleet: 271 simulated households, each standing for 8 real ones: 2,184 houses with a 10 to 25 kWh battery, 1,190 of them with an 11 kW charger needing 6 to 26 kWh a night</a:t>
            </a:r>
            <a:endParaRPr lang="en-US" sz="1250" dirty="0"/>
          </a:p>
          <a:p>
            <a:pPr marL="342900" indent="-342900">
              <a:spcAft>
                <a:spcPts val="600"/>
              </a:spcAft>
              <a:buSzPct val="100000"/>
              <a:buChar char="•"/>
            </a:pPr>
            <a:r>
              <a:rPr lang="en-US" sz="1250" dirty="0">
                <a:solidFill>
                  <a:schemeClr val="tx1"/>
                </a:solidFill>
              </a:rPr>
              <a:t>The "without" curve is the same houses left alone: a car charges on 55 % of nights, people come home over three hours, full power until full. Nothing inflated</a:t>
            </a:r>
            <a:endParaRPr lang="en-US" sz="1250" dirty="0"/>
          </a:p>
          <a:p>
            <a:pPr marL="342900" indent="-342900">
              <a:spcAft>
                <a:spcPts val="600"/>
              </a:spcAft>
              <a:buSzPct val="100000"/>
              <a:buChar char="•"/>
            </a:pPr>
            <a:r>
              <a:rPr lang="en-US" sz="1250" dirty="0">
                <a:solidFill>
                  <a:schemeClr val="tx1"/>
                </a:solidFill>
              </a:rPr>
              <a:t>These houses carry about 30 % of a street's evening load: a 2030 picture, not a street today</a:t>
            </a:r>
            <a:endParaRPr lang="en-US" sz="1250" dirty="0"/>
          </a:p>
        </p:txBody>
      </p:sp>
      <p:sp>
        <p:nvSpPr>
          <p:cNvPr id="11" name="stat one street, Speising-22: 574 → 398 kW at the evening peak, 31 %, measured tonight"/>
          <p:cNvSpPr/>
          <p:nvPr/>
        </p:nvSpPr>
        <p:spPr>
          <a:xfrm>
            <a:off x="548640" y="3840480"/>
            <a:ext cx="2651760" cy="1417320"/>
          </a:xfrm>
          <a:prstGeom prst="roundRect">
            <a:avLst>
              <a:gd name="adj" fmla="val 5161"/>
            </a:avLst>
          </a:prstGeom>
          <a:solidFill>
            <a:schemeClr val="bg2"/>
          </a:solidFill>
          <a:ln w="9525">
            <a:solidFill>
              <a:schemeClr val="bg2"/>
            </a:solidFill>
            <a:prstDash val="solid"/>
          </a:ln>
        </p:spPr>
      </p:sp>
      <p:sp>
        <p:nvSpPr>
          <p:cNvPr id="12" name="Text 10"/>
          <p:cNvSpPr txBox="1"/>
          <p:nvPr/>
        </p:nvSpPr>
        <p:spPr>
          <a:xfrm>
            <a:off x="777240" y="4005072"/>
            <a:ext cx="2194560" cy="731520"/>
          </a:xfrm>
          <a:prstGeom prst="rect">
            <a:avLst/>
          </a:prstGeom>
          <a:noFill/>
          <a:ln/>
        </p:spPr>
        <p:txBody>
          <a:bodyPr wrap="square" lIns="0" tIns="0" rIns="0" bIns="0" rtlCol="0" anchor="t"/>
          <a:lstStyle/>
          <a:p>
            <a:pPr indent="0" marL="0">
              <a:buNone/>
            </a:pPr>
            <a:r>
              <a:rPr lang="en-US" sz="3600" b="1" dirty="0">
                <a:solidFill>
                  <a:schemeClr val="accent3"/>
                </a:solidFill>
                <a:latin typeface="Arial" pitchFamily="34" charset="0"/>
                <a:ea typeface="Arial" pitchFamily="34" charset="-122"/>
                <a:cs typeface="Arial" pitchFamily="34" charset="-120"/>
              </a:rPr>
              <a:t>−176 kW</a:t>
            </a:r>
            <a:endParaRPr lang="en-US" sz="3600" dirty="0"/>
          </a:p>
        </p:txBody>
      </p:sp>
      <p:sp>
        <p:nvSpPr>
          <p:cNvPr id="13" name="Text 11"/>
          <p:cNvSpPr txBox="1"/>
          <p:nvPr/>
        </p:nvSpPr>
        <p:spPr>
          <a:xfrm>
            <a:off x="777240" y="4736592"/>
            <a:ext cx="2194560" cy="457200"/>
          </a:xfrm>
          <a:prstGeom prst="rect">
            <a:avLst/>
          </a:prstGeom>
          <a:noFill/>
          <a:ln/>
        </p:spPr>
        <p:txBody>
          <a:bodyPr wrap="square" lIns="0" tIns="0" rIns="0" bIns="0" rtlCol="0" anchor="t"/>
          <a:lstStyle/>
          <a:p>
            <a:pPr indent="0" marL="0">
              <a:buNone/>
            </a:pPr>
            <a:r>
              <a:rPr lang="en-US" sz="1200" dirty="0">
                <a:solidFill>
                  <a:schemeClr val="tx2"/>
                </a:solidFill>
              </a:rPr>
              <a:t>one street, Speising-22: 574 → 398 kW at the evening peak, 31 %, measured tonight</a:t>
            </a:r>
            <a:endParaRPr lang="en-US" sz="1200" dirty="0"/>
          </a:p>
        </p:txBody>
      </p:sp>
      <p:sp>
        <p:nvSpPr>
          <p:cNvPr id="14" name="stat Vienna with 2,184 enrolled houses: 26.6 → 21.7 MW at the evening peak, 19 %, measured tonight"/>
          <p:cNvSpPr/>
          <p:nvPr/>
        </p:nvSpPr>
        <p:spPr>
          <a:xfrm>
            <a:off x="3383280" y="3840480"/>
            <a:ext cx="2651760" cy="1417320"/>
          </a:xfrm>
          <a:prstGeom prst="roundRect">
            <a:avLst>
              <a:gd name="adj" fmla="val 5161"/>
            </a:avLst>
          </a:prstGeom>
          <a:solidFill>
            <a:schemeClr val="bg2"/>
          </a:solidFill>
          <a:ln w="9525">
            <a:solidFill>
              <a:schemeClr val="bg2"/>
            </a:solidFill>
            <a:prstDash val="solid"/>
          </a:ln>
        </p:spPr>
      </p:sp>
      <p:sp>
        <p:nvSpPr>
          <p:cNvPr id="15" name="Text 13"/>
          <p:cNvSpPr txBox="1"/>
          <p:nvPr/>
        </p:nvSpPr>
        <p:spPr>
          <a:xfrm>
            <a:off x="3611880" y="4005072"/>
            <a:ext cx="2194560" cy="731520"/>
          </a:xfrm>
          <a:prstGeom prst="rect">
            <a:avLst/>
          </a:prstGeom>
          <a:noFill/>
          <a:ln/>
        </p:spPr>
        <p:txBody>
          <a:bodyPr wrap="square" lIns="0" tIns="0" rIns="0" bIns="0" rtlCol="0" anchor="t"/>
          <a:lstStyle/>
          <a:p>
            <a:pPr indent="0" marL="0">
              <a:buNone/>
            </a:pPr>
            <a:r>
              <a:rPr lang="en-US" sz="3600" b="1" dirty="0">
                <a:solidFill>
                  <a:schemeClr val="accent1"/>
                </a:solidFill>
                <a:latin typeface="Arial" pitchFamily="34" charset="0"/>
                <a:ea typeface="Arial" pitchFamily="34" charset="-122"/>
                <a:cs typeface="Arial" pitchFamily="34" charset="-120"/>
              </a:rPr>
              <a:t>−5.2 MW</a:t>
            </a:r>
            <a:endParaRPr lang="en-US" sz="3600" dirty="0"/>
          </a:p>
        </p:txBody>
      </p:sp>
      <p:sp>
        <p:nvSpPr>
          <p:cNvPr id="16" name="Text 14"/>
          <p:cNvSpPr txBox="1"/>
          <p:nvPr/>
        </p:nvSpPr>
        <p:spPr>
          <a:xfrm>
            <a:off x="3611880" y="4736592"/>
            <a:ext cx="2194560" cy="457200"/>
          </a:xfrm>
          <a:prstGeom prst="rect">
            <a:avLst/>
          </a:prstGeom>
          <a:noFill/>
          <a:ln/>
        </p:spPr>
        <p:txBody>
          <a:bodyPr wrap="square" lIns="0" tIns="0" rIns="0" bIns="0" rtlCol="0" anchor="t"/>
          <a:lstStyle/>
          <a:p>
            <a:pPr indent="0" marL="0">
              <a:buNone/>
            </a:pPr>
            <a:r>
              <a:rPr lang="en-US" sz="1200" dirty="0">
                <a:solidFill>
                  <a:schemeClr val="tx2"/>
                </a:solidFill>
              </a:rPr>
              <a:t>Vienna with 2,184 enrolled houses: 26.6 → 21.7 MW at the evening peak, 19 %, measured tonight</a:t>
            </a:r>
            <a:endParaRPr lang="en-US" sz="1200" dirty="0"/>
          </a:p>
        </p:txBody>
      </p:sp>
      <p:sp>
        <p:nvSpPr>
          <p:cNvPr id="17" name="stat on a street where no car charged tonight: the gap is the cars and the batteries, nothing else"/>
          <p:cNvSpPr/>
          <p:nvPr/>
        </p:nvSpPr>
        <p:spPr>
          <a:xfrm>
            <a:off x="6217920" y="3840480"/>
            <a:ext cx="2651760" cy="1417320"/>
          </a:xfrm>
          <a:prstGeom prst="roundRect">
            <a:avLst>
              <a:gd name="adj" fmla="val 5161"/>
            </a:avLst>
          </a:prstGeom>
          <a:solidFill>
            <a:schemeClr val="bg2"/>
          </a:solidFill>
          <a:ln w="9525">
            <a:solidFill>
              <a:schemeClr val="bg2"/>
            </a:solidFill>
            <a:prstDash val="solid"/>
          </a:ln>
        </p:spPr>
      </p:sp>
      <p:sp>
        <p:nvSpPr>
          <p:cNvPr id="18" name="Text 16"/>
          <p:cNvSpPr txBox="1"/>
          <p:nvPr/>
        </p:nvSpPr>
        <p:spPr>
          <a:xfrm>
            <a:off x="6446520" y="4005072"/>
            <a:ext cx="2194560" cy="731520"/>
          </a:xfrm>
          <a:prstGeom prst="rect">
            <a:avLst/>
          </a:prstGeom>
          <a:noFill/>
          <a:ln/>
        </p:spPr>
        <p:txBody>
          <a:bodyPr wrap="square" lIns="0" tIns="0" rIns="0" bIns="0" rtlCol="0" anchor="t"/>
          <a:lstStyle/>
          <a:p>
            <a:pPr indent="0" marL="0">
              <a:buNone/>
            </a:pPr>
            <a:r>
              <a:rPr lang="en-US" sz="3600" b="1" dirty="0">
                <a:solidFill>
                  <a:schemeClr val="accent2"/>
                </a:solidFill>
                <a:latin typeface="Arial" pitchFamily="34" charset="0"/>
                <a:ea typeface="Arial" pitchFamily="34" charset="-122"/>
                <a:cs typeface="Arial" pitchFamily="34" charset="-120"/>
              </a:rPr>
              <a:t>0 kW</a:t>
            </a:r>
            <a:endParaRPr lang="en-US" sz="3600" dirty="0"/>
          </a:p>
        </p:txBody>
      </p:sp>
      <p:sp>
        <p:nvSpPr>
          <p:cNvPr id="19" name="Text 17"/>
          <p:cNvSpPr txBox="1"/>
          <p:nvPr/>
        </p:nvSpPr>
        <p:spPr>
          <a:xfrm>
            <a:off x="6446520" y="4736592"/>
            <a:ext cx="2194560" cy="457200"/>
          </a:xfrm>
          <a:prstGeom prst="rect">
            <a:avLst/>
          </a:prstGeom>
          <a:noFill/>
          <a:ln/>
        </p:spPr>
        <p:txBody>
          <a:bodyPr wrap="square" lIns="0" tIns="0" rIns="0" bIns="0" rtlCol="0" anchor="t"/>
          <a:lstStyle/>
          <a:p>
            <a:pPr indent="0" marL="0">
              <a:buNone/>
            </a:pPr>
            <a:r>
              <a:rPr lang="en-US" sz="1200" dirty="0">
                <a:solidFill>
                  <a:schemeClr val="tx2"/>
                </a:solidFill>
              </a:rPr>
              <a:t>on a street where no car charged tonight: the gap is the cars and the batteries, nothing else</a:t>
            </a:r>
            <a:endParaRPr lang="en-US" sz="1200" dirty="0"/>
          </a:p>
        </p:txBody>
      </p:sp>
      <p:sp>
        <p:nvSpPr>
          <p:cNvPr id="20" name="stat real house in the fleet tonight. The fleet is the part we are asking you to build"/>
          <p:cNvSpPr/>
          <p:nvPr/>
        </p:nvSpPr>
        <p:spPr>
          <a:xfrm>
            <a:off x="9052560" y="3840480"/>
            <a:ext cx="2606040" cy="1417320"/>
          </a:xfrm>
          <a:prstGeom prst="roundRect">
            <a:avLst>
              <a:gd name="adj" fmla="val 5161"/>
            </a:avLst>
          </a:prstGeom>
          <a:solidFill>
            <a:schemeClr val="bg2"/>
          </a:solidFill>
          <a:ln w="9525">
            <a:solidFill>
              <a:schemeClr val="bg2"/>
            </a:solidFill>
            <a:prstDash val="solid"/>
          </a:ln>
        </p:spPr>
      </p:sp>
      <p:sp>
        <p:nvSpPr>
          <p:cNvPr id="21" name="Text 19"/>
          <p:cNvSpPr txBox="1"/>
          <p:nvPr/>
        </p:nvSpPr>
        <p:spPr>
          <a:xfrm>
            <a:off x="9281160" y="4005072"/>
            <a:ext cx="2148840" cy="731520"/>
          </a:xfrm>
          <a:prstGeom prst="rect">
            <a:avLst/>
          </a:prstGeom>
          <a:noFill/>
          <a:ln/>
        </p:spPr>
        <p:txBody>
          <a:bodyPr wrap="square" lIns="0" tIns="0" rIns="0" bIns="0" rtlCol="0" anchor="t"/>
          <a:lstStyle/>
          <a:p>
            <a:pPr indent="0" marL="0">
              <a:buNone/>
            </a:pPr>
            <a:r>
              <a:rPr lang="en-US" sz="3600" b="1" dirty="0">
                <a:solidFill>
                  <a:schemeClr val="tx2"/>
                </a:solidFill>
                <a:latin typeface="Arial" pitchFamily="34" charset="0"/>
                <a:ea typeface="Arial" pitchFamily="34" charset="-122"/>
                <a:cs typeface="Arial" pitchFamily="34" charset="-120"/>
              </a:rPr>
              <a:t>1</a:t>
            </a:r>
            <a:endParaRPr lang="en-US" sz="3600" dirty="0"/>
          </a:p>
        </p:txBody>
      </p:sp>
      <p:sp>
        <p:nvSpPr>
          <p:cNvPr id="22" name="Text 20"/>
          <p:cNvSpPr txBox="1"/>
          <p:nvPr/>
        </p:nvSpPr>
        <p:spPr>
          <a:xfrm>
            <a:off x="9281160" y="4736592"/>
            <a:ext cx="2148840" cy="457200"/>
          </a:xfrm>
          <a:prstGeom prst="rect">
            <a:avLst/>
          </a:prstGeom>
          <a:noFill/>
          <a:ln/>
        </p:spPr>
        <p:txBody>
          <a:bodyPr wrap="square" lIns="0" tIns="0" rIns="0" bIns="0" rtlCol="0" anchor="t"/>
          <a:lstStyle/>
          <a:p>
            <a:pPr indent="0" marL="0">
              <a:buNone/>
            </a:pPr>
            <a:r>
              <a:rPr lang="en-US" sz="1200" dirty="0">
                <a:solidFill>
                  <a:schemeClr val="tx2"/>
                </a:solidFill>
              </a:rPr>
              <a:t>real house in the fleet tonight. The fleet is the part we are asking you to build</a:t>
            </a:r>
            <a:endParaRPr lang="en-US" sz="12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dot"/>
          <p:cNvSpPr/>
          <p:nvPr/>
        </p:nvSpPr>
        <p:spPr>
          <a:xfrm>
            <a:off x="548640" y="1417320"/>
            <a:ext cx="384048" cy="384048"/>
          </a:xfrm>
          <a:prstGeom prst="ellipse">
            <a:avLst/>
          </a:prstGeom>
          <a:solidFill>
            <a:schemeClr val="accent1"/>
          </a:solidFill>
          <a:ln w="12700">
            <a:solidFill>
              <a:schemeClr val="accent1"/>
            </a:solidFill>
            <a:prstDash val="solid"/>
          </a:ln>
        </p:spPr>
      </p:sp>
      <p:sp>
        <p:nvSpPr>
          <p:cNvPr id="3" name="Text 1"/>
          <p:cNvSpPr txBox="1"/>
          <p:nvPr/>
        </p:nvSpPr>
        <p:spPr>
          <a:xfrm>
            <a:off x="1097280" y="1371600"/>
            <a:ext cx="5486400" cy="457200"/>
          </a:xfrm>
          <a:prstGeom prst="rect">
            <a:avLst/>
          </a:prstGeom>
          <a:noFill/>
          <a:ln/>
        </p:spPr>
        <p:txBody>
          <a:bodyPr wrap="square" lIns="0" tIns="0" rIns="0" bIns="0" rtlCol="0" anchor="ctr"/>
          <a:lstStyle/>
          <a:p>
            <a:pPr indent="0" marL="0">
              <a:buNone/>
            </a:pPr>
            <a:r>
              <a:rPr lang="en-US" sz="2000" b="1" dirty="0">
                <a:solidFill>
                  <a:schemeClr val="accent1"/>
                </a:solidFill>
                <a:latin typeface="Arial" pitchFamily="34" charset="0"/>
                <a:ea typeface="Arial" pitchFamily="34" charset="-122"/>
                <a:cs typeface="Arial" pitchFamily="34" charset="-120"/>
              </a:rPr>
              <a:t>NEXT</a:t>
            </a:r>
            <a:endParaRPr lang="en-US" sz="2000" dirty="0"/>
          </a:p>
        </p:txBody>
      </p:sp>
      <p:sp>
        <p:nvSpPr>
          <p:cNvPr id="4" name="Text 0"/>
          <p:cNvSpPr/>
          <p:nvPr>
            <p:ph idx="100" type="title" hasCustomPrompt="1"/>
          </p:nvPr>
        </p:nvSpPr>
        <p:spPr>
          <a:xfrm>
            <a:off x="548640" y="2103120"/>
            <a:ext cx="11091672" cy="1463040"/>
          </a:xfrm>
          <a:prstGeom prst="rect">
            <a:avLst/>
          </a:prstGeom>
          <a:noFill/>
          <a:ln/>
        </p:spPr>
        <p:txBody>
          <a:bodyPr wrap="square" lIns="0" tIns="0" rIns="0" bIns="0" rtlCol="0" anchor="b"/>
          <a:lstStyle/>
          <a:p>
            <a:pPr algn="l" indent="0" marL="0">
              <a:buNone/>
            </a:pPr>
            <a:r>
              <a:rPr lang="en-US" sz="5400" b="1" dirty="0">
                <a:solidFill>
                  <a:schemeClr val="tx1"/>
                </a:solidFill>
              </a:rPr>
              <a:t>A pilot street, a second maker, a grid operator that wants the signal</a:t>
            </a:r>
            <a:endParaRPr lang="en-US" sz="5400" dirty="0"/>
          </a:p>
        </p:txBody>
      </p:sp>
      <p:sp>
        <p:nvSpPr>
          <p:cNvPr id="5" name="Text 0"/>
          <p:cNvSpPr/>
          <p:nvPr>
            <p:ph idx="101" type="body" hasCustomPrompt="1"/>
          </p:nvPr>
        </p:nvSpPr>
        <p:spPr>
          <a:xfrm>
            <a:off x="548640" y="3703320"/>
            <a:ext cx="11091672" cy="1097280"/>
          </a:xfrm>
          <a:prstGeom prst="rect">
            <a:avLst/>
          </a:prstGeom>
          <a:noFill/>
          <a:ln/>
        </p:spPr>
        <p:txBody>
          <a:bodyPr wrap="square" lIns="0" tIns="0" rIns="0" bIns="0" rtlCol="0" anchor="t"/>
          <a:lstStyle/>
          <a:p>
            <a:pPr algn="l" indent="0" marL="0">
              <a:buNone/>
            </a:pPr>
            <a:r>
              <a:rPr lang="en-US" sz="2200" dirty="0">
                <a:solidFill>
                  <a:schemeClr val="tx2"/>
                </a:solidFill>
              </a:rPr>
              <a:t>Sign-up tied to the meter and the operator's login: two weeks. A GoodWe version on our own plant: one week.</a:t>
            </a:r>
            <a:endParaRPr lang="en-US" sz="2200" dirty="0"/>
          </a:p>
          <a:p>
            <a:pPr algn="l" indent="0" marL="0">
              <a:buNone/>
            </a:pPr>
            <a:r>
              <a:rPr lang="en-US" sz="2200" dirty="0">
                <a:solidFill>
                  <a:schemeClr val="tx2"/>
                </a:solidFill>
              </a:rPr>
              <a:t>A ten-house pilot with a Slovak or Austrian grid operator on one real street transformer, this winter.</a:t>
            </a:r>
            <a:endParaRPr lang="en-US" sz="2200" dirty="0"/>
          </a:p>
          <a:p>
            <a:pPr algn="l" indent="0" marL="0">
              <a:buNone/>
            </a:pPr>
            <a:r>
              <a:rPr lang="en-US" sz="2200" dirty="0">
                <a:solidFill>
                  <a:schemeClr val="tx2"/>
                </a:solidFill>
              </a:rPr>
              <a:t>The vision: streets that keep their lights on from their own batteries when the line is gone, sharing fairly by the same signal.</a:t>
            </a:r>
            <a:endParaRPr lang="en-US" sz="2200" dirty="0"/>
          </a:p>
        </p:txBody>
      </p:sp>
      <p:sp>
        <p:nvSpPr>
          <p:cNvPr id="6" name="Text 4"/>
          <p:cNvSpPr txBox="1"/>
          <p:nvPr/>
        </p:nvSpPr>
        <p:spPr>
          <a:xfrm>
            <a:off x="548640" y="6035040"/>
            <a:ext cx="11091672" cy="365760"/>
          </a:xfrm>
          <a:prstGeom prst="rect">
            <a:avLst/>
          </a:prstGeom>
          <a:noFill/>
          <a:ln/>
        </p:spPr>
        <p:txBody>
          <a:bodyPr wrap="square" lIns="0" tIns="0" rIns="0" bIns="0" rtlCol="0" anchor="t"/>
          <a:lstStyle/>
          <a:p>
            <a:pPr indent="0" marL="0">
              <a:buNone/>
            </a:pPr>
            <a:r>
              <a:rPr lang="en-US" sz="1200" dirty="0">
                <a:solidFill>
                  <a:schemeClr val="tx2"/>
                </a:solidFill>
              </a:rPr>
              <a:t>github.com/mathewstars/Gridzilla  ·  gridzilla.victronlab.sk  ·  protocol, platform, agents and this deck are in the repo</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Six signals, one grammar: limits for a window</a:t>
            </a:r>
            <a:endParaRPr lang="en-US" sz="3200" dirty="0"/>
          </a:p>
        </p:txBody>
      </p:sp>
      <p:sp>
        <p:nvSpPr>
          <p:cNvPr id="3" name="signal PREPARE"/>
          <p:cNvSpPr/>
          <p:nvPr/>
        </p:nvSpPr>
        <p:spPr>
          <a:xfrm>
            <a:off x="548640" y="1554480"/>
            <a:ext cx="3566160" cy="1600200"/>
          </a:xfrm>
          <a:prstGeom prst="roundRect">
            <a:avLst>
              <a:gd name="adj" fmla="val 4571"/>
            </a:avLst>
          </a:prstGeom>
          <a:solidFill>
            <a:schemeClr val="bg2"/>
          </a:solidFill>
          <a:ln w="9525">
            <a:solidFill>
              <a:schemeClr val="bg2"/>
            </a:solidFill>
            <a:prstDash val="solid"/>
          </a:ln>
        </p:spPr>
      </p:sp>
      <p:sp>
        <p:nvSpPr>
          <p:cNvPr id="4" name="dot"/>
          <p:cNvSpPr/>
          <p:nvPr/>
        </p:nvSpPr>
        <p:spPr>
          <a:xfrm>
            <a:off x="777240" y="1783080"/>
            <a:ext cx="384048" cy="384048"/>
          </a:xfrm>
          <a:prstGeom prst="ellipse">
            <a:avLst/>
          </a:prstGeom>
          <a:solidFill>
            <a:schemeClr val="accent3"/>
          </a:solidFill>
          <a:ln w="12700">
            <a:solidFill>
              <a:schemeClr val="accent3"/>
            </a:solidFill>
            <a:prstDash val="solid"/>
          </a:ln>
        </p:spPr>
      </p:sp>
      <p:sp>
        <p:nvSpPr>
          <p:cNvPr id="5" name="Text 3"/>
          <p:cNvSpPr txBox="1"/>
          <p:nvPr/>
        </p:nvSpPr>
        <p:spPr>
          <a:xfrm>
            <a:off x="1280160" y="1755648"/>
            <a:ext cx="2651760" cy="41148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PREPARE</a:t>
            </a:r>
            <a:endParaRPr lang="en-US" sz="1800" dirty="0"/>
          </a:p>
        </p:txBody>
      </p:sp>
      <p:sp>
        <p:nvSpPr>
          <p:cNvPr id="6" name="Text 4"/>
          <p:cNvSpPr txBox="1"/>
          <p:nvPr/>
        </p:nvSpPr>
        <p:spPr>
          <a:xfrm>
            <a:off x="777240" y="2212848"/>
            <a:ext cx="3108960" cy="914400"/>
          </a:xfrm>
          <a:prstGeom prst="rect">
            <a:avLst/>
          </a:prstGeom>
          <a:noFill/>
          <a:ln/>
        </p:spPr>
        <p:txBody>
          <a:bodyPr wrap="square" lIns="0" tIns="0" rIns="0" bIns="0" rtlCol="0" anchor="t"/>
          <a:lstStyle/>
          <a:p>
            <a:pPr indent="0" marL="0">
              <a:buNone/>
            </a:pPr>
            <a:r>
              <a:rPr lang="en-US" sz="1250" dirty="0">
                <a:solidFill>
                  <a:schemeClr val="tx2"/>
                </a:solidFill>
              </a:rPr>
              <a:t>Fill the battery, the car and the tank to a target by a deadline, in the quiet hours</a:t>
            </a:r>
            <a:endParaRPr lang="en-US" sz="1250" dirty="0"/>
          </a:p>
        </p:txBody>
      </p:sp>
      <p:sp>
        <p:nvSpPr>
          <p:cNvPr id="7" name="signal ABSORB"/>
          <p:cNvSpPr/>
          <p:nvPr/>
        </p:nvSpPr>
        <p:spPr>
          <a:xfrm>
            <a:off x="4297680" y="1554480"/>
            <a:ext cx="3566160" cy="1600200"/>
          </a:xfrm>
          <a:prstGeom prst="roundRect">
            <a:avLst>
              <a:gd name="adj" fmla="val 4571"/>
            </a:avLst>
          </a:prstGeom>
          <a:solidFill>
            <a:schemeClr val="bg2"/>
          </a:solidFill>
          <a:ln w="9525">
            <a:solidFill>
              <a:schemeClr val="bg2"/>
            </a:solidFill>
            <a:prstDash val="solid"/>
          </a:ln>
        </p:spPr>
      </p:sp>
      <p:sp>
        <p:nvSpPr>
          <p:cNvPr id="8" name="dot"/>
          <p:cNvSpPr/>
          <p:nvPr/>
        </p:nvSpPr>
        <p:spPr>
          <a:xfrm>
            <a:off x="4526280" y="1783080"/>
            <a:ext cx="384048" cy="384048"/>
          </a:xfrm>
          <a:prstGeom prst="ellipse">
            <a:avLst/>
          </a:prstGeom>
          <a:solidFill>
            <a:schemeClr val="accent6"/>
          </a:solidFill>
          <a:ln w="12700">
            <a:solidFill>
              <a:schemeClr val="accent6"/>
            </a:solidFill>
            <a:prstDash val="solid"/>
          </a:ln>
        </p:spPr>
      </p:sp>
      <p:sp>
        <p:nvSpPr>
          <p:cNvPr id="9" name="Text 7"/>
          <p:cNvSpPr txBox="1"/>
          <p:nvPr/>
        </p:nvSpPr>
        <p:spPr>
          <a:xfrm>
            <a:off x="5029200" y="1755648"/>
            <a:ext cx="2651760" cy="41148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ABSORB</a:t>
            </a:r>
            <a:endParaRPr lang="en-US" sz="1800" dirty="0"/>
          </a:p>
        </p:txBody>
      </p:sp>
      <p:sp>
        <p:nvSpPr>
          <p:cNvPr id="10" name="Text 8"/>
          <p:cNvSpPr txBox="1"/>
          <p:nvPr/>
        </p:nvSpPr>
        <p:spPr>
          <a:xfrm>
            <a:off x="4526280" y="2212848"/>
            <a:ext cx="3108960" cy="914400"/>
          </a:xfrm>
          <a:prstGeom prst="rect">
            <a:avLst/>
          </a:prstGeom>
          <a:noFill/>
          <a:ln/>
        </p:spPr>
        <p:txBody>
          <a:bodyPr wrap="square" lIns="0" tIns="0" rIns="0" bIns="0" rtlCol="0" anchor="t"/>
          <a:lstStyle/>
          <a:p>
            <a:pPr indent="0" marL="0">
              <a:buNone/>
            </a:pPr>
            <a:r>
              <a:rPr lang="en-US" sz="1250" dirty="0">
                <a:solidFill>
                  <a:schemeClr val="tx2"/>
                </a:solidFill>
              </a:rPr>
              <a:t>PV surplus: cap export, charge, soak it into the car and the hot water, curtail last</a:t>
            </a:r>
            <a:endParaRPr lang="en-US" sz="1250" dirty="0"/>
          </a:p>
        </p:txBody>
      </p:sp>
      <p:sp>
        <p:nvSpPr>
          <p:cNvPr id="11" name="signal SUPPORT"/>
          <p:cNvSpPr/>
          <p:nvPr/>
        </p:nvSpPr>
        <p:spPr>
          <a:xfrm>
            <a:off x="8046720" y="1554480"/>
            <a:ext cx="3566160" cy="1600200"/>
          </a:xfrm>
          <a:prstGeom prst="roundRect">
            <a:avLst>
              <a:gd name="adj" fmla="val 4571"/>
            </a:avLst>
          </a:prstGeom>
          <a:solidFill>
            <a:schemeClr val="bg2"/>
          </a:solidFill>
          <a:ln w="9525">
            <a:solidFill>
              <a:schemeClr val="bg2"/>
            </a:solidFill>
            <a:prstDash val="solid"/>
          </a:ln>
        </p:spPr>
      </p:sp>
      <p:sp>
        <p:nvSpPr>
          <p:cNvPr id="12" name="dot"/>
          <p:cNvSpPr/>
          <p:nvPr/>
        </p:nvSpPr>
        <p:spPr>
          <a:xfrm>
            <a:off x="8275320" y="1783080"/>
            <a:ext cx="384048" cy="384048"/>
          </a:xfrm>
          <a:prstGeom prst="ellipse">
            <a:avLst/>
          </a:prstGeom>
          <a:solidFill>
            <a:schemeClr val="accent1"/>
          </a:solidFill>
          <a:ln w="12700">
            <a:solidFill>
              <a:schemeClr val="accent1"/>
            </a:solidFill>
            <a:prstDash val="solid"/>
          </a:ln>
        </p:spPr>
      </p:sp>
      <p:sp>
        <p:nvSpPr>
          <p:cNvPr id="13" name="Text 11"/>
          <p:cNvSpPr txBox="1"/>
          <p:nvPr/>
        </p:nvSpPr>
        <p:spPr>
          <a:xfrm>
            <a:off x="8778240" y="1755648"/>
            <a:ext cx="2651760" cy="41148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SUPPORT</a:t>
            </a:r>
            <a:endParaRPr lang="en-US" sz="1800" dirty="0"/>
          </a:p>
        </p:txBody>
      </p:sp>
      <p:sp>
        <p:nvSpPr>
          <p:cNvPr id="14" name="Text 12"/>
          <p:cNvSpPr txBox="1"/>
          <p:nvPr/>
        </p:nvSpPr>
        <p:spPr>
          <a:xfrm>
            <a:off x="8275320" y="2212848"/>
            <a:ext cx="3108960" cy="914400"/>
          </a:xfrm>
          <a:prstGeom prst="rect">
            <a:avLst/>
          </a:prstGeom>
          <a:noFill/>
          <a:ln/>
        </p:spPr>
        <p:txBody>
          <a:bodyPr wrap="square" lIns="0" tIns="0" rIns="0" bIns="0" rtlCol="0" anchor="t"/>
          <a:lstStyle/>
          <a:p>
            <a:pPr indent="0" marL="0">
              <a:buNone/>
            </a:pPr>
            <a:r>
              <a:rPr lang="en-US" sz="1250" dirty="0">
                <a:solidFill>
                  <a:schemeClr val="tx2"/>
                </a:solidFill>
              </a:rPr>
              <a:t>Peak or deficit: "take 3 kW only", and if the street needs more, "give at least 2 kW"</a:t>
            </a:r>
            <a:endParaRPr lang="en-US" sz="1250" dirty="0"/>
          </a:p>
        </p:txBody>
      </p:sp>
      <p:sp>
        <p:nvSpPr>
          <p:cNvPr id="15" name="signal STRETCH · vision"/>
          <p:cNvSpPr/>
          <p:nvPr/>
        </p:nvSpPr>
        <p:spPr>
          <a:xfrm>
            <a:off x="548640" y="3337560"/>
            <a:ext cx="3566160" cy="1600200"/>
          </a:xfrm>
          <a:prstGeom prst="roundRect">
            <a:avLst>
              <a:gd name="adj" fmla="val 4571"/>
            </a:avLst>
          </a:prstGeom>
          <a:solidFill>
            <a:schemeClr val="bg2"/>
          </a:solidFill>
          <a:ln w="9525">
            <a:solidFill>
              <a:schemeClr val="bg2"/>
            </a:solidFill>
            <a:prstDash val="solid"/>
          </a:ln>
        </p:spPr>
      </p:sp>
      <p:sp>
        <p:nvSpPr>
          <p:cNvPr id="16" name="dot"/>
          <p:cNvSpPr/>
          <p:nvPr/>
        </p:nvSpPr>
        <p:spPr>
          <a:xfrm>
            <a:off x="777240" y="3566160"/>
            <a:ext cx="384048" cy="384048"/>
          </a:xfrm>
          <a:prstGeom prst="ellipse">
            <a:avLst/>
          </a:prstGeom>
          <a:solidFill>
            <a:schemeClr val="accent4"/>
          </a:solidFill>
          <a:ln w="12700">
            <a:solidFill>
              <a:schemeClr val="accent4"/>
            </a:solidFill>
            <a:prstDash val="solid"/>
          </a:ln>
        </p:spPr>
      </p:sp>
      <p:sp>
        <p:nvSpPr>
          <p:cNvPr id="17" name="Text 15"/>
          <p:cNvSpPr txBox="1"/>
          <p:nvPr/>
        </p:nvSpPr>
        <p:spPr>
          <a:xfrm>
            <a:off x="1280160" y="3538728"/>
            <a:ext cx="2651760" cy="41148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STRETCH · vision</a:t>
            </a:r>
            <a:endParaRPr lang="en-US" sz="1800" dirty="0"/>
          </a:p>
        </p:txBody>
      </p:sp>
      <p:sp>
        <p:nvSpPr>
          <p:cNvPr id="18" name="Text 16"/>
          <p:cNvSpPr txBox="1"/>
          <p:nvPr/>
        </p:nvSpPr>
        <p:spPr>
          <a:xfrm>
            <a:off x="777240" y="3995928"/>
            <a:ext cx="3108960" cy="914400"/>
          </a:xfrm>
          <a:prstGeom prst="rect">
            <a:avLst/>
          </a:prstGeom>
          <a:noFill/>
          <a:ln/>
        </p:spPr>
        <p:txBody>
          <a:bodyPr wrap="square" lIns="0" tIns="0" rIns="0" bIns="0" rtlCol="0" anchor="t"/>
          <a:lstStyle/>
          <a:p>
            <a:pPr indent="0" marL="0">
              <a:buNone/>
            </a:pPr>
            <a:r>
              <a:rPr lang="en-US" sz="1100" dirty="0">
                <a:solidFill>
                  <a:schemeClr val="tx2"/>
                </a:solidFill>
              </a:rPr>
              <a:t>Street is dark: grid-forming inverters island the street, batteries are rationed until restoration, export locked to zero. Today's home inverters cannot form a grid; the signal is ready for the ones that will</a:t>
            </a:r>
            <a:endParaRPr lang="en-US" sz="1100" dirty="0"/>
          </a:p>
        </p:txBody>
      </p:sp>
      <p:sp>
        <p:nvSpPr>
          <p:cNvPr id="19" name="signal RECOVER"/>
          <p:cNvSpPr/>
          <p:nvPr/>
        </p:nvSpPr>
        <p:spPr>
          <a:xfrm>
            <a:off x="4297680" y="3337560"/>
            <a:ext cx="3566160" cy="1600200"/>
          </a:xfrm>
          <a:prstGeom prst="roundRect">
            <a:avLst>
              <a:gd name="adj" fmla="val 4571"/>
            </a:avLst>
          </a:prstGeom>
          <a:solidFill>
            <a:schemeClr val="bg2"/>
          </a:solidFill>
          <a:ln w="9525">
            <a:solidFill>
              <a:schemeClr val="bg2"/>
            </a:solidFill>
            <a:prstDash val="solid"/>
          </a:ln>
        </p:spPr>
      </p:sp>
      <p:sp>
        <p:nvSpPr>
          <p:cNvPr id="20" name="dot"/>
          <p:cNvSpPr/>
          <p:nvPr/>
        </p:nvSpPr>
        <p:spPr>
          <a:xfrm>
            <a:off x="4526280" y="3566160"/>
            <a:ext cx="384048" cy="384048"/>
          </a:xfrm>
          <a:prstGeom prst="ellipse">
            <a:avLst/>
          </a:prstGeom>
          <a:solidFill>
            <a:schemeClr val="accent2"/>
          </a:solidFill>
          <a:ln w="12700">
            <a:solidFill>
              <a:schemeClr val="accent2"/>
            </a:solidFill>
            <a:prstDash val="solid"/>
          </a:ln>
        </p:spPr>
      </p:sp>
      <p:sp>
        <p:nvSpPr>
          <p:cNvPr id="21" name="Text 19"/>
          <p:cNvSpPr txBox="1"/>
          <p:nvPr/>
        </p:nvSpPr>
        <p:spPr>
          <a:xfrm>
            <a:off x="5029200" y="3538728"/>
            <a:ext cx="2651760" cy="41148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RECOVER</a:t>
            </a:r>
            <a:endParaRPr lang="en-US" sz="1800" dirty="0"/>
          </a:p>
        </p:txBody>
      </p:sp>
      <p:sp>
        <p:nvSpPr>
          <p:cNvPr id="22" name="Text 20"/>
          <p:cNvSpPr txBox="1"/>
          <p:nvPr/>
        </p:nvSpPr>
        <p:spPr>
          <a:xfrm>
            <a:off x="4526280" y="3995928"/>
            <a:ext cx="3108960" cy="914400"/>
          </a:xfrm>
          <a:prstGeom prst="rect">
            <a:avLst/>
          </a:prstGeom>
          <a:noFill/>
          <a:ln/>
        </p:spPr>
        <p:txBody>
          <a:bodyPr wrap="square" lIns="0" tIns="0" rIns="0" bIns="0" rtlCol="0" anchor="t"/>
          <a:lstStyle/>
          <a:p>
            <a:pPr indent="0" marL="0">
              <a:buNone/>
            </a:pPr>
            <a:r>
              <a:rPr lang="en-US" sz="1250" dirty="0">
                <a:solidFill>
                  <a:schemeClr val="tx2"/>
                </a:solidFill>
              </a:rPr>
              <a:t>After restoration: staggered recharge so the street does not refill at once</a:t>
            </a:r>
            <a:endParaRPr lang="en-US" sz="1250" dirty="0"/>
          </a:p>
        </p:txBody>
      </p:sp>
      <p:sp>
        <p:nvSpPr>
          <p:cNvPr id="23" name="signal RELEASE"/>
          <p:cNvSpPr/>
          <p:nvPr/>
        </p:nvSpPr>
        <p:spPr>
          <a:xfrm>
            <a:off x="8046720" y="3337560"/>
            <a:ext cx="3566160" cy="1600200"/>
          </a:xfrm>
          <a:prstGeom prst="roundRect">
            <a:avLst>
              <a:gd name="adj" fmla="val 4571"/>
            </a:avLst>
          </a:prstGeom>
          <a:solidFill>
            <a:schemeClr val="bg2"/>
          </a:solidFill>
          <a:ln w="9525">
            <a:solidFill>
              <a:schemeClr val="bg2"/>
            </a:solidFill>
            <a:prstDash val="solid"/>
          </a:ln>
        </p:spPr>
      </p:sp>
      <p:sp>
        <p:nvSpPr>
          <p:cNvPr id="24" name="dot"/>
          <p:cNvSpPr/>
          <p:nvPr/>
        </p:nvSpPr>
        <p:spPr>
          <a:xfrm>
            <a:off x="8275320" y="3566160"/>
            <a:ext cx="384048" cy="384048"/>
          </a:xfrm>
          <a:prstGeom prst="ellipse">
            <a:avLst/>
          </a:prstGeom>
          <a:solidFill>
            <a:schemeClr val="tx2"/>
          </a:solidFill>
          <a:ln w="12700">
            <a:solidFill>
              <a:schemeClr val="tx2"/>
            </a:solidFill>
            <a:prstDash val="solid"/>
          </a:ln>
        </p:spPr>
      </p:sp>
      <p:sp>
        <p:nvSpPr>
          <p:cNvPr id="25" name="Text 23"/>
          <p:cNvSpPr txBox="1"/>
          <p:nvPr/>
        </p:nvSpPr>
        <p:spPr>
          <a:xfrm>
            <a:off x="8778240" y="3538728"/>
            <a:ext cx="2651760" cy="41148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RELEASE</a:t>
            </a:r>
            <a:endParaRPr lang="en-US" sz="1800" dirty="0"/>
          </a:p>
        </p:txBody>
      </p:sp>
      <p:sp>
        <p:nvSpPr>
          <p:cNvPr id="26" name="Text 24"/>
          <p:cNvSpPr txBox="1"/>
          <p:nvPr/>
        </p:nvSpPr>
        <p:spPr>
          <a:xfrm>
            <a:off x="8275320" y="3995928"/>
            <a:ext cx="3108960" cy="914400"/>
          </a:xfrm>
          <a:prstGeom prst="rect">
            <a:avLst/>
          </a:prstGeom>
          <a:noFill/>
          <a:ln/>
        </p:spPr>
        <p:txBody>
          <a:bodyPr wrap="square" lIns="0" tIns="0" rIns="0" bIns="0" rtlCol="0" anchor="t"/>
          <a:lstStyle/>
          <a:p>
            <a:pPr indent="0" marL="0">
              <a:buNone/>
            </a:pPr>
            <a:r>
              <a:rPr lang="en-US" sz="1250" dirty="0">
                <a:solidFill>
                  <a:schemeClr val="tx2"/>
                </a:solidFill>
              </a:rPr>
              <a:t>Event over. Owner mode, immediately</a:t>
            </a:r>
            <a:endParaRPr lang="en-US" sz="1250" dirty="0"/>
          </a:p>
        </p:txBody>
      </p:sp>
      <p:sp>
        <p:nvSpPr>
          <p:cNvPr id="27" name="Text 25"/>
          <p:cNvSpPr txBox="1"/>
          <p:nvPr/>
        </p:nvSpPr>
        <p:spPr>
          <a:xfrm>
            <a:off x="548640" y="5257800"/>
            <a:ext cx="11091672" cy="822960"/>
          </a:xfrm>
          <a:prstGeom prst="rect">
            <a:avLst/>
          </a:prstGeom>
          <a:noFill/>
          <a:ln/>
        </p:spPr>
        <p:txBody>
          <a:bodyPr wrap="square" lIns="0" tIns="0" rIns="0" bIns="0" rtlCol="0" anchor="t"/>
          <a:lstStyle/>
          <a:p>
            <a:pPr indent="0" marL="0">
              <a:buNone/>
            </a:pPr>
            <a:r>
              <a:rPr lang="en-US" sz="1400" i="1" dirty="0">
                <a:solidFill>
                  <a:schemeClr val="tx2"/>
                </a:solidFill>
              </a:rPr>
              <a:t>Envelopes: a SUPPORT or ABSORB carries one ceiling per 15-minute slot, the meter's settlement interval. Cohorts let one signal address half a street, so the other half exports while the first charges.</a:t>
            </a:r>
            <a:endParaRPr lang="en-US" sz="14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The household is the unit: everything behind one meter, one agent, eight functions</a:t>
            </a:r>
            <a:endParaRPr lang="en-US" sz="3200" dirty="0"/>
          </a:p>
        </p:txBody>
      </p:sp>
      <p:sp>
        <p:nvSpPr>
          <p:cNvPr id="3" name="dot"/>
          <p:cNvSpPr/>
          <p:nvPr/>
        </p:nvSpPr>
        <p:spPr>
          <a:xfrm>
            <a:off x="548640" y="1645920"/>
            <a:ext cx="384048" cy="384048"/>
          </a:xfrm>
          <a:prstGeom prst="ellipse">
            <a:avLst/>
          </a:prstGeom>
          <a:solidFill>
            <a:schemeClr val="accent2"/>
          </a:solidFill>
          <a:ln w="12700">
            <a:solidFill>
              <a:schemeClr val="accent2"/>
            </a:solidFill>
            <a:prstDash val="solid"/>
          </a:ln>
        </p:spPr>
      </p:sp>
      <p:sp>
        <p:nvSpPr>
          <p:cNvPr id="4" name="Text 2"/>
          <p:cNvSpPr txBox="1"/>
          <p:nvPr/>
        </p:nvSpPr>
        <p:spPr>
          <a:xfrm>
            <a:off x="1143000" y="1554480"/>
            <a:ext cx="2011680" cy="365760"/>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Battery</a:t>
            </a:r>
            <a:endParaRPr lang="en-US" sz="1600" dirty="0"/>
          </a:p>
        </p:txBody>
      </p:sp>
      <p:sp>
        <p:nvSpPr>
          <p:cNvPr id="5" name="Text 3"/>
          <p:cNvSpPr txBox="1"/>
          <p:nvPr/>
        </p:nvSpPr>
        <p:spPr>
          <a:xfrm>
            <a:off x="1143000" y="1920240"/>
            <a:ext cx="5120640" cy="640080"/>
          </a:xfrm>
          <a:prstGeom prst="rect">
            <a:avLst/>
          </a:prstGeom>
          <a:noFill/>
          <a:ln/>
        </p:spPr>
        <p:txBody>
          <a:bodyPr wrap="square" lIns="0" tIns="0" rIns="0" bIns="0" rtlCol="0" anchor="t"/>
          <a:lstStyle/>
          <a:p>
            <a:pPr indent="0" marL="0">
              <a:buNone/>
            </a:pPr>
            <a:r>
              <a:rPr lang="en-US" sz="1250" dirty="0">
                <a:solidFill>
                  <a:schemeClr val="tx2"/>
                </a:solidFill>
              </a:rPr>
              <a:t>the lever of last resort: discharge to cover the house or feed the street, within the owner floor</a:t>
            </a:r>
            <a:endParaRPr lang="en-US" sz="1250" dirty="0"/>
          </a:p>
        </p:txBody>
      </p:sp>
      <p:sp>
        <p:nvSpPr>
          <p:cNvPr id="6" name="dot"/>
          <p:cNvSpPr/>
          <p:nvPr/>
        </p:nvSpPr>
        <p:spPr>
          <a:xfrm>
            <a:off x="548640" y="2697480"/>
            <a:ext cx="384048" cy="384048"/>
          </a:xfrm>
          <a:prstGeom prst="ellipse">
            <a:avLst/>
          </a:prstGeom>
          <a:solidFill>
            <a:schemeClr val="accent3"/>
          </a:solidFill>
          <a:ln w="12700">
            <a:solidFill>
              <a:schemeClr val="accent3"/>
            </a:solidFill>
            <a:prstDash val="solid"/>
          </a:ln>
        </p:spPr>
      </p:sp>
      <p:sp>
        <p:nvSpPr>
          <p:cNvPr id="7" name="Text 5"/>
          <p:cNvSpPr txBox="1"/>
          <p:nvPr/>
        </p:nvSpPr>
        <p:spPr>
          <a:xfrm>
            <a:off x="1143000" y="2606040"/>
            <a:ext cx="2011680" cy="365760"/>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EV charger</a:t>
            </a:r>
            <a:endParaRPr lang="en-US" sz="1600" dirty="0"/>
          </a:p>
        </p:txBody>
      </p:sp>
      <p:sp>
        <p:nvSpPr>
          <p:cNvPr id="8" name="Text 6"/>
          <p:cNvSpPr txBox="1"/>
          <p:nvPr/>
        </p:nvSpPr>
        <p:spPr>
          <a:xfrm>
            <a:off x="1143000" y="2971800"/>
            <a:ext cx="5120640" cy="640080"/>
          </a:xfrm>
          <a:prstGeom prst="rect">
            <a:avLst/>
          </a:prstGeom>
          <a:noFill/>
          <a:ln/>
        </p:spPr>
        <p:txBody>
          <a:bodyPr wrap="square" lIns="0" tIns="0" rIns="0" bIns="0" rtlCol="0" anchor="t"/>
          <a:lstStyle/>
          <a:p>
            <a:pPr indent="0" marL="0">
              <a:buNone/>
            </a:pPr>
            <a:r>
              <a:rPr lang="en-US" sz="1250" dirty="0">
                <a:solidFill>
                  <a:schemeClr val="tx2"/>
                </a:solidFill>
              </a:rPr>
              <a:t>the first lever: throttled 16 to 6 A under a cap, soaks surplus, paused when the street is dark</a:t>
            </a:r>
            <a:endParaRPr lang="en-US" sz="1250" dirty="0"/>
          </a:p>
        </p:txBody>
      </p:sp>
      <p:sp>
        <p:nvSpPr>
          <p:cNvPr id="9" name="dot"/>
          <p:cNvSpPr/>
          <p:nvPr/>
        </p:nvSpPr>
        <p:spPr>
          <a:xfrm>
            <a:off x="548640" y="3749040"/>
            <a:ext cx="384048" cy="384048"/>
          </a:xfrm>
          <a:prstGeom prst="ellipse">
            <a:avLst/>
          </a:prstGeom>
          <a:solidFill>
            <a:schemeClr val="accent5"/>
          </a:solidFill>
          <a:ln w="12700">
            <a:solidFill>
              <a:schemeClr val="accent5"/>
            </a:solidFill>
            <a:prstDash val="solid"/>
          </a:ln>
        </p:spPr>
      </p:sp>
      <p:sp>
        <p:nvSpPr>
          <p:cNvPr id="10" name="Text 8"/>
          <p:cNvSpPr txBox="1"/>
          <p:nvPr/>
        </p:nvSpPr>
        <p:spPr>
          <a:xfrm>
            <a:off x="1143000" y="3657600"/>
            <a:ext cx="2011680" cy="365760"/>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Heat pump</a:t>
            </a:r>
            <a:endParaRPr lang="en-US" sz="1600" dirty="0"/>
          </a:p>
        </p:txBody>
      </p:sp>
      <p:sp>
        <p:nvSpPr>
          <p:cNvPr id="11" name="Text 9"/>
          <p:cNvSpPr txBox="1"/>
          <p:nvPr/>
        </p:nvSpPr>
        <p:spPr>
          <a:xfrm>
            <a:off x="1143000" y="4023360"/>
            <a:ext cx="5120640" cy="640080"/>
          </a:xfrm>
          <a:prstGeom prst="rect">
            <a:avLst/>
          </a:prstGeom>
          <a:noFill/>
          <a:ln/>
        </p:spPr>
        <p:txBody>
          <a:bodyPr wrap="square" lIns="0" tIns="0" rIns="0" bIns="0" rtlCol="0" anchor="t"/>
          <a:lstStyle/>
          <a:p>
            <a:pPr indent="0" marL="0">
              <a:buNone/>
            </a:pPr>
            <a:r>
              <a:rPr lang="en-US" sz="1250" dirty="0">
                <a:solidFill>
                  <a:schemeClr val="tx2"/>
                </a:solidFill>
              </a:rPr>
              <a:t>second lever: tank to 55 °C and room +2 K under surplus, tank 40 °C and room −2 K under a cap, 3 kW shed per house</a:t>
            </a:r>
            <a:endParaRPr lang="en-US" sz="1250" dirty="0"/>
          </a:p>
        </p:txBody>
      </p:sp>
      <p:sp>
        <p:nvSpPr>
          <p:cNvPr id="12" name="dot"/>
          <p:cNvSpPr/>
          <p:nvPr/>
        </p:nvSpPr>
        <p:spPr>
          <a:xfrm>
            <a:off x="548640" y="4800600"/>
            <a:ext cx="384048" cy="384048"/>
          </a:xfrm>
          <a:prstGeom prst="ellipse">
            <a:avLst/>
          </a:prstGeom>
          <a:solidFill>
            <a:schemeClr val="accent6"/>
          </a:solidFill>
          <a:ln w="12700">
            <a:solidFill>
              <a:schemeClr val="accent6"/>
            </a:solidFill>
            <a:prstDash val="solid"/>
          </a:ln>
        </p:spPr>
      </p:sp>
      <p:sp>
        <p:nvSpPr>
          <p:cNvPr id="13" name="Text 11"/>
          <p:cNvSpPr txBox="1"/>
          <p:nvPr/>
        </p:nvSpPr>
        <p:spPr>
          <a:xfrm>
            <a:off x="1143000" y="4709160"/>
            <a:ext cx="2011680" cy="365760"/>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Boiler</a:t>
            </a:r>
            <a:endParaRPr lang="en-US" sz="1600" dirty="0"/>
          </a:p>
        </p:txBody>
      </p:sp>
      <p:sp>
        <p:nvSpPr>
          <p:cNvPr id="14" name="Text 12"/>
          <p:cNvSpPr txBox="1"/>
          <p:nvPr/>
        </p:nvSpPr>
        <p:spPr>
          <a:xfrm>
            <a:off x="1143000" y="5074920"/>
            <a:ext cx="5120640" cy="640080"/>
          </a:xfrm>
          <a:prstGeom prst="rect">
            <a:avLst/>
          </a:prstGeom>
          <a:noFill/>
          <a:ln/>
        </p:spPr>
        <p:txBody>
          <a:bodyPr wrap="square" lIns="0" tIns="0" rIns="0" bIns="0" rtlCol="0" anchor="t"/>
          <a:lstStyle/>
          <a:p>
            <a:pPr indent="0" marL="0">
              <a:buNone/>
            </a:pPr>
            <a:r>
              <a:rPr lang="en-US" sz="1250" dirty="0">
                <a:solidFill>
                  <a:schemeClr val="tx2"/>
                </a:solidFill>
              </a:rPr>
              <a:t>same rules at 65 and 45 °C; an electric boiler is a kilowatt-hour sponge</a:t>
            </a:r>
            <a:endParaRPr lang="en-US" sz="1250" dirty="0"/>
          </a:p>
        </p:txBody>
      </p:sp>
      <p:sp>
        <p:nvSpPr>
          <p:cNvPr id="15" name="eight functions"/>
          <p:cNvSpPr/>
          <p:nvPr/>
        </p:nvSpPr>
        <p:spPr>
          <a:xfrm>
            <a:off x="6675120" y="1554480"/>
            <a:ext cx="4937760" cy="4114800"/>
          </a:xfrm>
          <a:prstGeom prst="roundRect">
            <a:avLst>
              <a:gd name="adj" fmla="val 1778"/>
            </a:avLst>
          </a:prstGeom>
          <a:solidFill>
            <a:schemeClr val="bg2"/>
          </a:solidFill>
          <a:ln w="9525">
            <a:solidFill>
              <a:schemeClr val="bg2"/>
            </a:solidFill>
            <a:prstDash val="solid"/>
          </a:ln>
        </p:spPr>
      </p:sp>
      <p:sp>
        <p:nvSpPr>
          <p:cNvPr id="16" name="Text 14"/>
          <p:cNvSpPr txBox="1"/>
          <p:nvPr/>
        </p:nvSpPr>
        <p:spPr>
          <a:xfrm>
            <a:off x="6903720" y="1691640"/>
            <a:ext cx="4572000" cy="365760"/>
          </a:xfrm>
          <a:prstGeom prst="rect">
            <a:avLst/>
          </a:prstGeom>
          <a:noFill/>
          <a:ln/>
        </p:spPr>
        <p:txBody>
          <a:bodyPr wrap="square" lIns="0" tIns="0" rIns="0" bIns="0" rtlCol="0" anchor="t"/>
          <a:lstStyle/>
          <a:p>
            <a:pPr indent="0" marL="0">
              <a:buNone/>
            </a:pPr>
            <a:r>
              <a:rPr lang="en-US" sz="1500" b="1" dirty="0">
                <a:solidFill>
                  <a:schemeClr val="accent1"/>
                </a:solidFill>
              </a:rPr>
              <a:t>The agent, any language, forty lines</a:t>
            </a:r>
            <a:endParaRPr lang="en-US" sz="1500" dirty="0"/>
          </a:p>
        </p:txBody>
      </p:sp>
      <p:sp>
        <p:nvSpPr>
          <p:cNvPr id="17" name="Text 15"/>
          <p:cNvSpPr txBox="1"/>
          <p:nvPr/>
        </p:nvSpPr>
        <p:spPr>
          <a:xfrm>
            <a:off x="6903720" y="2148840"/>
            <a:ext cx="4526280" cy="3383280"/>
          </a:xfrm>
          <a:prstGeom prst="rect">
            <a:avLst/>
          </a:prstGeom>
          <a:noFill/>
          <a:ln/>
        </p:spPr>
        <p:txBody>
          <a:bodyPr wrap="square" lIns="0" tIns="0" rIns="0" bIns="0" rtlCol="0" anchor="t"/>
          <a:lstStyle/>
          <a:p>
            <a:pPr marL="342900" indent="-342900">
              <a:spcAft>
                <a:spcPts val="600"/>
              </a:spcAft>
              <a:buSzPct val="100000"/>
              <a:buFont typeface="+mj-lt"/>
              <a:buAutoNum type="arabicPeriod" startAt="1"/>
            </a:pPr>
            <a:r>
              <a:rPr lang="en-US" sz="1350" dirty="0">
                <a:solidFill>
                  <a:schemeClr val="tx1"/>
                </a:solidFill>
              </a:rPr>
              <a:t>Pin the platform key at registration</a:t>
            </a:r>
            <a:endParaRPr lang="en-US" sz="1350" dirty="0"/>
          </a:p>
          <a:p>
            <a:pPr marL="342900" indent="-342900">
              <a:spcAft>
                <a:spcPts val="600"/>
              </a:spcAft>
              <a:buSzPct val="100000"/>
              <a:buFont typeface="+mj-lt"/>
              <a:buAutoNum type="arabicPeriod" startAt="1"/>
            </a:pPr>
            <a:r>
              <a:rPr lang="en-US" sz="1350" dirty="0">
                <a:solidFill>
                  <a:schemeClr val="tx1"/>
                </a:solidFill>
              </a:rPr>
              <a:t>Subscribe to the segment topics, outbound only</a:t>
            </a:r>
            <a:endParaRPr lang="en-US" sz="1350" dirty="0"/>
          </a:p>
          <a:p>
            <a:pPr marL="342900" indent="-342900">
              <a:spcAft>
                <a:spcPts val="600"/>
              </a:spcAft>
              <a:buSzPct val="100000"/>
              <a:buFont typeface="+mj-lt"/>
              <a:buAutoNum type="arabicPeriod" startAt="1"/>
            </a:pPr>
            <a:r>
              <a:rPr lang="en-US" sz="1350" dirty="0">
                <a:solidFill>
                  <a:schemeClr val="tx1"/>
                </a:solidFill>
              </a:rPr>
              <a:t>Verify signature, sequence, freshness, scope</a:t>
            </a:r>
            <a:endParaRPr lang="en-US" sz="1350" dirty="0"/>
          </a:p>
          <a:p>
            <a:pPr marL="342900" indent="-342900">
              <a:spcAft>
                <a:spcPts val="600"/>
              </a:spcAft>
              <a:buSzPct val="100000"/>
              <a:buFont typeface="+mj-lt"/>
              <a:buAutoNum type="arabicPeriod" startAt="1"/>
            </a:pPr>
            <a:r>
              <a:rPr lang="en-US" sz="1350" dirty="0">
                <a:solidFill>
                  <a:schemeClr val="tx1"/>
                </a:solidFill>
              </a:rPr>
              <a:t>Merge with owner limits: floor, caps, opt-out</a:t>
            </a:r>
            <a:endParaRPr lang="en-US" sz="1350" dirty="0"/>
          </a:p>
          <a:p>
            <a:pPr marL="342900" indent="-342900">
              <a:spcAft>
                <a:spcPts val="600"/>
              </a:spcAft>
              <a:buSzPct val="100000"/>
              <a:buFont typeface="+mj-lt"/>
              <a:buAutoNum type="arabicPeriod" startAt="1"/>
            </a:pPr>
            <a:r>
              <a:rPr lang="en-US" sz="1350" dirty="0">
                <a:solidFill>
                  <a:schemeClr val="tx1"/>
                </a:solidFill>
              </a:rPr>
              <a:t>Apply: the only vendor-specific step</a:t>
            </a:r>
            <a:endParaRPr lang="en-US" sz="1350" dirty="0"/>
          </a:p>
          <a:p>
            <a:pPr marL="342900" indent="-342900">
              <a:spcAft>
                <a:spcPts val="600"/>
              </a:spcAft>
              <a:buSzPct val="100000"/>
              <a:buFont typeface="+mj-lt"/>
              <a:buAutoNum type="arabicPeriod" startAt="1"/>
            </a:pPr>
            <a:r>
              <a:rPr lang="en-US" sz="1350" dirty="0">
                <a:solidFill>
                  <a:schemeClr val="tx1"/>
                </a:solidFill>
              </a:rPr>
              <a:t>Ack, signed with the device key</a:t>
            </a:r>
            <a:endParaRPr lang="en-US" sz="1350" dirty="0"/>
          </a:p>
          <a:p>
            <a:pPr marL="342900" indent="-342900">
              <a:spcAft>
                <a:spcPts val="600"/>
              </a:spcAft>
              <a:buSzPct val="100000"/>
              <a:buFont typeface="+mj-lt"/>
              <a:buAutoNum type="arabicPeriod" startAt="1"/>
            </a:pPr>
            <a:r>
              <a:rPr lang="en-US" sz="1350" dirty="0">
                <a:solidFill>
                  <a:schemeClr val="tx1"/>
                </a:solidFill>
              </a:rPr>
              <a:t>Watch the heartbeat and the window</a:t>
            </a:r>
            <a:endParaRPr lang="en-US" sz="1350" dirty="0"/>
          </a:p>
          <a:p>
            <a:pPr marL="342900" indent="-342900">
              <a:spcAft>
                <a:spcPts val="600"/>
              </a:spcAft>
              <a:buSzPct val="100000"/>
              <a:buFont typeface="+mj-lt"/>
              <a:buAutoNum type="arabicPeriod" startAt="1"/>
            </a:pPr>
            <a:r>
              <a:rPr lang="en-US" sz="1350" dirty="0">
                <a:solidFill>
                  <a:schemeClr val="tx1"/>
                </a:solidFill>
              </a:rPr>
              <a:t>Revert to owner mode</a:t>
            </a:r>
            <a:endParaRPr lang="en-US" sz="1350" dirty="0"/>
          </a:p>
        </p:txBody>
      </p:sp>
      <p:sp>
        <p:nvSpPr>
          <p:cNvPr id="18" name="Text 16"/>
          <p:cNvSpPr txBox="1"/>
          <p:nvPr/>
        </p:nvSpPr>
        <p:spPr>
          <a:xfrm>
            <a:off x="548640" y="5806440"/>
            <a:ext cx="11091672" cy="548640"/>
          </a:xfrm>
          <a:prstGeom prst="rect">
            <a:avLst/>
          </a:prstGeom>
          <a:noFill/>
          <a:ln/>
        </p:spPr>
        <p:txBody>
          <a:bodyPr wrap="square" lIns="0" tIns="0" rIns="0" bIns="0" rtlCol="0" anchor="t"/>
          <a:lstStyle/>
          <a:p>
            <a:pPr indent="0" marL="0">
              <a:buNone/>
            </a:pPr>
            <a:r>
              <a:rPr lang="en-US" sz="1300" i="1" dirty="0">
                <a:solidFill>
                  <a:schemeClr val="tx2"/>
                </a:solidFill>
              </a:rPr>
              <a:t>Blatnica, the real one: Victron Cerbo GX with MultiPlus-II and a 15 kWh battery, an 11 kW Victron EV station, and a Viessmann Vitocal heat pump via ViCare. One house on the board.</a:t>
            </a:r>
            <a:endParaRPr lang="en-US" sz="13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DeepSeek runs the grid every 15 minutes. The guard is the brake</a:t>
            </a:r>
            <a:endParaRPr lang="en-US" sz="3200" dirty="0"/>
          </a:p>
        </p:txBody>
      </p:sp>
      <p:sp>
        <p:nvSpPr>
          <p:cNvPr id="3" name="step SENSE"/>
          <p:cNvSpPr/>
          <p:nvPr/>
        </p:nvSpPr>
        <p:spPr>
          <a:xfrm>
            <a:off x="548640" y="1600200"/>
            <a:ext cx="2606040" cy="2103120"/>
          </a:xfrm>
          <a:prstGeom prst="roundRect">
            <a:avLst>
              <a:gd name="adj" fmla="val 3478"/>
            </a:avLst>
          </a:prstGeom>
          <a:solidFill>
            <a:schemeClr val="bg2"/>
          </a:solidFill>
          <a:ln w="9525">
            <a:solidFill>
              <a:schemeClr val="bg2"/>
            </a:solidFill>
            <a:prstDash val="solid"/>
          </a:ln>
        </p:spPr>
      </p:sp>
      <p:sp>
        <p:nvSpPr>
          <p:cNvPr id="4" name="dot"/>
          <p:cNvSpPr/>
          <p:nvPr/>
        </p:nvSpPr>
        <p:spPr>
          <a:xfrm>
            <a:off x="777240" y="1828800"/>
            <a:ext cx="384048" cy="384048"/>
          </a:xfrm>
          <a:prstGeom prst="ellipse">
            <a:avLst/>
          </a:prstGeom>
          <a:solidFill>
            <a:schemeClr val="accent2"/>
          </a:solidFill>
          <a:ln w="12700">
            <a:solidFill>
              <a:schemeClr val="accent2"/>
            </a:solidFill>
            <a:prstDash val="solid"/>
          </a:ln>
        </p:spPr>
      </p:sp>
      <p:sp>
        <p:nvSpPr>
          <p:cNvPr id="5" name="Text 3"/>
          <p:cNvSpPr txBox="1"/>
          <p:nvPr/>
        </p:nvSpPr>
        <p:spPr>
          <a:xfrm>
            <a:off x="1280160" y="1801368"/>
            <a:ext cx="1828800" cy="457200"/>
          </a:xfrm>
          <a:prstGeom prst="rect">
            <a:avLst/>
          </a:prstGeom>
          <a:noFill/>
          <a:ln/>
        </p:spPr>
        <p:txBody>
          <a:bodyPr wrap="square" lIns="0" tIns="0" rIns="0" bIns="0" rtlCol="0" anchor="t"/>
          <a:lstStyle/>
          <a:p>
            <a:pPr indent="0" marL="0">
              <a:buNone/>
            </a:pPr>
            <a:r>
              <a:rPr lang="en-US" sz="1300" b="1" dirty="0">
                <a:solidFill>
                  <a:schemeClr val="tx1"/>
                </a:solidFill>
                <a:latin typeface="Arial" pitchFamily="34" charset="0"/>
                <a:ea typeface="Arial" pitchFamily="34" charset="-122"/>
                <a:cs typeface="Arial" pitchFamily="34" charset="-120"/>
              </a:rPr>
              <a:t>SENSE</a:t>
            </a:r>
            <a:endParaRPr lang="en-US" sz="1300" dirty="0"/>
          </a:p>
        </p:txBody>
      </p:sp>
      <p:sp>
        <p:nvSpPr>
          <p:cNvPr id="6" name="Text 4"/>
          <p:cNvSpPr txBox="1"/>
          <p:nvPr/>
        </p:nvSpPr>
        <p:spPr>
          <a:xfrm>
            <a:off x="777240" y="2377440"/>
            <a:ext cx="2194560" cy="1280160"/>
          </a:xfrm>
          <a:prstGeom prst="rect">
            <a:avLst/>
          </a:prstGeom>
          <a:noFill/>
          <a:ln/>
        </p:spPr>
        <p:txBody>
          <a:bodyPr wrap="square" lIns="0" tIns="0" rIns="0" bIns="0" rtlCol="0" anchor="t"/>
          <a:lstStyle/>
          <a:p>
            <a:pPr indent="0" marL="0">
              <a:buNone/>
            </a:pPr>
            <a:r>
              <a:rPr lang="en-US" sz="1200" dirty="0">
                <a:solidFill>
                  <a:schemeClr val="tx2"/>
                </a:solidFill>
              </a:rPr>
              <a:t>72 transformers, 90-minute forecast, trigger at ±85 % of rating</a:t>
            </a:r>
            <a:endParaRPr lang="en-US" sz="1200" dirty="0"/>
          </a:p>
        </p:txBody>
      </p:sp>
      <p:sp>
        <p:nvSpPr>
          <p:cNvPr id="7" name="arrow"/>
          <p:cNvSpPr/>
          <p:nvPr/>
        </p:nvSpPr>
        <p:spPr>
          <a:xfrm>
            <a:off x="3163824" y="2514600"/>
            <a:ext cx="201168" cy="292608"/>
          </a:xfrm>
          <a:prstGeom prst="rightArrow">
            <a:avLst/>
          </a:prstGeom>
          <a:solidFill>
            <a:srgbClr val="A2A9B3"/>
          </a:solidFill>
          <a:ln w="12700">
            <a:solidFill>
              <a:srgbClr val="A2A9B3"/>
            </a:solidFill>
            <a:prstDash val="solid"/>
          </a:ln>
        </p:spPr>
      </p:sp>
      <p:sp>
        <p:nvSpPr>
          <p:cNvPr id="8" name="step DEEPSEEK DECIDES"/>
          <p:cNvSpPr/>
          <p:nvPr/>
        </p:nvSpPr>
        <p:spPr>
          <a:xfrm>
            <a:off x="3383280" y="1600200"/>
            <a:ext cx="2606040" cy="2103120"/>
          </a:xfrm>
          <a:prstGeom prst="roundRect">
            <a:avLst>
              <a:gd name="adj" fmla="val 3478"/>
            </a:avLst>
          </a:prstGeom>
          <a:solidFill>
            <a:schemeClr val="bg2"/>
          </a:solidFill>
          <a:ln w="9525">
            <a:solidFill>
              <a:schemeClr val="bg2"/>
            </a:solidFill>
            <a:prstDash val="solid"/>
          </a:ln>
        </p:spPr>
      </p:sp>
      <p:sp>
        <p:nvSpPr>
          <p:cNvPr id="9" name="dot"/>
          <p:cNvSpPr/>
          <p:nvPr/>
        </p:nvSpPr>
        <p:spPr>
          <a:xfrm>
            <a:off x="3611880" y="1828800"/>
            <a:ext cx="384048" cy="384048"/>
          </a:xfrm>
          <a:prstGeom prst="ellipse">
            <a:avLst/>
          </a:prstGeom>
          <a:solidFill>
            <a:schemeClr val="accent1"/>
          </a:solidFill>
          <a:ln w="12700">
            <a:solidFill>
              <a:schemeClr val="accent1"/>
            </a:solidFill>
            <a:prstDash val="solid"/>
          </a:ln>
        </p:spPr>
      </p:sp>
      <p:sp>
        <p:nvSpPr>
          <p:cNvPr id="10" name="Text 8"/>
          <p:cNvSpPr txBox="1"/>
          <p:nvPr/>
        </p:nvSpPr>
        <p:spPr>
          <a:xfrm>
            <a:off x="4114800" y="1801368"/>
            <a:ext cx="1828800" cy="457200"/>
          </a:xfrm>
          <a:prstGeom prst="rect">
            <a:avLst/>
          </a:prstGeom>
          <a:noFill/>
          <a:ln/>
        </p:spPr>
        <p:txBody>
          <a:bodyPr wrap="square" lIns="0" tIns="0" rIns="0" bIns="0" rtlCol="0" anchor="t"/>
          <a:lstStyle/>
          <a:p>
            <a:pPr indent="0" marL="0">
              <a:buNone/>
            </a:pPr>
            <a:r>
              <a:rPr lang="en-US" sz="1300" b="1" dirty="0">
                <a:solidFill>
                  <a:schemeClr val="tx1"/>
                </a:solidFill>
                <a:latin typeface="Arial" pitchFamily="34" charset="0"/>
                <a:ea typeface="Arial" pitchFamily="34" charset="-122"/>
                <a:cs typeface="Arial" pitchFamily="34" charset="-120"/>
              </a:rPr>
              <a:t>DEEPSEEK DECIDES</a:t>
            </a:r>
            <a:endParaRPr lang="en-US" sz="1300" dirty="0"/>
          </a:p>
        </p:txBody>
      </p:sp>
      <p:sp>
        <p:nvSpPr>
          <p:cNvPr id="11" name="Text 9"/>
          <p:cNvSpPr txBox="1"/>
          <p:nvPr/>
        </p:nvSpPr>
        <p:spPr>
          <a:xfrm>
            <a:off x="3611880" y="2377440"/>
            <a:ext cx="2194560" cy="1280160"/>
          </a:xfrm>
          <a:prstGeom prst="rect">
            <a:avLst/>
          </a:prstGeom>
          <a:noFill/>
          <a:ln/>
        </p:spPr>
        <p:txBody>
          <a:bodyPr wrap="square" lIns="0" tIns="0" rIns="0" bIns="0" rtlCol="0" anchor="t"/>
          <a:lstStyle/>
          <a:p>
            <a:pPr indent="0" marL="0">
              <a:buNone/>
            </a:pPr>
            <a:r>
              <a:rPr lang="en-US" sz="1200" dirty="0">
                <a:solidFill>
                  <a:schemeClr val="tx2"/>
                </a:solidFill>
              </a:rPr>
              <a:t>DeepSeek-V4.1-Flash on the DGX Spark proposes mode, segment, cap, window and a dynamic envelope, in ~3 s</a:t>
            </a:r>
            <a:endParaRPr lang="en-US" sz="1200" dirty="0"/>
          </a:p>
        </p:txBody>
      </p:sp>
      <p:sp>
        <p:nvSpPr>
          <p:cNvPr id="12" name="arrow"/>
          <p:cNvSpPr/>
          <p:nvPr/>
        </p:nvSpPr>
        <p:spPr>
          <a:xfrm>
            <a:off x="5998464" y="2514600"/>
            <a:ext cx="201168" cy="292608"/>
          </a:xfrm>
          <a:prstGeom prst="rightArrow">
            <a:avLst/>
          </a:prstGeom>
          <a:solidFill>
            <a:srgbClr val="A2A9B3"/>
          </a:solidFill>
          <a:ln w="12700">
            <a:solidFill>
              <a:srgbClr val="A2A9B3"/>
            </a:solidFill>
            <a:prstDash val="solid"/>
          </a:ln>
        </p:spPr>
      </p:sp>
      <p:sp>
        <p:nvSpPr>
          <p:cNvPr id="13" name="step GUARD"/>
          <p:cNvSpPr/>
          <p:nvPr/>
        </p:nvSpPr>
        <p:spPr>
          <a:xfrm>
            <a:off x="6217920" y="1600200"/>
            <a:ext cx="2606040" cy="2103120"/>
          </a:xfrm>
          <a:prstGeom prst="roundRect">
            <a:avLst>
              <a:gd name="adj" fmla="val 3478"/>
            </a:avLst>
          </a:prstGeom>
          <a:solidFill>
            <a:schemeClr val="bg2"/>
          </a:solidFill>
          <a:ln w="9525">
            <a:solidFill>
              <a:schemeClr val="bg2"/>
            </a:solidFill>
            <a:prstDash val="solid"/>
          </a:ln>
        </p:spPr>
      </p:sp>
      <p:sp>
        <p:nvSpPr>
          <p:cNvPr id="14" name="dot"/>
          <p:cNvSpPr/>
          <p:nvPr/>
        </p:nvSpPr>
        <p:spPr>
          <a:xfrm>
            <a:off x="6446520" y="1828800"/>
            <a:ext cx="384048" cy="384048"/>
          </a:xfrm>
          <a:prstGeom prst="ellipse">
            <a:avLst/>
          </a:prstGeom>
          <a:solidFill>
            <a:schemeClr val="accent3"/>
          </a:solidFill>
          <a:ln w="12700">
            <a:solidFill>
              <a:schemeClr val="accent3"/>
            </a:solidFill>
            <a:prstDash val="solid"/>
          </a:ln>
        </p:spPr>
      </p:sp>
      <p:sp>
        <p:nvSpPr>
          <p:cNvPr id="15" name="Text 13"/>
          <p:cNvSpPr txBox="1"/>
          <p:nvPr/>
        </p:nvSpPr>
        <p:spPr>
          <a:xfrm>
            <a:off x="6949440" y="1801368"/>
            <a:ext cx="1828800" cy="457200"/>
          </a:xfrm>
          <a:prstGeom prst="rect">
            <a:avLst/>
          </a:prstGeom>
          <a:noFill/>
          <a:ln/>
        </p:spPr>
        <p:txBody>
          <a:bodyPr wrap="square" lIns="0" tIns="0" rIns="0" bIns="0" rtlCol="0" anchor="t"/>
          <a:lstStyle/>
          <a:p>
            <a:pPr indent="0" marL="0">
              <a:buNone/>
            </a:pPr>
            <a:r>
              <a:rPr lang="en-US" sz="1300" b="1" dirty="0">
                <a:solidFill>
                  <a:schemeClr val="tx1"/>
                </a:solidFill>
                <a:latin typeface="Arial" pitchFamily="34" charset="0"/>
                <a:ea typeface="Arial" pitchFamily="34" charset="-122"/>
                <a:cs typeface="Arial" pitchFamily="34" charset="-120"/>
              </a:rPr>
              <a:t>GUARD</a:t>
            </a:r>
            <a:endParaRPr lang="en-US" sz="1300" dirty="0"/>
          </a:p>
        </p:txBody>
      </p:sp>
      <p:sp>
        <p:nvSpPr>
          <p:cNvPr id="16" name="Text 14"/>
          <p:cNvSpPr txBox="1"/>
          <p:nvPr/>
        </p:nvSpPr>
        <p:spPr>
          <a:xfrm>
            <a:off x="6446520" y="2377440"/>
            <a:ext cx="2194560" cy="1280160"/>
          </a:xfrm>
          <a:prstGeom prst="rect">
            <a:avLst/>
          </a:prstGeom>
          <a:noFill/>
          <a:ln/>
        </p:spPr>
        <p:txBody>
          <a:bodyPr wrap="square" lIns="0" tIns="0" rIns="0" bIns="0" rtlCol="0" anchor="t"/>
          <a:lstStyle/>
          <a:p>
            <a:pPr indent="0" marL="0">
              <a:buNone/>
            </a:pPr>
            <a:r>
              <a:rPr lang="en-US" sz="1200" dirty="0">
                <a:solidFill>
                  <a:schemeClr val="tx2"/>
                </a:solidFill>
              </a:rPr>
              <a:t>deterministic policy: window, depth, rate, reverse rating, cooldowns. Not AI. Refuses or passes</a:t>
            </a:r>
            <a:endParaRPr lang="en-US" sz="1200" dirty="0"/>
          </a:p>
        </p:txBody>
      </p:sp>
      <p:sp>
        <p:nvSpPr>
          <p:cNvPr id="17" name="arrow"/>
          <p:cNvSpPr/>
          <p:nvPr/>
        </p:nvSpPr>
        <p:spPr>
          <a:xfrm>
            <a:off x="8833104" y="2514600"/>
            <a:ext cx="201168" cy="292608"/>
          </a:xfrm>
          <a:prstGeom prst="rightArrow">
            <a:avLst/>
          </a:prstGeom>
          <a:solidFill>
            <a:srgbClr val="A2A9B3"/>
          </a:solidFill>
          <a:ln w="12700">
            <a:solidFill>
              <a:srgbClr val="A2A9B3"/>
            </a:solidFill>
            <a:prstDash val="solid"/>
          </a:ln>
        </p:spPr>
      </p:sp>
      <p:sp>
        <p:nvSpPr>
          <p:cNvPr id="18" name="step SIGN + PUBLISH"/>
          <p:cNvSpPr/>
          <p:nvPr/>
        </p:nvSpPr>
        <p:spPr>
          <a:xfrm>
            <a:off x="9052560" y="1600200"/>
            <a:ext cx="2606040" cy="2103120"/>
          </a:xfrm>
          <a:prstGeom prst="roundRect">
            <a:avLst>
              <a:gd name="adj" fmla="val 3478"/>
            </a:avLst>
          </a:prstGeom>
          <a:solidFill>
            <a:schemeClr val="bg2"/>
          </a:solidFill>
          <a:ln w="9525">
            <a:solidFill>
              <a:schemeClr val="bg2"/>
            </a:solidFill>
            <a:prstDash val="solid"/>
          </a:ln>
        </p:spPr>
      </p:sp>
      <p:sp>
        <p:nvSpPr>
          <p:cNvPr id="19" name="dot"/>
          <p:cNvSpPr/>
          <p:nvPr/>
        </p:nvSpPr>
        <p:spPr>
          <a:xfrm>
            <a:off x="9281160" y="1828800"/>
            <a:ext cx="384048" cy="384048"/>
          </a:xfrm>
          <a:prstGeom prst="ellipse">
            <a:avLst/>
          </a:prstGeom>
          <a:solidFill>
            <a:schemeClr val="accent5"/>
          </a:solidFill>
          <a:ln w="12700">
            <a:solidFill>
              <a:schemeClr val="accent5"/>
            </a:solidFill>
            <a:prstDash val="solid"/>
          </a:ln>
        </p:spPr>
      </p:sp>
      <p:sp>
        <p:nvSpPr>
          <p:cNvPr id="20" name="Text 18"/>
          <p:cNvSpPr txBox="1"/>
          <p:nvPr/>
        </p:nvSpPr>
        <p:spPr>
          <a:xfrm>
            <a:off x="9784080" y="1801368"/>
            <a:ext cx="1828800" cy="457200"/>
          </a:xfrm>
          <a:prstGeom prst="rect">
            <a:avLst/>
          </a:prstGeom>
          <a:noFill/>
          <a:ln/>
        </p:spPr>
        <p:txBody>
          <a:bodyPr wrap="square" lIns="0" tIns="0" rIns="0" bIns="0" rtlCol="0" anchor="t"/>
          <a:lstStyle/>
          <a:p>
            <a:pPr indent="0" marL="0">
              <a:buNone/>
            </a:pPr>
            <a:r>
              <a:rPr lang="en-US" sz="1300" b="1" dirty="0">
                <a:solidFill>
                  <a:schemeClr val="tx1"/>
                </a:solidFill>
                <a:latin typeface="Arial" pitchFamily="34" charset="0"/>
                <a:ea typeface="Arial" pitchFamily="34" charset="-122"/>
                <a:cs typeface="Arial" pitchFamily="34" charset="-120"/>
              </a:rPr>
              <a:t>SIGN + PUBLISH</a:t>
            </a:r>
            <a:endParaRPr lang="en-US" sz="1300" dirty="0"/>
          </a:p>
        </p:txBody>
      </p:sp>
      <p:sp>
        <p:nvSpPr>
          <p:cNvPr id="21" name="Text 19"/>
          <p:cNvSpPr txBox="1"/>
          <p:nvPr/>
        </p:nvSpPr>
        <p:spPr>
          <a:xfrm>
            <a:off x="9281160" y="2377440"/>
            <a:ext cx="2194560" cy="1280160"/>
          </a:xfrm>
          <a:prstGeom prst="rect">
            <a:avLst/>
          </a:prstGeom>
          <a:noFill/>
          <a:ln/>
        </p:spPr>
        <p:txBody>
          <a:bodyPr wrap="square" lIns="0" tIns="0" rIns="0" bIns="0" rtlCol="0" anchor="t"/>
          <a:lstStyle/>
          <a:p>
            <a:pPr indent="0" marL="0">
              <a:buNone/>
            </a:pPr>
            <a:r>
              <a:rPr lang="en-US" sz="1200" dirty="0">
                <a:solidFill>
                  <a:schemeClr val="tx2"/>
                </a:solidFill>
              </a:rPr>
              <a:t>Ed25519, one topic per segment, over TLS. Houses merge with owner limits and ack</a:t>
            </a:r>
            <a:endParaRPr lang="en-US" sz="1200" dirty="0"/>
          </a:p>
        </p:txBody>
      </p:sp>
      <p:sp>
        <p:nvSpPr>
          <p:cNvPr id="22" name="Text 20"/>
          <p:cNvSpPr txBox="1"/>
          <p:nvPr/>
        </p:nvSpPr>
        <p:spPr>
          <a:xfrm>
            <a:off x="548640" y="4023360"/>
            <a:ext cx="11091672" cy="21945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Three modes: autonomous, operator approves, off. In autonomous mode nothing waits for a human; the guard and the device-side bounds are the safety</a:t>
            </a:r>
            <a:endParaRPr lang="en-US" sz="1500" dirty="0"/>
          </a:p>
          <a:p>
            <a:pPr marL="342900" indent="-342900">
              <a:spcAft>
                <a:spcPts val="600"/>
              </a:spcAft>
              <a:buSzPct val="100000"/>
              <a:buChar char="•"/>
            </a:pPr>
            <a:r>
              <a:rPr lang="en-US" sz="1500" dirty="0">
                <a:solidFill>
                  <a:schemeClr val="tx1"/>
                </a:solidFill>
              </a:rPr>
              <a:t>Scope is physics: a street transformer is relieved only by its own houses; a feeder or substation by every house under it; a village can feed its neighbours through the 22 kV line</a:t>
            </a:r>
            <a:endParaRPr lang="en-US" sz="1500" dirty="0"/>
          </a:p>
          <a:p>
            <a:pPr marL="342900" indent="-342900">
              <a:spcAft>
                <a:spcPts val="600"/>
              </a:spcAft>
              <a:buSzPct val="100000"/>
              <a:buChar char="•"/>
            </a:pPr>
            <a:r>
              <a:rPr lang="en-US" sz="1500" dirty="0">
                <a:solidFill>
                  <a:schemeClr val="tx1"/>
                </a:solidFill>
              </a:rPr>
              <a:t>Every decision is logged with its reasoning, latency, verdict and the acks it earned. That log is the audit trail</a:t>
            </a:r>
            <a:endParaRPr lang="en-US" sz="15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Everything on that screen runs on real infrastructure today</a:t>
            </a:r>
            <a:endParaRPr lang="en-US" sz="3200" dirty="0"/>
          </a:p>
        </p:txBody>
      </p:sp>
      <p:sp>
        <p:nvSpPr>
          <p:cNvPr id="3" name="stat households on the board, 8,070 houses represented"/>
          <p:cNvSpPr/>
          <p:nvPr/>
        </p:nvSpPr>
        <p:spPr>
          <a:xfrm>
            <a:off x="548640" y="1463040"/>
            <a:ext cx="2697480" cy="1417320"/>
          </a:xfrm>
          <a:prstGeom prst="roundRect">
            <a:avLst>
              <a:gd name="adj" fmla="val 5161"/>
            </a:avLst>
          </a:prstGeom>
          <a:solidFill>
            <a:schemeClr val="bg2"/>
          </a:solidFill>
          <a:ln w="9525">
            <a:solidFill>
              <a:schemeClr val="bg2"/>
            </a:solidFill>
            <a:prstDash val="solid"/>
          </a:ln>
        </p:spPr>
      </p:sp>
      <p:sp>
        <p:nvSpPr>
          <p:cNvPr id="4" name="Text 2"/>
          <p:cNvSpPr txBox="1"/>
          <p:nvPr/>
        </p:nvSpPr>
        <p:spPr>
          <a:xfrm>
            <a:off x="777240" y="1627632"/>
            <a:ext cx="2240280" cy="731520"/>
          </a:xfrm>
          <a:prstGeom prst="rect">
            <a:avLst/>
          </a:prstGeom>
          <a:noFill/>
          <a:ln/>
        </p:spPr>
        <p:txBody>
          <a:bodyPr wrap="square" lIns="0" tIns="0" rIns="0" bIns="0" rtlCol="0" anchor="t"/>
          <a:lstStyle/>
          <a:p>
            <a:pPr indent="0" marL="0">
              <a:buNone/>
            </a:pPr>
            <a:r>
              <a:rPr lang="en-US" sz="3600" b="1" dirty="0">
                <a:solidFill>
                  <a:schemeClr val="accent2"/>
                </a:solidFill>
                <a:latin typeface="Arial" pitchFamily="34" charset="0"/>
                <a:ea typeface="Arial" pitchFamily="34" charset="-122"/>
                <a:cs typeface="Arial" pitchFamily="34" charset="-120"/>
              </a:rPr>
              <a:t>272</a:t>
            </a:r>
            <a:endParaRPr lang="en-US" sz="3600" dirty="0"/>
          </a:p>
        </p:txBody>
      </p:sp>
      <p:sp>
        <p:nvSpPr>
          <p:cNvPr id="5" name="Text 3"/>
          <p:cNvSpPr txBox="1"/>
          <p:nvPr/>
        </p:nvSpPr>
        <p:spPr>
          <a:xfrm>
            <a:off x="777240" y="2359152"/>
            <a:ext cx="2240280" cy="457200"/>
          </a:xfrm>
          <a:prstGeom prst="rect">
            <a:avLst/>
          </a:prstGeom>
          <a:noFill/>
          <a:ln/>
        </p:spPr>
        <p:txBody>
          <a:bodyPr wrap="square" lIns="0" tIns="0" rIns="0" bIns="0" rtlCol="0" anchor="t"/>
          <a:lstStyle/>
          <a:p>
            <a:pPr indent="0" marL="0">
              <a:buNone/>
            </a:pPr>
            <a:r>
              <a:rPr lang="en-US" sz="1200" dirty="0">
                <a:solidFill>
                  <a:schemeClr val="tx2"/>
                </a:solidFill>
              </a:rPr>
              <a:t>households on the board, 8,070 houses represented</a:t>
            </a:r>
            <a:endParaRPr lang="en-US" sz="1200" dirty="0"/>
          </a:p>
        </p:txBody>
      </p:sp>
      <p:sp>
        <p:nvSpPr>
          <p:cNvPr id="6" name="stat street transformers, 24 feeders, 8 substations with Wiener Netze names"/>
          <p:cNvSpPr/>
          <p:nvPr/>
        </p:nvSpPr>
        <p:spPr>
          <a:xfrm>
            <a:off x="3383280" y="1463040"/>
            <a:ext cx="2697480" cy="1417320"/>
          </a:xfrm>
          <a:prstGeom prst="roundRect">
            <a:avLst>
              <a:gd name="adj" fmla="val 5161"/>
            </a:avLst>
          </a:prstGeom>
          <a:solidFill>
            <a:schemeClr val="bg2"/>
          </a:solidFill>
          <a:ln w="9525">
            <a:solidFill>
              <a:schemeClr val="bg2"/>
            </a:solidFill>
            <a:prstDash val="solid"/>
          </a:ln>
        </p:spPr>
      </p:sp>
      <p:sp>
        <p:nvSpPr>
          <p:cNvPr id="7" name="Text 5"/>
          <p:cNvSpPr txBox="1"/>
          <p:nvPr/>
        </p:nvSpPr>
        <p:spPr>
          <a:xfrm>
            <a:off x="3611880" y="1627632"/>
            <a:ext cx="2240280" cy="731520"/>
          </a:xfrm>
          <a:prstGeom prst="rect">
            <a:avLst/>
          </a:prstGeom>
          <a:noFill/>
          <a:ln/>
        </p:spPr>
        <p:txBody>
          <a:bodyPr wrap="square" lIns="0" tIns="0" rIns="0" bIns="0" rtlCol="0" anchor="t"/>
          <a:lstStyle/>
          <a:p>
            <a:pPr indent="0" marL="0">
              <a:buNone/>
            </a:pPr>
            <a:r>
              <a:rPr lang="en-US" sz="3600" b="1" dirty="0">
                <a:solidFill>
                  <a:schemeClr val="accent2"/>
                </a:solidFill>
                <a:latin typeface="Arial" pitchFamily="34" charset="0"/>
                <a:ea typeface="Arial" pitchFamily="34" charset="-122"/>
                <a:cs typeface="Arial" pitchFamily="34" charset="-120"/>
              </a:rPr>
              <a:t>72</a:t>
            </a:r>
            <a:endParaRPr lang="en-US" sz="3600" dirty="0"/>
          </a:p>
        </p:txBody>
      </p:sp>
      <p:sp>
        <p:nvSpPr>
          <p:cNvPr id="8" name="Text 6"/>
          <p:cNvSpPr txBox="1"/>
          <p:nvPr/>
        </p:nvSpPr>
        <p:spPr>
          <a:xfrm>
            <a:off x="3611880" y="2359152"/>
            <a:ext cx="2240280" cy="457200"/>
          </a:xfrm>
          <a:prstGeom prst="rect">
            <a:avLst/>
          </a:prstGeom>
          <a:noFill/>
          <a:ln/>
        </p:spPr>
        <p:txBody>
          <a:bodyPr wrap="square" lIns="0" tIns="0" rIns="0" bIns="0" rtlCol="0" anchor="t"/>
          <a:lstStyle/>
          <a:p>
            <a:pPr indent="0" marL="0">
              <a:buNone/>
            </a:pPr>
            <a:r>
              <a:rPr lang="en-US" sz="1200" dirty="0">
                <a:solidFill>
                  <a:schemeClr val="tx2"/>
                </a:solidFill>
              </a:rPr>
              <a:t>street transformers, 24 feeders, 8 substations with Wiener Netze names</a:t>
            </a:r>
            <a:endParaRPr lang="en-US" sz="1200" dirty="0"/>
          </a:p>
        </p:txBody>
      </p:sp>
      <p:sp>
        <p:nvSpPr>
          <p:cNvPr id="9" name="stat real devices: a Victron plant and a Viessmann heat pump, 60 km from here"/>
          <p:cNvSpPr/>
          <p:nvPr/>
        </p:nvSpPr>
        <p:spPr>
          <a:xfrm>
            <a:off x="6217920" y="1463040"/>
            <a:ext cx="2697480" cy="1417320"/>
          </a:xfrm>
          <a:prstGeom prst="roundRect">
            <a:avLst>
              <a:gd name="adj" fmla="val 5161"/>
            </a:avLst>
          </a:prstGeom>
          <a:solidFill>
            <a:schemeClr val="bg2"/>
          </a:solidFill>
          <a:ln w="9525">
            <a:solidFill>
              <a:schemeClr val="bg2"/>
            </a:solidFill>
            <a:prstDash val="solid"/>
          </a:ln>
        </p:spPr>
      </p:sp>
      <p:sp>
        <p:nvSpPr>
          <p:cNvPr id="10" name="Text 8"/>
          <p:cNvSpPr txBox="1"/>
          <p:nvPr/>
        </p:nvSpPr>
        <p:spPr>
          <a:xfrm>
            <a:off x="6446520" y="1627632"/>
            <a:ext cx="2240280" cy="731520"/>
          </a:xfrm>
          <a:prstGeom prst="rect">
            <a:avLst/>
          </a:prstGeom>
          <a:noFill/>
          <a:ln/>
        </p:spPr>
        <p:txBody>
          <a:bodyPr wrap="square" lIns="0" tIns="0" rIns="0" bIns="0" rtlCol="0" anchor="t"/>
          <a:lstStyle/>
          <a:p>
            <a:pPr indent="0" marL="0">
              <a:buNone/>
            </a:pPr>
            <a:r>
              <a:rPr lang="en-US" sz="3600" b="1" dirty="0">
                <a:solidFill>
                  <a:schemeClr val="accent3"/>
                </a:solidFill>
                <a:latin typeface="Arial" pitchFamily="34" charset="0"/>
                <a:ea typeface="Arial" pitchFamily="34" charset="-122"/>
                <a:cs typeface="Arial" pitchFamily="34" charset="-120"/>
              </a:rPr>
              <a:t>2</a:t>
            </a:r>
            <a:endParaRPr lang="en-US" sz="3600" dirty="0"/>
          </a:p>
        </p:txBody>
      </p:sp>
      <p:sp>
        <p:nvSpPr>
          <p:cNvPr id="11" name="Text 9"/>
          <p:cNvSpPr txBox="1"/>
          <p:nvPr/>
        </p:nvSpPr>
        <p:spPr>
          <a:xfrm>
            <a:off x="6446520" y="2359152"/>
            <a:ext cx="2240280" cy="457200"/>
          </a:xfrm>
          <a:prstGeom prst="rect">
            <a:avLst/>
          </a:prstGeom>
          <a:noFill/>
          <a:ln/>
        </p:spPr>
        <p:txBody>
          <a:bodyPr wrap="square" lIns="0" tIns="0" rIns="0" bIns="0" rtlCol="0" anchor="t"/>
          <a:lstStyle/>
          <a:p>
            <a:pPr indent="0" marL="0">
              <a:buNone/>
            </a:pPr>
            <a:r>
              <a:rPr lang="en-US" sz="1200" dirty="0">
                <a:solidFill>
                  <a:schemeClr val="tx2"/>
                </a:solidFill>
              </a:rPr>
              <a:t>real devices: a Victron plant and a Viessmann heat pump, 60 km from here</a:t>
            </a:r>
            <a:endParaRPr lang="en-US" sz="1200" dirty="0"/>
          </a:p>
        </p:txBody>
      </p:sp>
      <p:sp>
        <p:nvSpPr>
          <p:cNvPr id="12" name="stat DeepSeek decision latency on the DGX Spark"/>
          <p:cNvSpPr/>
          <p:nvPr/>
        </p:nvSpPr>
        <p:spPr>
          <a:xfrm>
            <a:off x="9052560" y="1463040"/>
            <a:ext cx="2587752" cy="1417320"/>
          </a:xfrm>
          <a:prstGeom prst="roundRect">
            <a:avLst>
              <a:gd name="adj" fmla="val 5161"/>
            </a:avLst>
          </a:prstGeom>
          <a:solidFill>
            <a:schemeClr val="bg2"/>
          </a:solidFill>
          <a:ln w="9525">
            <a:solidFill>
              <a:schemeClr val="bg2"/>
            </a:solidFill>
            <a:prstDash val="solid"/>
          </a:ln>
        </p:spPr>
      </p:sp>
      <p:sp>
        <p:nvSpPr>
          <p:cNvPr id="13" name="Text 11"/>
          <p:cNvSpPr txBox="1"/>
          <p:nvPr/>
        </p:nvSpPr>
        <p:spPr>
          <a:xfrm>
            <a:off x="9281160" y="1627632"/>
            <a:ext cx="2130552" cy="731520"/>
          </a:xfrm>
          <a:prstGeom prst="rect">
            <a:avLst/>
          </a:prstGeom>
          <a:noFill/>
          <a:ln/>
        </p:spPr>
        <p:txBody>
          <a:bodyPr wrap="square" lIns="0" tIns="0" rIns="0" bIns="0" rtlCol="0" anchor="t"/>
          <a:lstStyle/>
          <a:p>
            <a:pPr indent="0" marL="0">
              <a:buNone/>
            </a:pPr>
            <a:r>
              <a:rPr lang="en-US" sz="3600" b="1" dirty="0">
                <a:solidFill>
                  <a:schemeClr val="accent1"/>
                </a:solidFill>
                <a:latin typeface="Arial" pitchFamily="34" charset="0"/>
                <a:ea typeface="Arial" pitchFamily="34" charset="-122"/>
                <a:cs typeface="Arial" pitchFamily="34" charset="-120"/>
              </a:rPr>
              <a:t>~3 s</a:t>
            </a:r>
            <a:endParaRPr lang="en-US" sz="3600" dirty="0"/>
          </a:p>
        </p:txBody>
      </p:sp>
      <p:sp>
        <p:nvSpPr>
          <p:cNvPr id="14" name="Text 12"/>
          <p:cNvSpPr txBox="1"/>
          <p:nvPr/>
        </p:nvSpPr>
        <p:spPr>
          <a:xfrm>
            <a:off x="9281160" y="2359152"/>
            <a:ext cx="2130552" cy="457200"/>
          </a:xfrm>
          <a:prstGeom prst="rect">
            <a:avLst/>
          </a:prstGeom>
          <a:noFill/>
          <a:ln/>
        </p:spPr>
        <p:txBody>
          <a:bodyPr wrap="square" lIns="0" tIns="0" rIns="0" bIns="0" rtlCol="0" anchor="t"/>
          <a:lstStyle/>
          <a:p>
            <a:pPr indent="0" marL="0">
              <a:buNone/>
            </a:pPr>
            <a:r>
              <a:rPr lang="en-US" sz="1200" dirty="0">
                <a:solidFill>
                  <a:schemeClr val="tx2"/>
                </a:solidFill>
              </a:rPr>
              <a:t>DeepSeek decision latency on the DGX Spark</a:t>
            </a:r>
            <a:endParaRPr lang="en-US" sz="1200" dirty="0"/>
          </a:p>
        </p:txBody>
      </p:sp>
      <p:sp>
        <p:nvSpPr>
          <p:cNvPr id="15" name="dot"/>
          <p:cNvSpPr/>
          <p:nvPr/>
        </p:nvSpPr>
        <p:spPr>
          <a:xfrm>
            <a:off x="548640" y="3200400"/>
            <a:ext cx="384048" cy="384048"/>
          </a:xfrm>
          <a:prstGeom prst="ellipse">
            <a:avLst/>
          </a:prstGeom>
          <a:solidFill>
            <a:schemeClr val="accent1"/>
          </a:solidFill>
          <a:ln w="12700">
            <a:solidFill>
              <a:schemeClr val="accent1"/>
            </a:solidFill>
            <a:prstDash val="solid"/>
          </a:ln>
        </p:spPr>
      </p:sp>
      <p:sp>
        <p:nvSpPr>
          <p:cNvPr id="16" name="Text 14"/>
          <p:cNvSpPr txBox="1"/>
          <p:nvPr/>
        </p:nvSpPr>
        <p:spPr>
          <a:xfrm>
            <a:off x="1097280" y="3154680"/>
            <a:ext cx="493776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Real plant</a:t>
            </a:r>
            <a:endParaRPr lang="en-US" sz="1400" dirty="0"/>
          </a:p>
        </p:txBody>
      </p:sp>
      <p:sp>
        <p:nvSpPr>
          <p:cNvPr id="17" name="Text 15"/>
          <p:cNvSpPr txBox="1"/>
          <p:nvPr/>
        </p:nvSpPr>
        <p:spPr>
          <a:xfrm>
            <a:off x="1097280" y="3474720"/>
            <a:ext cx="4937760" cy="640080"/>
          </a:xfrm>
          <a:prstGeom prst="rect">
            <a:avLst/>
          </a:prstGeom>
          <a:noFill/>
          <a:ln/>
        </p:spPr>
        <p:txBody>
          <a:bodyPr wrap="square" lIns="0" tIns="0" rIns="0" bIns="0" rtlCol="0" anchor="t"/>
          <a:lstStyle/>
          <a:p>
            <a:pPr indent="0" marL="0">
              <a:buNone/>
            </a:pPr>
            <a:r>
              <a:rPr lang="en-US" sz="1150" dirty="0">
                <a:solidFill>
                  <a:schemeClr val="tx2"/>
                </a:solidFill>
              </a:rPr>
              <a:t>Cerbo GX on Venus OS Large, a 53-node Node-RED agent we deploy over the admin API; EV Charging Station throttled first; ESS limits written and restored</a:t>
            </a:r>
            <a:endParaRPr lang="en-US" sz="1150" dirty="0"/>
          </a:p>
        </p:txBody>
      </p:sp>
      <p:sp>
        <p:nvSpPr>
          <p:cNvPr id="18" name="dot"/>
          <p:cNvSpPr/>
          <p:nvPr/>
        </p:nvSpPr>
        <p:spPr>
          <a:xfrm>
            <a:off x="6217920" y="3200400"/>
            <a:ext cx="384048" cy="384048"/>
          </a:xfrm>
          <a:prstGeom prst="ellipse">
            <a:avLst/>
          </a:prstGeom>
          <a:solidFill>
            <a:schemeClr val="accent1"/>
          </a:solidFill>
          <a:ln w="12700">
            <a:solidFill>
              <a:schemeClr val="accent1"/>
            </a:solidFill>
            <a:prstDash val="solid"/>
          </a:ln>
        </p:spPr>
      </p:sp>
      <p:sp>
        <p:nvSpPr>
          <p:cNvPr id="19" name="Text 17"/>
          <p:cNvSpPr txBox="1"/>
          <p:nvPr/>
        </p:nvSpPr>
        <p:spPr>
          <a:xfrm>
            <a:off x="6766560" y="3154680"/>
            <a:ext cx="493776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Heat pump</a:t>
            </a:r>
            <a:endParaRPr lang="en-US" sz="1400" dirty="0"/>
          </a:p>
        </p:txBody>
      </p:sp>
      <p:sp>
        <p:nvSpPr>
          <p:cNvPr id="20" name="Text 18"/>
          <p:cNvSpPr txBox="1"/>
          <p:nvPr/>
        </p:nvSpPr>
        <p:spPr>
          <a:xfrm>
            <a:off x="6766560" y="3474720"/>
            <a:ext cx="4937760" cy="640080"/>
          </a:xfrm>
          <a:prstGeom prst="rect">
            <a:avLst/>
          </a:prstGeom>
          <a:noFill/>
          <a:ln/>
        </p:spPr>
        <p:txBody>
          <a:bodyPr wrap="square" lIns="0" tIns="0" rIns="0" bIns="0" rtlCol="0" anchor="t"/>
          <a:lstStyle/>
          <a:p>
            <a:pPr indent="0" marL="0">
              <a:buNone/>
            </a:pPr>
            <a:r>
              <a:rPr lang="en-US" sz="1150" dirty="0">
                <a:solidFill>
                  <a:schemeClr val="tx2"/>
                </a:solidFill>
              </a:rPr>
              <a:t>Vitocal CU401B through the ViCare REST API with a refresh token; hot-water setpoint and one-time charge, verified on the unit</a:t>
            </a:r>
            <a:endParaRPr lang="en-US" sz="1150" dirty="0"/>
          </a:p>
        </p:txBody>
      </p:sp>
      <p:sp>
        <p:nvSpPr>
          <p:cNvPr id="21" name="dot"/>
          <p:cNvSpPr/>
          <p:nvPr/>
        </p:nvSpPr>
        <p:spPr>
          <a:xfrm>
            <a:off x="548640" y="4187952"/>
            <a:ext cx="384048" cy="384048"/>
          </a:xfrm>
          <a:prstGeom prst="ellipse">
            <a:avLst/>
          </a:prstGeom>
          <a:solidFill>
            <a:schemeClr val="accent1"/>
          </a:solidFill>
          <a:ln w="12700">
            <a:solidFill>
              <a:schemeClr val="accent1"/>
            </a:solidFill>
            <a:prstDash val="solid"/>
          </a:ln>
        </p:spPr>
      </p:sp>
      <p:sp>
        <p:nvSpPr>
          <p:cNvPr id="22" name="Text 20"/>
          <p:cNvSpPr txBox="1"/>
          <p:nvPr/>
        </p:nvSpPr>
        <p:spPr>
          <a:xfrm>
            <a:off x="1097280" y="4142232"/>
            <a:ext cx="493776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Transport</a:t>
            </a:r>
            <a:endParaRPr lang="en-US" sz="1400" dirty="0"/>
          </a:p>
        </p:txBody>
      </p:sp>
      <p:sp>
        <p:nvSpPr>
          <p:cNvPr id="23" name="Text 21"/>
          <p:cNvSpPr txBox="1"/>
          <p:nvPr/>
        </p:nvSpPr>
        <p:spPr>
          <a:xfrm>
            <a:off x="1097280" y="4462272"/>
            <a:ext cx="4937760" cy="640080"/>
          </a:xfrm>
          <a:prstGeom prst="rect">
            <a:avLst/>
          </a:prstGeom>
          <a:noFill/>
          <a:ln/>
        </p:spPr>
        <p:txBody>
          <a:bodyPr wrap="square" lIns="0" tIns="0" rIns="0" bIns="0" rtlCol="0" anchor="t"/>
          <a:lstStyle/>
          <a:p>
            <a:pPr indent="0" marL="0">
              <a:buNone/>
            </a:pPr>
            <a:r>
              <a:rPr lang="en-US" sz="1150" dirty="0">
                <a:solidFill>
                  <a:schemeClr val="tx2"/>
                </a:solidFill>
              </a:rPr>
              <a:t>Mosquitto on our own server, Let's Encrypt, TLS only, credentials and topic access lists; devices open outbound connections only</a:t>
            </a:r>
            <a:endParaRPr lang="en-US" sz="1150" dirty="0"/>
          </a:p>
        </p:txBody>
      </p:sp>
      <p:sp>
        <p:nvSpPr>
          <p:cNvPr id="24" name="dot"/>
          <p:cNvSpPr/>
          <p:nvPr/>
        </p:nvSpPr>
        <p:spPr>
          <a:xfrm>
            <a:off x="6217920" y="4187952"/>
            <a:ext cx="384048" cy="384048"/>
          </a:xfrm>
          <a:prstGeom prst="ellipse">
            <a:avLst/>
          </a:prstGeom>
          <a:solidFill>
            <a:schemeClr val="accent1"/>
          </a:solidFill>
          <a:ln w="12700">
            <a:solidFill>
              <a:schemeClr val="accent1"/>
            </a:solidFill>
            <a:prstDash val="solid"/>
          </a:ln>
        </p:spPr>
      </p:sp>
      <p:sp>
        <p:nvSpPr>
          <p:cNvPr id="25" name="Text 23"/>
          <p:cNvSpPr txBox="1"/>
          <p:nvPr/>
        </p:nvSpPr>
        <p:spPr>
          <a:xfrm>
            <a:off x="6766560" y="4142232"/>
            <a:ext cx="493776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Platform</a:t>
            </a:r>
            <a:endParaRPr lang="en-US" sz="1400" dirty="0"/>
          </a:p>
        </p:txBody>
      </p:sp>
      <p:sp>
        <p:nvSpPr>
          <p:cNvPr id="26" name="Text 24"/>
          <p:cNvSpPr txBox="1"/>
          <p:nvPr/>
        </p:nvSpPr>
        <p:spPr>
          <a:xfrm>
            <a:off x="6766560" y="4462272"/>
            <a:ext cx="4937760" cy="640080"/>
          </a:xfrm>
          <a:prstGeom prst="rect">
            <a:avLst/>
          </a:prstGeom>
          <a:noFill/>
          <a:ln/>
        </p:spPr>
        <p:txBody>
          <a:bodyPr wrap="square" lIns="0" tIns="0" rIns="0" bIns="0" rtlCol="0" anchor="t"/>
          <a:lstStyle/>
          <a:p>
            <a:pPr indent="0" marL="0">
              <a:buNone/>
            </a:pPr>
            <a:r>
              <a:rPr lang="en-US" sz="1150" dirty="0">
                <a:solidFill>
                  <a:schemeClr val="tx2"/>
                </a:solidFill>
              </a:rPr>
              <a:t>FastAPI on a Ubuntu box behind Apache and Let's Encrypt; registry tree, guard, signing, history, autopilot; public board at gridzilla.victronlab.sk</a:t>
            </a:r>
            <a:endParaRPr lang="en-US" sz="1150" dirty="0"/>
          </a:p>
        </p:txBody>
      </p:sp>
      <p:sp>
        <p:nvSpPr>
          <p:cNvPr id="27" name="dot"/>
          <p:cNvSpPr/>
          <p:nvPr/>
        </p:nvSpPr>
        <p:spPr>
          <a:xfrm>
            <a:off x="548640" y="5175504"/>
            <a:ext cx="384048" cy="384048"/>
          </a:xfrm>
          <a:prstGeom prst="ellipse">
            <a:avLst/>
          </a:prstGeom>
          <a:solidFill>
            <a:schemeClr val="accent1"/>
          </a:solidFill>
          <a:ln w="12700">
            <a:solidFill>
              <a:schemeClr val="accent1"/>
            </a:solidFill>
            <a:prstDash val="solid"/>
          </a:ln>
        </p:spPr>
      </p:sp>
      <p:sp>
        <p:nvSpPr>
          <p:cNvPr id="28" name="Text 26"/>
          <p:cNvSpPr txBox="1"/>
          <p:nvPr/>
        </p:nvSpPr>
        <p:spPr>
          <a:xfrm>
            <a:off x="1097280" y="5129784"/>
            <a:ext cx="493776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Simulation</a:t>
            </a:r>
            <a:endParaRPr lang="en-US" sz="1400" dirty="0"/>
          </a:p>
        </p:txBody>
      </p:sp>
      <p:sp>
        <p:nvSpPr>
          <p:cNvPr id="29" name="Text 27"/>
          <p:cNvSpPr txBox="1"/>
          <p:nvPr/>
        </p:nvSpPr>
        <p:spPr>
          <a:xfrm>
            <a:off x="1097280" y="5449824"/>
            <a:ext cx="4937760" cy="640080"/>
          </a:xfrm>
          <a:prstGeom prst="rect">
            <a:avLst/>
          </a:prstGeom>
          <a:noFill/>
          <a:ln/>
        </p:spPr>
        <p:txBody>
          <a:bodyPr wrap="square" lIns="0" tIns="0" rIns="0" bIns="0" rtlCol="0" anchor="t"/>
          <a:lstStyle/>
          <a:p>
            <a:pPr indent="0" marL="0">
              <a:buNone/>
            </a:pPr>
            <a:r>
              <a:rPr lang="en-US" sz="1150" dirty="0">
                <a:solidFill>
                  <a:schemeClr val="tx2"/>
                </a:solidFill>
              </a:rPr>
              <a:t>262 households with battery, PV, EV commutes, heat pumps and boilers with real tank physics; each agent speaks the same protocol as the Cerbo</a:t>
            </a:r>
            <a:endParaRPr lang="en-US" sz="1150" dirty="0"/>
          </a:p>
        </p:txBody>
      </p:sp>
      <p:sp>
        <p:nvSpPr>
          <p:cNvPr id="30" name="dot"/>
          <p:cNvSpPr/>
          <p:nvPr/>
        </p:nvSpPr>
        <p:spPr>
          <a:xfrm>
            <a:off x="6217920" y="5175504"/>
            <a:ext cx="384048" cy="384048"/>
          </a:xfrm>
          <a:prstGeom prst="ellipse">
            <a:avLst/>
          </a:prstGeom>
          <a:solidFill>
            <a:schemeClr val="accent1"/>
          </a:solidFill>
          <a:ln w="12700">
            <a:solidFill>
              <a:schemeClr val="accent1"/>
            </a:solidFill>
            <a:prstDash val="solid"/>
          </a:ln>
        </p:spPr>
      </p:sp>
      <p:sp>
        <p:nvSpPr>
          <p:cNvPr id="31" name="Text 29"/>
          <p:cNvSpPr txBox="1"/>
          <p:nvPr/>
        </p:nvSpPr>
        <p:spPr>
          <a:xfrm>
            <a:off x="6766560" y="5129784"/>
            <a:ext cx="493776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Protocol</a:t>
            </a:r>
            <a:endParaRPr lang="en-US" sz="1400" dirty="0"/>
          </a:p>
        </p:txBody>
      </p:sp>
      <p:sp>
        <p:nvSpPr>
          <p:cNvPr id="32" name="Text 30"/>
          <p:cNvSpPr txBox="1"/>
          <p:nvPr/>
        </p:nvSpPr>
        <p:spPr>
          <a:xfrm>
            <a:off x="6766560" y="5449824"/>
            <a:ext cx="4937760" cy="640080"/>
          </a:xfrm>
          <a:prstGeom prst="rect">
            <a:avLst/>
          </a:prstGeom>
          <a:noFill/>
          <a:ln/>
        </p:spPr>
        <p:txBody>
          <a:bodyPr wrap="square" lIns="0" tIns="0" rIns="0" bIns="0" rtlCol="0" anchor="t"/>
          <a:lstStyle/>
          <a:p>
            <a:pPr indent="0" marL="0">
              <a:buNone/>
            </a:pPr>
            <a:r>
              <a:rPr lang="en-US" sz="1150" dirty="0">
                <a:solidFill>
                  <a:schemeClr val="tx2"/>
                </a:solidFill>
              </a:rPr>
              <a:t>Frozen as PROTOCOL.md with JSON Schemas for envelope, signal and ack; any vendor can implement the eight functions from it</a:t>
            </a:r>
            <a:endParaRPr lang="en-US" sz="115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Any vendor, four lines each. Any household, paid on the meter</a:t>
            </a:r>
            <a:endParaRPr lang="en-US" sz="3200" dirty="0"/>
          </a:p>
        </p:txBody>
      </p:sp>
      <p:sp>
        <p:nvSpPr>
          <p:cNvPr id="3" name="vendors"/>
          <p:cNvSpPr/>
          <p:nvPr/>
        </p:nvSpPr>
        <p:spPr>
          <a:xfrm>
            <a:off x="548640" y="1463040"/>
            <a:ext cx="5486400" cy="4663440"/>
          </a:xfrm>
          <a:prstGeom prst="roundRect">
            <a:avLst>
              <a:gd name="adj" fmla="val 1569"/>
            </a:avLst>
          </a:prstGeom>
          <a:solidFill>
            <a:schemeClr val="bg2"/>
          </a:solidFill>
          <a:ln w="9525">
            <a:solidFill>
              <a:schemeClr val="bg2"/>
            </a:solidFill>
            <a:prstDash val="solid"/>
          </a:ln>
        </p:spPr>
      </p:sp>
      <p:sp>
        <p:nvSpPr>
          <p:cNvPr id="4" name="Text 2"/>
          <p:cNvSpPr txBox="1"/>
          <p:nvPr/>
        </p:nvSpPr>
        <p:spPr>
          <a:xfrm>
            <a:off x="777240" y="1600200"/>
            <a:ext cx="5029200" cy="365760"/>
          </a:xfrm>
          <a:prstGeom prst="rect">
            <a:avLst/>
          </a:prstGeom>
          <a:noFill/>
          <a:ln/>
        </p:spPr>
        <p:txBody>
          <a:bodyPr wrap="square" lIns="0" tIns="0" rIns="0" bIns="0" rtlCol="0" anchor="t"/>
          <a:lstStyle/>
          <a:p>
            <a:pPr indent="0" marL="0">
              <a:buNone/>
            </a:pPr>
            <a:r>
              <a:rPr lang="en-US" sz="1500" b="1" dirty="0">
                <a:solidFill>
                  <a:schemeClr val="accent1"/>
                </a:solidFill>
              </a:rPr>
              <a:t>Three paths to the same agent</a:t>
            </a:r>
            <a:endParaRPr lang="en-US" sz="1500" dirty="0"/>
          </a:p>
        </p:txBody>
      </p:sp>
      <p:sp>
        <p:nvSpPr>
          <p:cNvPr id="5" name="Text 3"/>
          <p:cNvSpPr txBox="1"/>
          <p:nvPr/>
        </p:nvSpPr>
        <p:spPr>
          <a:xfrm>
            <a:off x="777240" y="2057400"/>
            <a:ext cx="5029200" cy="39319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Vendor cloud: GoodWe SEMS, Huawei FusionSolar, SolarEdge, Tesla Fleet, SMA, Fronius. Export limit, discharge to cover load, forced discharge schedule, grid charge schedule</a:t>
            </a:r>
            <a:endParaRPr lang="en-US" sz="1300" dirty="0"/>
          </a:p>
          <a:p>
            <a:pPr marL="342900" indent="-342900">
              <a:spcAft>
                <a:spcPts val="600"/>
              </a:spcAft>
              <a:buSzPct val="100000"/>
              <a:buChar char="•"/>
            </a:pPr>
            <a:r>
              <a:rPr lang="en-US" sz="1300" dirty="0">
                <a:solidFill>
                  <a:schemeClr val="tx1"/>
                </a:solidFill>
              </a:rPr>
              <a:t>Local controller: Home Assistant, EVCC, OpenEMS, SunSpec Modbus. What the demo runs on Node-RED today</a:t>
            </a:r>
            <a:endParaRPr lang="en-US" sz="1300" dirty="0"/>
          </a:p>
          <a:p>
            <a:pPr marL="342900" indent="-342900">
              <a:spcAft>
                <a:spcPts val="600"/>
              </a:spcAft>
              <a:buSzPct val="100000"/>
              <a:buChar char="•"/>
            </a:pPr>
            <a:r>
              <a:rPr lang="en-US" sz="1300" dirty="0">
                <a:solidFill>
                  <a:schemeClr val="tx1"/>
                </a:solidFill>
              </a:rPr>
              <a:t>Standards gateway: EEBus LPC and LPP are literally our import and export caps; OpenADR 3, IEC 61850, OCPP 2.0.1 for chargers</a:t>
            </a:r>
            <a:endParaRPr lang="en-US" sz="1300" dirty="0"/>
          </a:p>
          <a:p>
            <a:pPr marL="342900" indent="-342900">
              <a:spcAft>
                <a:spcPts val="600"/>
              </a:spcAft>
              <a:buSzPct val="100000"/>
              <a:buChar char="•"/>
            </a:pPr>
            <a:r>
              <a:rPr lang="en-US" sz="1300" dirty="0">
                <a:solidFill>
                  <a:schemeClr val="tx1"/>
                </a:solidFill>
              </a:rPr>
              <a:t>GoodWe is one apply function away: the registers and the hardware are on the team</a:t>
            </a:r>
            <a:endParaRPr lang="en-US" sz="1300" dirty="0"/>
          </a:p>
        </p:txBody>
      </p:sp>
      <p:sp>
        <p:nvSpPr>
          <p:cNvPr id="6" name="incentives"/>
          <p:cNvSpPr/>
          <p:nvPr/>
        </p:nvSpPr>
        <p:spPr>
          <a:xfrm>
            <a:off x="6217920" y="1463040"/>
            <a:ext cx="5422392" cy="4663440"/>
          </a:xfrm>
          <a:prstGeom prst="roundRect">
            <a:avLst>
              <a:gd name="adj" fmla="val 1569"/>
            </a:avLst>
          </a:prstGeom>
          <a:solidFill>
            <a:schemeClr val="bg2"/>
          </a:solidFill>
          <a:ln w="9525">
            <a:solidFill>
              <a:schemeClr val="bg2"/>
            </a:solidFill>
            <a:prstDash val="solid"/>
          </a:ln>
        </p:spPr>
      </p:sp>
      <p:sp>
        <p:nvSpPr>
          <p:cNvPr id="7" name="Text 5"/>
          <p:cNvSpPr txBox="1"/>
          <p:nvPr/>
        </p:nvSpPr>
        <p:spPr>
          <a:xfrm>
            <a:off x="6446520" y="1600200"/>
            <a:ext cx="5029200" cy="365760"/>
          </a:xfrm>
          <a:prstGeom prst="rect">
            <a:avLst/>
          </a:prstGeom>
          <a:noFill/>
          <a:ln/>
        </p:spPr>
        <p:txBody>
          <a:bodyPr wrap="square" lIns="0" tIns="0" rIns="0" bIns="0" rtlCol="0" anchor="t"/>
          <a:lstStyle/>
          <a:p>
            <a:pPr indent="0" marL="0">
              <a:buNone/>
            </a:pPr>
            <a:r>
              <a:rPr lang="en-US" sz="1500" b="1" dirty="0">
                <a:solidFill>
                  <a:schemeClr val="accent3"/>
                </a:solidFill>
              </a:rPr>
              <a:t>Why a DSO pays and a household joins</a:t>
            </a:r>
            <a:endParaRPr lang="en-US" sz="1500" dirty="0"/>
          </a:p>
        </p:txBody>
      </p:sp>
      <p:sp>
        <p:nvSpPr>
          <p:cNvPr id="8" name="Text 6"/>
          <p:cNvSpPr txBox="1"/>
          <p:nvPr/>
        </p:nvSpPr>
        <p:spPr>
          <a:xfrm>
            <a:off x="6446520" y="2057400"/>
            <a:ext cx="4983480" cy="39319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Limits are verifiable, reductions are not: the DSO's own smart meter answers yes or no per 15-minute interval. No baseline to inflate</a:t>
            </a:r>
            <a:endParaRPr lang="en-US" sz="1300" dirty="0"/>
          </a:p>
          <a:p>
            <a:pPr marL="342900" indent="-342900">
              <a:spcAft>
                <a:spcPts val="600"/>
              </a:spcAft>
              <a:buSzPct val="100000"/>
              <a:buChar char="•"/>
            </a:pPr>
            <a:r>
              <a:rPr lang="en-US" sz="1300" dirty="0">
                <a:solidFill>
                  <a:schemeClr val="tx1"/>
                </a:solidFill>
              </a:rPr>
              <a:t>No ack, no pay; compliance gates the perks; the DSO's existing disconnect is the backstop in a crisis</a:t>
            </a:r>
            <a:endParaRPr lang="en-US" sz="1300" dirty="0"/>
          </a:p>
          <a:p>
            <a:pPr marL="342900" indent="-342900">
              <a:spcAft>
                <a:spcPts val="600"/>
              </a:spcAft>
              <a:buSzPct val="100000"/>
              <a:buChar char="•"/>
            </a:pPr>
            <a:r>
              <a:rPr lang="en-US" sz="1300" dirty="0">
                <a:solidFill>
                  <a:schemeClr val="tx1"/>
                </a:solidFill>
              </a:rPr>
              <a:t>The hook: a dynamic export limit beats today's static cap on all but a few afternoons, and gets a refused connection approved</a:t>
            </a:r>
            <a:endParaRPr lang="en-US" sz="1300" dirty="0"/>
          </a:p>
          <a:p>
            <a:pPr marL="342900" indent="-342900">
              <a:spcAft>
                <a:spcPts val="600"/>
              </a:spcAft>
              <a:buSzPct val="100000"/>
              <a:buChar char="•"/>
            </a:pPr>
            <a:r>
              <a:rPr lang="en-US" sz="1300" dirty="0">
                <a:solidFill>
                  <a:schemeClr val="tx1"/>
                </a:solidFill>
              </a:rPr>
              <a:t>Plus an availability fee, per-kWh payment for forced feed-in, a full battery before an outage, and a shorter shedding queue</a:t>
            </a:r>
            <a:endParaRPr lang="en-US" sz="1300" dirty="0"/>
          </a:p>
          <a:p>
            <a:pPr marL="342900" indent="-342900">
              <a:spcAft>
                <a:spcPts val="600"/>
              </a:spcAft>
              <a:buSzPct val="100000"/>
              <a:buChar char="•"/>
            </a:pPr>
            <a:r>
              <a:rPr lang="en-US" sz="1300" dirty="0">
                <a:solidFill>
                  <a:schemeClr val="tx1"/>
                </a:solidFill>
              </a:rPr>
              <a:t>Noon export is worthless when everyone exports; the same kilowatt-hours leave at six, paid</a:t>
            </a:r>
            <a:endParaRPr lang="en-US" sz="13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Production at a DSO: the effort, the cost, the saving</a:t>
            </a:r>
            <a:endParaRPr lang="en-US" sz="3200" dirty="0"/>
          </a:p>
        </p:txBody>
      </p:sp>
      <p:sp>
        <p:nvSpPr>
          <p:cNvPr id="3" name="effort"/>
          <p:cNvSpPr/>
          <p:nvPr/>
        </p:nvSpPr>
        <p:spPr>
          <a:xfrm>
            <a:off x="548640" y="1371600"/>
            <a:ext cx="3611880" cy="4480560"/>
          </a:xfrm>
          <a:prstGeom prst="roundRect">
            <a:avLst>
              <a:gd name="adj" fmla="val 2025"/>
            </a:avLst>
          </a:prstGeom>
          <a:solidFill>
            <a:schemeClr val="bg2"/>
          </a:solidFill>
          <a:ln w="9525">
            <a:solidFill>
              <a:schemeClr val="bg2"/>
            </a:solidFill>
            <a:prstDash val="solid"/>
          </a:ln>
        </p:spPr>
      </p:sp>
      <p:sp>
        <p:nvSpPr>
          <p:cNvPr id="4" name="dot"/>
          <p:cNvSpPr/>
          <p:nvPr/>
        </p:nvSpPr>
        <p:spPr>
          <a:xfrm>
            <a:off x="731520" y="1508760"/>
            <a:ext cx="384048" cy="384048"/>
          </a:xfrm>
          <a:prstGeom prst="ellipse">
            <a:avLst/>
          </a:prstGeom>
          <a:solidFill>
            <a:schemeClr val="accent2"/>
          </a:solidFill>
          <a:ln w="12700">
            <a:solidFill>
              <a:schemeClr val="accent2"/>
            </a:solidFill>
            <a:prstDash val="solid"/>
          </a:ln>
        </p:spPr>
      </p:sp>
      <p:sp>
        <p:nvSpPr>
          <p:cNvPr id="5" name="Text 3"/>
          <p:cNvSpPr txBox="1"/>
          <p:nvPr/>
        </p:nvSpPr>
        <p:spPr>
          <a:xfrm>
            <a:off x="1234440" y="1463040"/>
            <a:ext cx="2743200" cy="411480"/>
          </a:xfrm>
          <a:prstGeom prst="rect">
            <a:avLst/>
          </a:prstGeom>
          <a:noFill/>
          <a:ln/>
        </p:spPr>
        <p:txBody>
          <a:bodyPr wrap="square" lIns="0" tIns="0" rIns="0" bIns="0" rtlCol="0" anchor="ctr"/>
          <a:lstStyle/>
          <a:p>
            <a:pPr indent="0" marL="0">
              <a:buNone/>
            </a:pPr>
            <a:r>
              <a:rPr lang="en-US" sz="1600" b="1" dirty="0">
                <a:solidFill>
                  <a:schemeClr val="accent2"/>
                </a:solidFill>
                <a:latin typeface="Arial" pitchFamily="34" charset="0"/>
                <a:ea typeface="Arial" pitchFamily="34" charset="-122"/>
                <a:cs typeface="Arial" pitchFamily="34" charset="-120"/>
              </a:rPr>
              <a:t>EFFORT</a:t>
            </a:r>
            <a:endParaRPr lang="en-US" sz="1600" dirty="0"/>
          </a:p>
        </p:txBody>
      </p:sp>
      <p:sp>
        <p:nvSpPr>
          <p:cNvPr id="6" name="Text 4"/>
          <p:cNvSpPr txBox="1"/>
          <p:nvPr/>
        </p:nvSpPr>
        <p:spPr>
          <a:xfrm>
            <a:off x="777240" y="1965960"/>
            <a:ext cx="3200400" cy="3749040"/>
          </a:xfrm>
          <a:prstGeom prst="rect">
            <a:avLst/>
          </a:prstGeom>
          <a:noFill/>
          <a:ln/>
        </p:spPr>
        <p:txBody>
          <a:bodyPr wrap="square" lIns="0" tIns="0" rIns="0" bIns="0" rtlCol="0" anchor="t"/>
          <a:lstStyle/>
          <a:p>
            <a:pPr marL="342900" indent="-342900">
              <a:spcAft>
                <a:spcPts val="600"/>
              </a:spcAft>
              <a:buSzPct val="100000"/>
              <a:buChar char="•"/>
            </a:pPr>
            <a:r>
              <a:rPr lang="en-US" sz="1450" dirty="0">
                <a:solidFill>
                  <a:schemeClr val="tx1"/>
                </a:solidFill>
              </a:rPr>
              <a:t>Protocol and agents are the small part; they exist</a:t>
            </a:r>
            <a:endParaRPr lang="en-US" sz="1450" dirty="0"/>
          </a:p>
          <a:p>
            <a:pPr marL="342900" indent="-342900">
              <a:spcAft>
                <a:spcPts val="600"/>
              </a:spcAft>
              <a:buSzPct val="100000"/>
              <a:buChar char="•"/>
            </a:pPr>
            <a:r>
              <a:rPr lang="en-US" sz="1450" dirty="0">
                <a:solidFill>
                  <a:schemeClr val="tx1"/>
                </a:solidFill>
              </a:rPr>
              <a:t>The DSO must add: enrolment bound to the meter point and operator login, a PKI with key rotation, settlement on meter data, the real network model feeding the tree and ratings, 24/7 operations, NIS2 and energy-law compliance</a:t>
            </a:r>
            <a:endParaRPr lang="en-US" sz="1450" dirty="0"/>
          </a:p>
          <a:p>
            <a:pPr marL="342900" indent="-342900">
              <a:spcAft>
                <a:spcPts val="600"/>
              </a:spcAft>
              <a:buSzPct val="100000"/>
              <a:buChar char="•"/>
            </a:pPr>
            <a:r>
              <a:rPr lang="en-US" sz="1450" dirty="0">
                <a:solidFill>
                  <a:schemeClr val="tx1"/>
                </a:solidFill>
              </a:rPr>
              <a:t>10-house pilot on one transformer: 3 months</a:t>
            </a:r>
            <a:endParaRPr lang="en-US" sz="1450" dirty="0"/>
          </a:p>
          <a:p>
            <a:pPr marL="342900" indent="-342900">
              <a:spcAft>
                <a:spcPts val="600"/>
              </a:spcAft>
              <a:buSzPct val="100000"/>
              <a:buChar char="•"/>
            </a:pPr>
            <a:r>
              <a:rPr lang="en-US" sz="1450" dirty="0">
                <a:solidFill>
                  <a:schemeClr val="tx1"/>
                </a:solidFill>
              </a:rPr>
              <a:t>A district of a few thousand homes: 12-18 months, 6-8 people, roughly 1.5-3 M€ including the security audit</a:t>
            </a:r>
            <a:endParaRPr lang="en-US" sz="1450" dirty="0"/>
          </a:p>
        </p:txBody>
      </p:sp>
      <p:sp>
        <p:nvSpPr>
          <p:cNvPr id="7" name="cost"/>
          <p:cNvSpPr/>
          <p:nvPr/>
        </p:nvSpPr>
        <p:spPr>
          <a:xfrm>
            <a:off x="4297680" y="1371600"/>
            <a:ext cx="3611880" cy="4480560"/>
          </a:xfrm>
          <a:prstGeom prst="roundRect">
            <a:avLst>
              <a:gd name="adj" fmla="val 2025"/>
            </a:avLst>
          </a:prstGeom>
          <a:solidFill>
            <a:schemeClr val="bg2"/>
          </a:solidFill>
          <a:ln w="9525">
            <a:solidFill>
              <a:schemeClr val="bg2"/>
            </a:solidFill>
            <a:prstDash val="solid"/>
          </a:ln>
        </p:spPr>
      </p:sp>
      <p:sp>
        <p:nvSpPr>
          <p:cNvPr id="8" name="dot"/>
          <p:cNvSpPr/>
          <p:nvPr/>
        </p:nvSpPr>
        <p:spPr>
          <a:xfrm>
            <a:off x="4480560" y="1508760"/>
            <a:ext cx="384048" cy="384048"/>
          </a:xfrm>
          <a:prstGeom prst="ellipse">
            <a:avLst/>
          </a:prstGeom>
          <a:solidFill>
            <a:schemeClr val="accent1"/>
          </a:solidFill>
          <a:ln w="12700">
            <a:solidFill>
              <a:schemeClr val="accent1"/>
            </a:solidFill>
            <a:prstDash val="solid"/>
          </a:ln>
        </p:spPr>
      </p:sp>
      <p:sp>
        <p:nvSpPr>
          <p:cNvPr id="9" name="Text 7"/>
          <p:cNvSpPr txBox="1"/>
          <p:nvPr/>
        </p:nvSpPr>
        <p:spPr>
          <a:xfrm>
            <a:off x="4983480" y="1463040"/>
            <a:ext cx="2743200" cy="411480"/>
          </a:xfrm>
          <a:prstGeom prst="rect">
            <a:avLst/>
          </a:prstGeom>
          <a:noFill/>
          <a:ln/>
        </p:spPr>
        <p:txBody>
          <a:bodyPr wrap="square" lIns="0" tIns="0" rIns="0" bIns="0" rtlCol="0" anchor="ctr"/>
          <a:lstStyle/>
          <a:p>
            <a:pPr indent="0" marL="0">
              <a:buNone/>
            </a:pPr>
            <a:r>
              <a:rPr lang="en-US" sz="1600" b="1" dirty="0">
                <a:solidFill>
                  <a:schemeClr val="accent1"/>
                </a:solidFill>
                <a:latin typeface="Arial" pitchFamily="34" charset="0"/>
                <a:ea typeface="Arial" pitchFamily="34" charset="-122"/>
                <a:cs typeface="Arial" pitchFamily="34" charset="-120"/>
              </a:rPr>
              <a:t>COST TO RUN</a:t>
            </a:r>
            <a:endParaRPr lang="en-US" sz="1600" dirty="0"/>
          </a:p>
        </p:txBody>
      </p:sp>
      <p:sp>
        <p:nvSpPr>
          <p:cNvPr id="10" name="Text 8"/>
          <p:cNvSpPr txBox="1"/>
          <p:nvPr/>
        </p:nvSpPr>
        <p:spPr>
          <a:xfrm>
            <a:off x="4526280" y="1965960"/>
            <a:ext cx="3200400" cy="3749040"/>
          </a:xfrm>
          <a:prstGeom prst="rect">
            <a:avLst/>
          </a:prstGeom>
          <a:noFill/>
          <a:ln/>
        </p:spPr>
        <p:txBody>
          <a:bodyPr wrap="square" lIns="0" tIns="0" rIns="0" bIns="0" rtlCol="0" anchor="t"/>
          <a:lstStyle/>
          <a:p>
            <a:pPr marL="342900" indent="-342900">
              <a:spcAft>
                <a:spcPts val="600"/>
              </a:spcAft>
              <a:buSzPct val="100000"/>
              <a:buChar char="•"/>
            </a:pPr>
            <a:r>
              <a:rPr lang="en-US" sz="1450" dirty="0">
                <a:solidFill>
                  <a:schemeClr val="tx1"/>
                </a:solidFill>
              </a:rPr>
              <a:t>The platform is cheap: two servers and a broker</a:t>
            </a:r>
            <a:endParaRPr lang="en-US" sz="1450" dirty="0"/>
          </a:p>
          <a:p>
            <a:pPr marL="342900" indent="-342900">
              <a:spcAft>
                <a:spcPts val="600"/>
              </a:spcAft>
              <a:buSzPct val="100000"/>
              <a:buChar char="•"/>
            </a:pPr>
            <a:r>
              <a:rPr lang="en-US" sz="1450" dirty="0">
                <a:solidFill>
                  <a:schemeClr val="tx1"/>
                </a:solidFill>
              </a:rPr>
              <a:t>The real cost is the incentive: a flat 100-200 € per enrolled house per year, plus energy at crisis prices during STRETCH and SUPPORT</a:t>
            </a:r>
            <a:endParaRPr lang="en-US" sz="1450" dirty="0"/>
          </a:p>
          <a:p>
            <a:pPr marL="342900" indent="-342900">
              <a:spcAft>
                <a:spcPts val="600"/>
              </a:spcAft>
              <a:buSzPct val="100000"/>
              <a:buChar char="•"/>
            </a:pPr>
            <a:r>
              <a:rPr lang="en-US" sz="1450" dirty="0">
                <a:solidFill>
                  <a:schemeClr val="tx1"/>
                </a:solidFill>
              </a:rPr>
              <a:t>Paid only to houses whose meter proves they followed the signal. No enforcement, no payment, no saving</a:t>
            </a:r>
            <a:endParaRPr lang="en-US" sz="1450" dirty="0"/>
          </a:p>
        </p:txBody>
      </p:sp>
      <p:sp>
        <p:nvSpPr>
          <p:cNvPr id="11" name="saving"/>
          <p:cNvSpPr/>
          <p:nvPr/>
        </p:nvSpPr>
        <p:spPr>
          <a:xfrm>
            <a:off x="8046720" y="1371600"/>
            <a:ext cx="3611880" cy="4480560"/>
          </a:xfrm>
          <a:prstGeom prst="roundRect">
            <a:avLst>
              <a:gd name="adj" fmla="val 2025"/>
            </a:avLst>
          </a:prstGeom>
          <a:solidFill>
            <a:schemeClr val="bg2"/>
          </a:solidFill>
          <a:ln w="9525">
            <a:solidFill>
              <a:schemeClr val="bg2"/>
            </a:solidFill>
            <a:prstDash val="solid"/>
          </a:ln>
        </p:spPr>
      </p:sp>
      <p:sp>
        <p:nvSpPr>
          <p:cNvPr id="12" name="dot"/>
          <p:cNvSpPr/>
          <p:nvPr/>
        </p:nvSpPr>
        <p:spPr>
          <a:xfrm>
            <a:off x="8229600" y="1508760"/>
            <a:ext cx="384048" cy="384048"/>
          </a:xfrm>
          <a:prstGeom prst="ellipse">
            <a:avLst/>
          </a:prstGeom>
          <a:solidFill>
            <a:schemeClr val="accent3"/>
          </a:solidFill>
          <a:ln w="12700">
            <a:solidFill>
              <a:schemeClr val="accent3"/>
            </a:solidFill>
            <a:prstDash val="solid"/>
          </a:ln>
        </p:spPr>
      </p:sp>
      <p:sp>
        <p:nvSpPr>
          <p:cNvPr id="13" name="Text 11"/>
          <p:cNvSpPr txBox="1"/>
          <p:nvPr/>
        </p:nvSpPr>
        <p:spPr>
          <a:xfrm>
            <a:off x="8732520" y="1463040"/>
            <a:ext cx="2743200" cy="411480"/>
          </a:xfrm>
          <a:prstGeom prst="rect">
            <a:avLst/>
          </a:prstGeom>
          <a:noFill/>
          <a:ln/>
        </p:spPr>
        <p:txBody>
          <a:bodyPr wrap="square" lIns="0" tIns="0" rIns="0" bIns="0" rtlCol="0" anchor="ctr"/>
          <a:lstStyle/>
          <a:p>
            <a:pPr indent="0" marL="0">
              <a:buNone/>
            </a:pPr>
            <a:r>
              <a:rPr lang="en-US" sz="1600" b="1" dirty="0">
                <a:solidFill>
                  <a:schemeClr val="accent3"/>
                </a:solidFill>
                <a:latin typeface="Arial" pitchFamily="34" charset="0"/>
                <a:ea typeface="Arial" pitchFamily="34" charset="-122"/>
                <a:cs typeface="Arial" pitchFamily="34" charset="-120"/>
              </a:rPr>
              <a:t>SAVING</a:t>
            </a:r>
            <a:endParaRPr lang="en-US" sz="1600" dirty="0"/>
          </a:p>
        </p:txBody>
      </p:sp>
      <p:sp>
        <p:nvSpPr>
          <p:cNvPr id="14" name="Text 12"/>
          <p:cNvSpPr txBox="1"/>
          <p:nvPr/>
        </p:nvSpPr>
        <p:spPr>
          <a:xfrm>
            <a:off x="8275320" y="1965960"/>
            <a:ext cx="3200400" cy="3749040"/>
          </a:xfrm>
          <a:prstGeom prst="rect">
            <a:avLst/>
          </a:prstGeom>
          <a:noFill/>
          <a:ln/>
        </p:spPr>
        <p:txBody>
          <a:bodyPr wrap="square" lIns="0" tIns="0" rIns="0" bIns="0" rtlCol="0" anchor="t"/>
          <a:lstStyle/>
          <a:p>
            <a:pPr marL="342900" indent="-342900">
              <a:spcAft>
                <a:spcPts val="600"/>
              </a:spcAft>
              <a:buSzPct val="100000"/>
              <a:buChar char="•"/>
            </a:pPr>
            <a:r>
              <a:rPr lang="en-US" sz="1450" dirty="0">
                <a:solidFill>
                  <a:schemeClr val="tx1"/>
                </a:solidFill>
              </a:rPr>
              <a:t>Street transformer upgrade 50-150 k€, feeder reinforcement hundreds of k€, a substation tens of M€</a:t>
            </a:r>
            <a:endParaRPr lang="en-US" sz="1450" dirty="0"/>
          </a:p>
          <a:p>
            <a:pPr marL="342900" indent="-342900">
              <a:spcAft>
                <a:spcPts val="600"/>
              </a:spcAft>
              <a:buSzPct val="100000"/>
              <a:buChar char="•"/>
            </a:pPr>
            <a:r>
              <a:rPr lang="en-US" sz="1450" dirty="0">
                <a:solidFill>
                  <a:schemeClr val="tx1"/>
                </a:solidFill>
              </a:rPr>
              <a:t>Every street held at ~70 % at the evening peak defers the reinforcement the EV and heat-pump wave otherwise forces this decade</a:t>
            </a:r>
            <a:endParaRPr lang="en-US" sz="1450" dirty="0"/>
          </a:p>
          <a:p>
            <a:pPr marL="342900" indent="-342900">
              <a:spcAft>
                <a:spcPts val="600"/>
              </a:spcAft>
              <a:buSzPct val="100000"/>
              <a:buChar char="•"/>
            </a:pPr>
            <a:r>
              <a:rPr lang="en-US" sz="1450" dirty="0">
                <a:solidFill>
                  <a:schemeClr val="tx1"/>
                </a:solidFill>
              </a:rPr>
              <a:t>Vienna scale: hundreds of M€ of capex deferred against a few M€ a year of incentives</a:t>
            </a:r>
            <a:endParaRPr lang="en-US" sz="1450" dirty="0"/>
          </a:p>
          <a:p>
            <a:pPr marL="342900" indent="-342900">
              <a:spcAft>
                <a:spcPts val="600"/>
              </a:spcAft>
              <a:buSzPct val="100000"/>
              <a:buChar char="•"/>
            </a:pPr>
            <a:r>
              <a:rPr lang="en-US" sz="1450" dirty="0">
                <a:solidFill>
                  <a:schemeClr val="tx1"/>
                </a:solidFill>
              </a:rPr>
              <a:t>Plus a tool for the outage: PREPARE before it, RECOVER after it, and with grid-forming inverters STRETCH keeps a dark street alive from its own batteries</a:t>
            </a:r>
            <a:endParaRPr lang="en-US" sz="145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What the flattening looks like: speising-22, 400 kVA, from an earlier run</a:t>
            </a:r>
            <a:endParaRPr lang="en-US" sz="3200" dirty="0"/>
          </a:p>
        </p:txBody>
      </p:sp>
      <p:pic>
        <p:nvPicPr>
          <p:cNvPr id="3" name="Transformer load with and without Gridzilla" descr="/private/tmp/claude-501/-Users-mathew-Library-Mobile-Documents-com-apple-CloudDocs-Workspaces--ai-projects-hackaton/6847b38a-4405-4bc8-878f-68767b84da8f/scratchpad/deck/chart.png">    </p:cNvPr>
          <p:cNvPicPr>
            <a:picLocks noChangeAspect="1"/>
          </p:cNvPicPr>
          <p:nvPr/>
        </p:nvPicPr>
        <p:blipFill>
          <a:blip r:embed="rId1"/>
          <a:stretch>
            <a:fillRect/>
          </a:stretch>
        </p:blipFill>
        <p:spPr>
          <a:xfrm>
            <a:off x="548640" y="1417320"/>
            <a:ext cx="7863840" cy="4754880"/>
          </a:xfrm>
          <a:prstGeom prst="rect">
            <a:avLst/>
          </a:prstGeom>
        </p:spPr>
      </p:pic>
      <p:sp>
        <p:nvSpPr>
          <p:cNvPr id="4" name="stat largest cut below the counterfactual on this transformer"/>
          <p:cNvSpPr/>
          <p:nvPr/>
        </p:nvSpPr>
        <p:spPr>
          <a:xfrm>
            <a:off x="8686800" y="1417320"/>
            <a:ext cx="2926080" cy="1417320"/>
          </a:xfrm>
          <a:prstGeom prst="roundRect">
            <a:avLst>
              <a:gd name="adj" fmla="val 5161"/>
            </a:avLst>
          </a:prstGeom>
          <a:solidFill>
            <a:schemeClr val="bg2"/>
          </a:solidFill>
          <a:ln w="9525">
            <a:solidFill>
              <a:schemeClr val="bg2"/>
            </a:solidFill>
            <a:prstDash val="solid"/>
          </a:ln>
        </p:spPr>
      </p:sp>
      <p:sp>
        <p:nvSpPr>
          <p:cNvPr id="5" name="Text 2"/>
          <p:cNvSpPr txBox="1"/>
          <p:nvPr/>
        </p:nvSpPr>
        <p:spPr>
          <a:xfrm>
            <a:off x="8915400" y="1581912"/>
            <a:ext cx="2468880" cy="731520"/>
          </a:xfrm>
          <a:prstGeom prst="rect">
            <a:avLst/>
          </a:prstGeom>
          <a:noFill/>
          <a:ln/>
        </p:spPr>
        <p:txBody>
          <a:bodyPr wrap="square" lIns="0" tIns="0" rIns="0" bIns="0" rtlCol="0" anchor="t"/>
          <a:lstStyle/>
          <a:p>
            <a:pPr indent="0" marL="0">
              <a:buNone/>
            </a:pPr>
            <a:r>
              <a:rPr lang="en-US" sz="3600" b="1" dirty="0">
                <a:solidFill>
                  <a:schemeClr val="accent3"/>
                </a:solidFill>
                <a:latin typeface="Arial" pitchFamily="34" charset="0"/>
                <a:ea typeface="Arial" pitchFamily="34" charset="-122"/>
                <a:cs typeface="Arial" pitchFamily="34" charset="-120"/>
              </a:rPr>
              <a:t>−199 kW</a:t>
            </a:r>
            <a:endParaRPr lang="en-US" sz="3600" dirty="0"/>
          </a:p>
        </p:txBody>
      </p:sp>
      <p:sp>
        <p:nvSpPr>
          <p:cNvPr id="6" name="Text 3"/>
          <p:cNvSpPr txBox="1"/>
          <p:nvPr/>
        </p:nvSpPr>
        <p:spPr>
          <a:xfrm>
            <a:off x="8915400" y="2313432"/>
            <a:ext cx="2468880" cy="457200"/>
          </a:xfrm>
          <a:prstGeom prst="rect">
            <a:avLst/>
          </a:prstGeom>
          <a:noFill/>
          <a:ln/>
        </p:spPr>
        <p:txBody>
          <a:bodyPr wrap="square" lIns="0" tIns="0" rIns="0" bIns="0" rtlCol="0" anchor="t"/>
          <a:lstStyle/>
          <a:p>
            <a:pPr indent="0" marL="0">
              <a:buNone/>
            </a:pPr>
            <a:r>
              <a:rPr lang="en-US" sz="1200" dirty="0">
                <a:solidFill>
                  <a:schemeClr val="tx2"/>
                </a:solidFill>
              </a:rPr>
              <a:t>largest cut below the counterfactual on this transformer</a:t>
            </a:r>
            <a:endParaRPr lang="en-US" sz="1200" dirty="0"/>
          </a:p>
        </p:txBody>
      </p:sp>
      <p:sp>
        <p:nvSpPr>
          <p:cNvPr id="7" name="stat import cap per house DeepSeek chose; EVs throttled first, batteries second"/>
          <p:cNvSpPr/>
          <p:nvPr/>
        </p:nvSpPr>
        <p:spPr>
          <a:xfrm>
            <a:off x="8686800" y="3017520"/>
            <a:ext cx="2926080" cy="1417320"/>
          </a:xfrm>
          <a:prstGeom prst="roundRect">
            <a:avLst>
              <a:gd name="adj" fmla="val 5161"/>
            </a:avLst>
          </a:prstGeom>
          <a:solidFill>
            <a:schemeClr val="bg2"/>
          </a:solidFill>
          <a:ln w="9525">
            <a:solidFill>
              <a:schemeClr val="bg2"/>
            </a:solidFill>
            <a:prstDash val="solid"/>
          </a:ln>
        </p:spPr>
      </p:sp>
      <p:sp>
        <p:nvSpPr>
          <p:cNvPr id="8" name="Text 5"/>
          <p:cNvSpPr txBox="1"/>
          <p:nvPr/>
        </p:nvSpPr>
        <p:spPr>
          <a:xfrm>
            <a:off x="8915400" y="3182112"/>
            <a:ext cx="2468880" cy="731520"/>
          </a:xfrm>
          <a:prstGeom prst="rect">
            <a:avLst/>
          </a:prstGeom>
          <a:noFill/>
          <a:ln/>
        </p:spPr>
        <p:txBody>
          <a:bodyPr wrap="square" lIns="0" tIns="0" rIns="0" bIns="0" rtlCol="0" anchor="t"/>
          <a:lstStyle/>
          <a:p>
            <a:pPr indent="0" marL="0">
              <a:buNone/>
            </a:pPr>
            <a:r>
              <a:rPr lang="en-US" sz="3600" b="1" dirty="0">
                <a:solidFill>
                  <a:schemeClr val="accent1"/>
                </a:solidFill>
                <a:latin typeface="Arial" pitchFamily="34" charset="0"/>
                <a:ea typeface="Arial" pitchFamily="34" charset="-122"/>
                <a:cs typeface="Arial" pitchFamily="34" charset="-120"/>
              </a:rPr>
              <a:t>2 kW</a:t>
            </a:r>
            <a:endParaRPr lang="en-US" sz="3600" dirty="0"/>
          </a:p>
        </p:txBody>
      </p:sp>
      <p:sp>
        <p:nvSpPr>
          <p:cNvPr id="9" name="Text 6"/>
          <p:cNvSpPr txBox="1"/>
          <p:nvPr/>
        </p:nvSpPr>
        <p:spPr>
          <a:xfrm>
            <a:off x="8915400" y="3913632"/>
            <a:ext cx="2468880" cy="457200"/>
          </a:xfrm>
          <a:prstGeom prst="rect">
            <a:avLst/>
          </a:prstGeom>
          <a:noFill/>
          <a:ln/>
        </p:spPr>
        <p:txBody>
          <a:bodyPr wrap="square" lIns="0" tIns="0" rIns="0" bIns="0" rtlCol="0" anchor="t"/>
          <a:lstStyle/>
          <a:p>
            <a:pPr indent="0" marL="0">
              <a:buNone/>
            </a:pPr>
            <a:r>
              <a:rPr lang="en-US" sz="1200" dirty="0">
                <a:solidFill>
                  <a:schemeClr val="tx2"/>
                </a:solidFill>
              </a:rPr>
              <a:t>import cap per house DeepSeek chose; EVs throttled first, batteries second</a:t>
            </a:r>
            <a:endParaRPr lang="en-US" sz="1200" dirty="0"/>
          </a:p>
        </p:txBody>
      </p:sp>
      <p:sp>
        <p:nvSpPr>
          <p:cNvPr id="10" name="stat owner floors crossed; partial acks where a battery hit its reserve"/>
          <p:cNvSpPr/>
          <p:nvPr/>
        </p:nvSpPr>
        <p:spPr>
          <a:xfrm>
            <a:off x="8686800" y="4617720"/>
            <a:ext cx="2926080" cy="1417320"/>
          </a:xfrm>
          <a:prstGeom prst="roundRect">
            <a:avLst>
              <a:gd name="adj" fmla="val 5161"/>
            </a:avLst>
          </a:prstGeom>
          <a:solidFill>
            <a:schemeClr val="bg2"/>
          </a:solidFill>
          <a:ln w="9525">
            <a:solidFill>
              <a:schemeClr val="bg2"/>
            </a:solidFill>
            <a:prstDash val="solid"/>
          </a:ln>
        </p:spPr>
      </p:sp>
      <p:sp>
        <p:nvSpPr>
          <p:cNvPr id="11" name="Text 8"/>
          <p:cNvSpPr txBox="1"/>
          <p:nvPr/>
        </p:nvSpPr>
        <p:spPr>
          <a:xfrm>
            <a:off x="8915400" y="4782312"/>
            <a:ext cx="2468880" cy="731520"/>
          </a:xfrm>
          <a:prstGeom prst="rect">
            <a:avLst/>
          </a:prstGeom>
          <a:noFill/>
          <a:ln/>
        </p:spPr>
        <p:txBody>
          <a:bodyPr wrap="square" lIns="0" tIns="0" rIns="0" bIns="0" rtlCol="0" anchor="t"/>
          <a:lstStyle/>
          <a:p>
            <a:pPr indent="0" marL="0">
              <a:buNone/>
            </a:pPr>
            <a:r>
              <a:rPr lang="en-US" sz="3600" b="1" dirty="0">
                <a:solidFill>
                  <a:schemeClr val="accent2"/>
                </a:solidFill>
                <a:latin typeface="Arial" pitchFamily="34" charset="0"/>
                <a:ea typeface="Arial" pitchFamily="34" charset="-122"/>
                <a:cs typeface="Arial" pitchFamily="34" charset="-120"/>
              </a:rPr>
              <a:t>0</a:t>
            </a:r>
            <a:endParaRPr lang="en-US" sz="3600" dirty="0"/>
          </a:p>
        </p:txBody>
      </p:sp>
      <p:sp>
        <p:nvSpPr>
          <p:cNvPr id="12" name="Text 9"/>
          <p:cNvSpPr txBox="1"/>
          <p:nvPr/>
        </p:nvSpPr>
        <p:spPr>
          <a:xfrm>
            <a:off x="8915400" y="5513832"/>
            <a:ext cx="2468880" cy="457200"/>
          </a:xfrm>
          <a:prstGeom prst="rect">
            <a:avLst/>
          </a:prstGeom>
          <a:noFill/>
          <a:ln/>
        </p:spPr>
        <p:txBody>
          <a:bodyPr wrap="square" lIns="0" tIns="0" rIns="0" bIns="0" rtlCol="0" anchor="t"/>
          <a:lstStyle/>
          <a:p>
            <a:pPr indent="0" marL="0">
              <a:buNone/>
            </a:pPr>
            <a:r>
              <a:rPr lang="en-US" sz="1200" dirty="0">
                <a:solidFill>
                  <a:schemeClr val="tx2"/>
                </a:solidFill>
              </a:rPr>
              <a:t>owner floors crossed; partial acks where a battery hit its reserve</a:t>
            </a:r>
            <a:endParaRPr lang="en-US" sz="12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Security of the control plane: the DSO can ask, it can never command</a:t>
            </a:r>
            <a:endParaRPr lang="en-US" sz="3200" dirty="0"/>
          </a:p>
        </p:txBody>
      </p:sp>
      <p:sp>
        <p:nvSpPr>
          <p:cNvPr id="3" name="sec Authenticity"/>
          <p:cNvSpPr/>
          <p:nvPr/>
        </p:nvSpPr>
        <p:spPr>
          <a:xfrm>
            <a:off x="548640" y="1463040"/>
            <a:ext cx="5440680" cy="1005840"/>
          </a:xfrm>
          <a:prstGeom prst="roundRect">
            <a:avLst>
              <a:gd name="adj" fmla="val 7273"/>
            </a:avLst>
          </a:prstGeom>
          <a:solidFill>
            <a:schemeClr val="bg2"/>
          </a:solidFill>
          <a:ln w="9525">
            <a:solidFill>
              <a:schemeClr val="bg2"/>
            </a:solidFill>
            <a:prstDash val="solid"/>
          </a:ln>
        </p:spPr>
      </p:sp>
      <p:sp>
        <p:nvSpPr>
          <p:cNvPr id="4" name="dot"/>
          <p:cNvSpPr/>
          <p:nvPr/>
        </p:nvSpPr>
        <p:spPr>
          <a:xfrm>
            <a:off x="731520" y="1645920"/>
            <a:ext cx="384048" cy="384048"/>
          </a:xfrm>
          <a:prstGeom prst="ellipse">
            <a:avLst/>
          </a:prstGeom>
          <a:solidFill>
            <a:schemeClr val="accent3"/>
          </a:solidFill>
          <a:ln w="12700">
            <a:solidFill>
              <a:schemeClr val="accent3"/>
            </a:solidFill>
            <a:prstDash val="solid"/>
          </a:ln>
        </p:spPr>
      </p:sp>
      <p:sp>
        <p:nvSpPr>
          <p:cNvPr id="5" name="Text 3"/>
          <p:cNvSpPr txBox="1"/>
          <p:nvPr/>
        </p:nvSpPr>
        <p:spPr>
          <a:xfrm>
            <a:off x="1234440" y="1572768"/>
            <a:ext cx="457200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Authenticity</a:t>
            </a:r>
            <a:endParaRPr lang="en-US" sz="1400" dirty="0"/>
          </a:p>
        </p:txBody>
      </p:sp>
      <p:sp>
        <p:nvSpPr>
          <p:cNvPr id="6" name="Text 4"/>
          <p:cNvSpPr txBox="1"/>
          <p:nvPr/>
        </p:nvSpPr>
        <p:spPr>
          <a:xfrm>
            <a:off x="1234440" y="1892808"/>
            <a:ext cx="4617720" cy="548640"/>
          </a:xfrm>
          <a:prstGeom prst="rect">
            <a:avLst/>
          </a:prstGeom>
          <a:noFill/>
          <a:ln/>
        </p:spPr>
        <p:txBody>
          <a:bodyPr wrap="square" lIns="0" tIns="0" rIns="0" bIns="0" rtlCol="0" anchor="t"/>
          <a:lstStyle/>
          <a:p>
            <a:pPr indent="0" marL="0">
              <a:buNone/>
            </a:pPr>
            <a:r>
              <a:rPr lang="en-US" sz="1150" dirty="0">
                <a:solidFill>
                  <a:schemeClr val="tx2"/>
                </a:solidFill>
              </a:rPr>
              <a:t>every signal, heartbeat and ack carries an Ed25519 signature; the device pins the platform key and signs with its own</a:t>
            </a:r>
            <a:endParaRPr lang="en-US" sz="1150" dirty="0"/>
          </a:p>
        </p:txBody>
      </p:sp>
      <p:sp>
        <p:nvSpPr>
          <p:cNvPr id="7" name="sec Replay"/>
          <p:cNvSpPr/>
          <p:nvPr/>
        </p:nvSpPr>
        <p:spPr>
          <a:xfrm>
            <a:off x="6217920" y="1463040"/>
            <a:ext cx="5440680" cy="1005840"/>
          </a:xfrm>
          <a:prstGeom prst="roundRect">
            <a:avLst>
              <a:gd name="adj" fmla="val 7273"/>
            </a:avLst>
          </a:prstGeom>
          <a:solidFill>
            <a:schemeClr val="bg2"/>
          </a:solidFill>
          <a:ln w="9525">
            <a:solidFill>
              <a:schemeClr val="bg2"/>
            </a:solidFill>
            <a:prstDash val="solid"/>
          </a:ln>
        </p:spPr>
      </p:sp>
      <p:sp>
        <p:nvSpPr>
          <p:cNvPr id="8" name="dot"/>
          <p:cNvSpPr/>
          <p:nvPr/>
        </p:nvSpPr>
        <p:spPr>
          <a:xfrm>
            <a:off x="6400800" y="1645920"/>
            <a:ext cx="384048" cy="384048"/>
          </a:xfrm>
          <a:prstGeom prst="ellipse">
            <a:avLst/>
          </a:prstGeom>
          <a:solidFill>
            <a:schemeClr val="accent3"/>
          </a:solidFill>
          <a:ln w="12700">
            <a:solidFill>
              <a:schemeClr val="accent3"/>
            </a:solidFill>
            <a:prstDash val="solid"/>
          </a:ln>
        </p:spPr>
      </p:sp>
      <p:sp>
        <p:nvSpPr>
          <p:cNvPr id="9" name="Text 7"/>
          <p:cNvSpPr txBox="1"/>
          <p:nvPr/>
        </p:nvSpPr>
        <p:spPr>
          <a:xfrm>
            <a:off x="6903720" y="1572768"/>
            <a:ext cx="457200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Replay</a:t>
            </a:r>
            <a:endParaRPr lang="en-US" sz="1400" dirty="0"/>
          </a:p>
        </p:txBody>
      </p:sp>
      <p:sp>
        <p:nvSpPr>
          <p:cNvPr id="10" name="Text 8"/>
          <p:cNvSpPr txBox="1"/>
          <p:nvPr/>
        </p:nvSpPr>
        <p:spPr>
          <a:xfrm>
            <a:off x="6903720" y="1892808"/>
            <a:ext cx="4617720" cy="548640"/>
          </a:xfrm>
          <a:prstGeom prst="rect">
            <a:avLst/>
          </a:prstGeom>
          <a:noFill/>
          <a:ln/>
        </p:spPr>
        <p:txBody>
          <a:bodyPr wrap="square" lIns="0" tIns="0" rIns="0" bIns="0" rtlCol="0" anchor="t"/>
          <a:lstStyle/>
          <a:p>
            <a:pPr indent="0" marL="0">
              <a:buNone/>
            </a:pPr>
            <a:r>
              <a:rPr lang="en-US" sz="1150" dirty="0">
                <a:solidFill>
                  <a:schemeClr val="tx2"/>
                </a:solidFill>
              </a:rPr>
              <a:t>monotonic sequence numbers persisted on the device, 120 s freshness, heartbeats with sequence and timestamp</a:t>
            </a:r>
            <a:endParaRPr lang="en-US" sz="1150" dirty="0"/>
          </a:p>
        </p:txBody>
      </p:sp>
      <p:sp>
        <p:nvSpPr>
          <p:cNvPr id="11" name="sec Bounded"/>
          <p:cNvSpPr/>
          <p:nvPr/>
        </p:nvSpPr>
        <p:spPr>
          <a:xfrm>
            <a:off x="548640" y="2606040"/>
            <a:ext cx="5440680" cy="1005840"/>
          </a:xfrm>
          <a:prstGeom prst="roundRect">
            <a:avLst>
              <a:gd name="adj" fmla="val 7273"/>
            </a:avLst>
          </a:prstGeom>
          <a:solidFill>
            <a:schemeClr val="bg2"/>
          </a:solidFill>
          <a:ln w="9525">
            <a:solidFill>
              <a:schemeClr val="bg2"/>
            </a:solidFill>
            <a:prstDash val="solid"/>
          </a:ln>
        </p:spPr>
      </p:sp>
      <p:sp>
        <p:nvSpPr>
          <p:cNvPr id="12" name="dot"/>
          <p:cNvSpPr/>
          <p:nvPr/>
        </p:nvSpPr>
        <p:spPr>
          <a:xfrm>
            <a:off x="731520" y="2788920"/>
            <a:ext cx="384048" cy="384048"/>
          </a:xfrm>
          <a:prstGeom prst="ellipse">
            <a:avLst/>
          </a:prstGeom>
          <a:solidFill>
            <a:schemeClr val="accent3"/>
          </a:solidFill>
          <a:ln w="12700">
            <a:solidFill>
              <a:schemeClr val="accent3"/>
            </a:solidFill>
            <a:prstDash val="solid"/>
          </a:ln>
        </p:spPr>
      </p:sp>
      <p:sp>
        <p:nvSpPr>
          <p:cNvPr id="13" name="Text 11"/>
          <p:cNvSpPr txBox="1"/>
          <p:nvPr/>
        </p:nvSpPr>
        <p:spPr>
          <a:xfrm>
            <a:off x="1234440" y="2715768"/>
            <a:ext cx="457200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Bounded</a:t>
            </a:r>
            <a:endParaRPr lang="en-US" sz="1400" dirty="0"/>
          </a:p>
        </p:txBody>
      </p:sp>
      <p:sp>
        <p:nvSpPr>
          <p:cNvPr id="14" name="Text 12"/>
          <p:cNvSpPr txBox="1"/>
          <p:nvPr/>
        </p:nvSpPr>
        <p:spPr>
          <a:xfrm>
            <a:off x="1234440" y="3035808"/>
            <a:ext cx="4617720" cy="548640"/>
          </a:xfrm>
          <a:prstGeom prst="rect">
            <a:avLst/>
          </a:prstGeom>
          <a:noFill/>
          <a:ln/>
        </p:spPr>
        <p:txBody>
          <a:bodyPr wrap="square" lIns="0" tIns="0" rIns="0" bIns="0" rtlCol="0" anchor="t"/>
          <a:lstStyle/>
          <a:p>
            <a:pPr indent="0" marL="0">
              <a:buNone/>
            </a:pPr>
            <a:r>
              <a:rPr lang="en-US" sz="1150" dirty="0">
                <a:solidFill>
                  <a:schemeClr val="tx2"/>
                </a:solidFill>
              </a:rPr>
              <a:t>limits, never setpoints; four-hour window enforced on the device itself; depth and rate capped by the guard</a:t>
            </a:r>
            <a:endParaRPr lang="en-US" sz="1150" dirty="0"/>
          </a:p>
        </p:txBody>
      </p:sp>
      <p:sp>
        <p:nvSpPr>
          <p:cNvPr id="15" name="sec Owner veto"/>
          <p:cNvSpPr/>
          <p:nvPr/>
        </p:nvSpPr>
        <p:spPr>
          <a:xfrm>
            <a:off x="6217920" y="2606040"/>
            <a:ext cx="5440680" cy="1005840"/>
          </a:xfrm>
          <a:prstGeom prst="roundRect">
            <a:avLst>
              <a:gd name="adj" fmla="val 7273"/>
            </a:avLst>
          </a:prstGeom>
          <a:solidFill>
            <a:schemeClr val="bg2"/>
          </a:solidFill>
          <a:ln w="9525">
            <a:solidFill>
              <a:schemeClr val="bg2"/>
            </a:solidFill>
            <a:prstDash val="solid"/>
          </a:ln>
        </p:spPr>
      </p:sp>
      <p:sp>
        <p:nvSpPr>
          <p:cNvPr id="16" name="dot"/>
          <p:cNvSpPr/>
          <p:nvPr/>
        </p:nvSpPr>
        <p:spPr>
          <a:xfrm>
            <a:off x="6400800" y="2788920"/>
            <a:ext cx="384048" cy="384048"/>
          </a:xfrm>
          <a:prstGeom prst="ellipse">
            <a:avLst/>
          </a:prstGeom>
          <a:solidFill>
            <a:schemeClr val="accent3"/>
          </a:solidFill>
          <a:ln w="12700">
            <a:solidFill>
              <a:schemeClr val="accent3"/>
            </a:solidFill>
            <a:prstDash val="solid"/>
          </a:ln>
        </p:spPr>
      </p:sp>
      <p:sp>
        <p:nvSpPr>
          <p:cNvPr id="17" name="Text 15"/>
          <p:cNvSpPr txBox="1"/>
          <p:nvPr/>
        </p:nvSpPr>
        <p:spPr>
          <a:xfrm>
            <a:off x="6903720" y="2715768"/>
            <a:ext cx="457200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Owner veto</a:t>
            </a:r>
            <a:endParaRPr lang="en-US" sz="1400" dirty="0"/>
          </a:p>
        </p:txBody>
      </p:sp>
      <p:sp>
        <p:nvSpPr>
          <p:cNvPr id="18" name="Text 16"/>
          <p:cNvSpPr txBox="1"/>
          <p:nvPr/>
        </p:nvSpPr>
        <p:spPr>
          <a:xfrm>
            <a:off x="6903720" y="3035808"/>
            <a:ext cx="4617720" cy="548640"/>
          </a:xfrm>
          <a:prstGeom prst="rect">
            <a:avLst/>
          </a:prstGeom>
          <a:noFill/>
          <a:ln/>
        </p:spPr>
        <p:txBody>
          <a:bodyPr wrap="square" lIns="0" tIns="0" rIns="0" bIns="0" rtlCol="0" anchor="t"/>
          <a:lstStyle/>
          <a:p>
            <a:pPr indent="0" marL="0">
              <a:buNone/>
            </a:pPr>
            <a:r>
              <a:rPr lang="en-US" sz="1150" dirty="0">
                <a:solidFill>
                  <a:schemeClr val="tx2"/>
                </a:solidFill>
              </a:rPr>
              <a:t>minimum SoC, max current, opt-out merged on the device; a compromised DSO key moves nothing past them</a:t>
            </a:r>
            <a:endParaRPr lang="en-US" sz="1150" dirty="0"/>
          </a:p>
        </p:txBody>
      </p:sp>
      <p:sp>
        <p:nvSpPr>
          <p:cNvPr id="19" name="sec Fail-safe"/>
          <p:cNvSpPr/>
          <p:nvPr/>
        </p:nvSpPr>
        <p:spPr>
          <a:xfrm>
            <a:off x="548640" y="3749040"/>
            <a:ext cx="5440680" cy="1005840"/>
          </a:xfrm>
          <a:prstGeom prst="roundRect">
            <a:avLst>
              <a:gd name="adj" fmla="val 7273"/>
            </a:avLst>
          </a:prstGeom>
          <a:solidFill>
            <a:schemeClr val="bg2"/>
          </a:solidFill>
          <a:ln w="9525">
            <a:solidFill>
              <a:schemeClr val="bg2"/>
            </a:solidFill>
            <a:prstDash val="solid"/>
          </a:ln>
        </p:spPr>
      </p:sp>
      <p:sp>
        <p:nvSpPr>
          <p:cNvPr id="20" name="dot"/>
          <p:cNvSpPr/>
          <p:nvPr/>
        </p:nvSpPr>
        <p:spPr>
          <a:xfrm>
            <a:off x="731520" y="3931920"/>
            <a:ext cx="384048" cy="384048"/>
          </a:xfrm>
          <a:prstGeom prst="ellipse">
            <a:avLst/>
          </a:prstGeom>
          <a:solidFill>
            <a:schemeClr val="accent3"/>
          </a:solidFill>
          <a:ln w="12700">
            <a:solidFill>
              <a:schemeClr val="accent3"/>
            </a:solidFill>
            <a:prstDash val="solid"/>
          </a:ln>
        </p:spPr>
      </p:sp>
      <p:sp>
        <p:nvSpPr>
          <p:cNvPr id="21" name="Text 19"/>
          <p:cNvSpPr txBox="1"/>
          <p:nvPr/>
        </p:nvSpPr>
        <p:spPr>
          <a:xfrm>
            <a:off x="1234440" y="3858768"/>
            <a:ext cx="457200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Fail-safe</a:t>
            </a:r>
            <a:endParaRPr lang="en-US" sz="1400" dirty="0"/>
          </a:p>
        </p:txBody>
      </p:sp>
      <p:sp>
        <p:nvSpPr>
          <p:cNvPr id="22" name="Text 20"/>
          <p:cNvSpPr txBox="1"/>
          <p:nvPr/>
        </p:nvSpPr>
        <p:spPr>
          <a:xfrm>
            <a:off x="1234440" y="4178808"/>
            <a:ext cx="4617720" cy="548640"/>
          </a:xfrm>
          <a:prstGeom prst="rect">
            <a:avLst/>
          </a:prstGeom>
          <a:noFill/>
          <a:ln/>
        </p:spPr>
        <p:txBody>
          <a:bodyPr wrap="square" lIns="0" tIns="0" rIns="0" bIns="0" rtlCol="0" anchor="t"/>
          <a:lstStyle/>
          <a:p>
            <a:pPr indent="0" marL="0">
              <a:buNone/>
            </a:pPr>
            <a:r>
              <a:rPr lang="en-US" sz="1150" dirty="0">
                <a:solidFill>
                  <a:schemeClr val="tx2"/>
                </a:solidFill>
              </a:rPr>
              <a:t>window end, heartbeat loss or RELEASE restore the owner's settings; a dead platform leaves every house in owner mode</a:t>
            </a:r>
            <a:endParaRPr lang="en-US" sz="1150" dirty="0"/>
          </a:p>
        </p:txBody>
      </p:sp>
      <p:sp>
        <p:nvSpPr>
          <p:cNvPr id="23" name="sec Transport"/>
          <p:cNvSpPr/>
          <p:nvPr/>
        </p:nvSpPr>
        <p:spPr>
          <a:xfrm>
            <a:off x="6217920" y="3749040"/>
            <a:ext cx="5440680" cy="1005840"/>
          </a:xfrm>
          <a:prstGeom prst="roundRect">
            <a:avLst>
              <a:gd name="adj" fmla="val 7273"/>
            </a:avLst>
          </a:prstGeom>
          <a:solidFill>
            <a:schemeClr val="bg2"/>
          </a:solidFill>
          <a:ln w="9525">
            <a:solidFill>
              <a:schemeClr val="bg2"/>
            </a:solidFill>
            <a:prstDash val="solid"/>
          </a:ln>
        </p:spPr>
      </p:sp>
      <p:sp>
        <p:nvSpPr>
          <p:cNvPr id="24" name="dot"/>
          <p:cNvSpPr/>
          <p:nvPr/>
        </p:nvSpPr>
        <p:spPr>
          <a:xfrm>
            <a:off x="6400800" y="3931920"/>
            <a:ext cx="384048" cy="384048"/>
          </a:xfrm>
          <a:prstGeom prst="ellipse">
            <a:avLst/>
          </a:prstGeom>
          <a:solidFill>
            <a:schemeClr val="accent3"/>
          </a:solidFill>
          <a:ln w="12700">
            <a:solidFill>
              <a:schemeClr val="accent3"/>
            </a:solidFill>
            <a:prstDash val="solid"/>
          </a:ln>
        </p:spPr>
      </p:sp>
      <p:sp>
        <p:nvSpPr>
          <p:cNvPr id="25" name="Text 23"/>
          <p:cNvSpPr txBox="1"/>
          <p:nvPr/>
        </p:nvSpPr>
        <p:spPr>
          <a:xfrm>
            <a:off x="6903720" y="3858768"/>
            <a:ext cx="457200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Transport</a:t>
            </a:r>
            <a:endParaRPr lang="en-US" sz="1400" dirty="0"/>
          </a:p>
        </p:txBody>
      </p:sp>
      <p:sp>
        <p:nvSpPr>
          <p:cNvPr id="26" name="Text 24"/>
          <p:cNvSpPr txBox="1"/>
          <p:nvPr/>
        </p:nvSpPr>
        <p:spPr>
          <a:xfrm>
            <a:off x="6903720" y="4178808"/>
            <a:ext cx="4617720" cy="548640"/>
          </a:xfrm>
          <a:prstGeom prst="rect">
            <a:avLst/>
          </a:prstGeom>
          <a:noFill/>
          <a:ln/>
        </p:spPr>
        <p:txBody>
          <a:bodyPr wrap="square" lIns="0" tIns="0" rIns="0" bIns="0" rtlCol="0" anchor="t"/>
          <a:lstStyle/>
          <a:p>
            <a:pPr indent="0" marL="0">
              <a:buNone/>
            </a:pPr>
            <a:r>
              <a:rPr lang="en-US" sz="1150" dirty="0">
                <a:solidFill>
                  <a:schemeClr val="tx2"/>
                </a:solidFill>
              </a:rPr>
              <a:t>TLS with a real certificate, per-role credentials, topic ACLs; a device cannot publish a signal even if it tried</a:t>
            </a:r>
            <a:endParaRPr lang="en-US" sz="1150" dirty="0"/>
          </a:p>
        </p:txBody>
      </p:sp>
      <p:sp>
        <p:nvSpPr>
          <p:cNvPr id="27" name="open items"/>
          <p:cNvSpPr/>
          <p:nvPr/>
        </p:nvSpPr>
        <p:spPr>
          <a:xfrm>
            <a:off x="548640" y="5029200"/>
            <a:ext cx="11091672" cy="1143000"/>
          </a:xfrm>
          <a:prstGeom prst="roundRect">
            <a:avLst>
              <a:gd name="adj" fmla="val 6400"/>
            </a:avLst>
          </a:prstGeom>
          <a:solidFill>
            <a:srgbClr val="1D2127"/>
          </a:solidFill>
          <a:ln w="9525">
            <a:solidFill>
              <a:srgbClr val="C98500"/>
            </a:solidFill>
            <a:prstDash val="solid"/>
          </a:ln>
        </p:spPr>
      </p:sp>
      <p:sp>
        <p:nvSpPr>
          <p:cNvPr id="28" name="Text 26"/>
          <p:cNvSpPr txBox="1"/>
          <p:nvPr/>
        </p:nvSpPr>
        <p:spPr>
          <a:xfrm>
            <a:off x="777240" y="5120640"/>
            <a:ext cx="3657600" cy="320040"/>
          </a:xfrm>
          <a:prstGeom prst="rect">
            <a:avLst/>
          </a:prstGeom>
          <a:noFill/>
          <a:ln/>
        </p:spPr>
        <p:txBody>
          <a:bodyPr wrap="square" lIns="0" tIns="0" rIns="0" bIns="0" rtlCol="0" anchor="t"/>
          <a:lstStyle/>
          <a:p>
            <a:pPr indent="0" marL="0">
              <a:buNone/>
            </a:pPr>
            <a:r>
              <a:rPr lang="en-US" sz="1300" b="1" dirty="0">
                <a:solidFill>
                  <a:schemeClr val="accent6"/>
                </a:solidFill>
              </a:rPr>
              <a:t>Named before you ask</a:t>
            </a:r>
            <a:endParaRPr lang="en-US" sz="1300" dirty="0"/>
          </a:p>
        </p:txBody>
      </p:sp>
      <p:sp>
        <p:nvSpPr>
          <p:cNvPr id="29" name="Text 27"/>
          <p:cNvSpPr txBox="1"/>
          <p:nvPr/>
        </p:nvSpPr>
        <p:spPr>
          <a:xfrm>
            <a:off x="777240" y="5440680"/>
            <a:ext cx="10634472" cy="685800"/>
          </a:xfrm>
          <a:prstGeom prst="rect">
            <a:avLst/>
          </a:prstGeom>
          <a:noFill/>
          <a:ln/>
        </p:spPr>
        <p:txBody>
          <a:bodyPr wrap="square" lIns="0" tIns="0" rIns="0" bIns="0" rtlCol="0" anchor="t"/>
          <a:lstStyle/>
          <a:p>
            <a:pPr indent="0" marL="0">
              <a:buNone/>
            </a:pPr>
            <a:r>
              <a:rPr lang="en-US" sz="1200" dirty="0">
                <a:solidFill>
                  <a:schemeClr val="tx2"/>
                </a:solidFill>
              </a:rPr>
              <a:t>Enrolment is open, any device id can register a key; production binds it to the meter point with a one-time code. The operator board has no login for the demo; production is SSO plus a two-person rule for feeder-level signals. Neither changes the protocol.</a:t>
            </a:r>
            <a:endParaRPr lang="en-US" sz="12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Gridzilla">
  <a:themeElements>
    <a:clrScheme name="Gridzilla">
      <a:dk1>
        <a:srgbClr val="E8E6E0"/>
      </a:dk1>
      <a:lt1>
        <a:srgbClr val="15181C"/>
      </a:lt1>
      <a:dk2>
        <a:srgbClr val="A2A9B3"/>
      </a:dk2>
      <a:lt2>
        <a:srgbClr val="1D2127"/>
      </a:lt2>
      <a:accent1>
        <a:srgbClr val="E8893A"/>
      </a:accent1>
      <a:accent2>
        <a:srgbClr val="3987E5"/>
      </a:accent2>
      <a:accent3>
        <a:srgbClr val="5FC48A"/>
      </a:accent3>
      <a:accent4>
        <a:srgbClr val="E66767"/>
      </a:accent4>
      <a:accent5>
        <a:srgbClr val="D55181"/>
      </a:accent5>
      <a:accent6>
        <a:srgbClr val="C98500"/>
      </a:accent6>
      <a:hlink>
        <a:srgbClr val="3987E5"/>
      </a:hlink>
      <a:folHlink>
        <a:srgbClr val="A2A9B3"/>
      </a:folHlink>
    </a:clrScheme>
    <a:fontScheme name="Gridzilla">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Gridzilla</dc:title>
  <dc:subject>PptxGenJS Presentation</dc:subject>
  <dc:creator>Mathew, Peter, Matthew</dc:creator>
  <cp:lastModifiedBy>Mathew, Peter, Matthew</cp:lastModifiedBy>
  <cp:revision>1</cp:revision>
  <dcterms:created xsi:type="dcterms:W3CDTF">2026-10-24T16:25:10Z</dcterms:created>
  <dcterms:modified xsi:type="dcterms:W3CDTF">2026-10-24T16:25:10Z</dcterms:modified>
</cp:coreProperties>
</file>